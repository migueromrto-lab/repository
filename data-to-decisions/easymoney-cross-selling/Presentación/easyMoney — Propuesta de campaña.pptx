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12192000"/>
  <p:embeddedFontLst>
    <p:embeddedFont>
      <p:font typeface="Fraunces"/>
      <p:regular r:id="rId38"/>
      <p:bold r:id="rId39"/>
      <p:italic r:id="rId40"/>
      <p:boldItalic r:id="rId41"/>
    </p:embeddedFont>
    <p:embeddedFont>
      <p:font typeface="Nunito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ikxgbu2kiyXbYJg/OWz0K/jB5S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5A7EA0-4624-40F9-BD69-A792ACAA488B}">
  <a:tblStyle styleId="{0A5A7EA0-4624-40F9-BD69-A792ACAA488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Fraunces-italic.fntdata"/><Relationship Id="rId20" Type="http://schemas.openxmlformats.org/officeDocument/2006/relationships/slide" Target="slides/slide15.xml"/><Relationship Id="rId42" Type="http://schemas.openxmlformats.org/officeDocument/2006/relationships/font" Target="fonts/NunitoSans-regular.fntdata"/><Relationship Id="rId41" Type="http://schemas.openxmlformats.org/officeDocument/2006/relationships/font" Target="fonts/Fraunces-boldItalic.fntdata"/><Relationship Id="rId22" Type="http://schemas.openxmlformats.org/officeDocument/2006/relationships/slide" Target="slides/slide17.xml"/><Relationship Id="rId44" Type="http://schemas.openxmlformats.org/officeDocument/2006/relationships/font" Target="fonts/NunitoSans-italic.fntdata"/><Relationship Id="rId21" Type="http://schemas.openxmlformats.org/officeDocument/2006/relationships/slide" Target="slides/slide16.xml"/><Relationship Id="rId43" Type="http://schemas.openxmlformats.org/officeDocument/2006/relationships/font" Target="fonts/NunitoSans-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Nunito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Fraunces-bold.fntdata"/><Relationship Id="rId16" Type="http://schemas.openxmlformats.org/officeDocument/2006/relationships/slide" Target="slides/slide11.xml"/><Relationship Id="rId38" Type="http://schemas.openxmlformats.org/officeDocument/2006/relationships/font" Target="fonts/Fraunce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indent="-228600" lvl="1" marL="9144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2pPr>
            <a:lvl3pPr indent="-228600" lvl="2" marL="13716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3pPr>
            <a:lvl4pPr indent="-228600" lvl="3" marL="18288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4pPr>
            <a:lvl5pPr indent="-228600" lvl="4" marL="22860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5pPr>
            <a:lvl6pPr indent="-228600" lvl="5" marL="27432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6pPr>
            <a:lvl7pPr indent="-228600" lvl="6" marL="32004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7pPr>
            <a:lvl8pPr indent="-228600" lvl="7" marL="36576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8pPr>
            <a:lvl9pPr indent="-228600" lvl="8" marL="41148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Nunito Sans"/>
                <a:ea typeface="Nunito Sans"/>
                <a:cs typeface="Nunito Sans"/>
                <a:sym typeface="Nunito Sans"/>
              </a:rPr>
              <a:t>‹#›</a:t>
            </a:fld>
            <a:endParaRPr b="0" i="0" sz="1200" u="none" cap="none" strike="noStrike">
              <a:solidFill>
                <a:schemeClr val="dk1"/>
              </a:solidFill>
              <a:latin typeface="Nunito Sans"/>
              <a:ea typeface="Nunito Sans"/>
              <a:cs typeface="Nunito Sans"/>
              <a:sym typeface="Nunito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Buenos días. Somos el equipo de datos de easyMoney y os vamos a presentar nuestro trabajo de fin de máster. easyMoney es un banco digital que hasta ahora ha crecido captando clientes nuevos. Ahora quiere cambiar de estrategia: ganar más con los clientes que ya tiene, ofreciéndoles nuevos productos. En estos 20 minutos os vamos a contar el camino completo: qué datos teníamos, cómo los preparamos, qué herramientas construimos con ellos y qué campaña proponemos al final. Intentaremos contarlo sin tecnicismos, para que cualquiera pueda seguirlo.</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 El punto de partida es una pregunta de negocio muy concreta. La dirección de easyMoney quiere dejar de gastar tanto en captar clientes nuevos y empezar a ofrecer más productos a los que ya tiene. Es lo que se llama venta cruzada. Para decidir si merece la pena, nos plantearon cuatro preguntas: qué producto ofrecer, a qué clientes, a cuántos y qué podemos esperar de una campaña así. Todo el trabajo que os vamos a enseñar está construido para responder a estas cuatro preguntas. Y al final volveremos a ellas.</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Este es el mapa de todo el trabajo, en seis pasos. Os lo enseñamos ahora para que sepáis en todo momento en qué punto estamos. Primero, entender los datos que teníamos. Segundo, prepararlos: limpiarlos, completar lo que faltaba y dejar una única base para todo el proyecto. Tercero, un cuadro de mando en Power BI para ver qué ha pasado en el negocio. Con esa base construimos dos herramientas: en el paso cuatro, una nota para cada cliente que estima quién va a contratar un producto; y en el paso cinco, grupos de clientes que se parecen entre sí. Y en el paso seis juntamos las dos para diseñar la campaña, calcular qué podemos esperar y construir un simulador. Vamos paso a paso.</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 Todo lo que os vamos a contar sale de nuestros propios datos. No hay supuestos de mercado ni estudios de fuera. Hemos seguido a 456.000 clientes durante 17 meses: qué productos tenía cada uno cada mes, su edad, dónde vive, si usa la cuenta… Y tenemos 240.000 ventas, cada una con el dinero que nos dejó. Lo más valioso es que tenemos historia. Podemos ver, por ejemplo, que un cliente no tenía plan de pensiones en marzo y lo contrató en abril. Eso nos permite aprender cómo es la gente que compra justo antes de comprar. Pero antes de poder usarlos, había que prepararlos. Es el paso dos.</a:t>
            </a: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El segundo paso, y el que más tiempo nos llevó, fue preparar los datos. Los datos reales nunca vienen perfectos. Encontramos clientes fallecidos, que quitamos antes de nada: no tiene sentido ofrecerles un producto. Encontramos productos sin rellenar, que interpretamos como que el cliente no lo tiene. Y datos como la región o el canal de entrada que faltaban algún mes, que copiamos del mismo cliente en otro mes, porque son cosas que no cambian. El caso más delicado fue el salario: faltaba en una de cada cuatro filas. No podíamos inventarlo ni tirar a esos clientes. Así que les pusimos el salario típico de clientes parecidos: misma provincia, mismo segmento y misma edad. Elegimos la provincia porque es lo que más explica el salario. Y lo comprobamos: el salario típico de los estimados es prácticamente igual al de los reales. Además, cada salario estimado queda marcado. Por último, al principio cada parte del proyecto limpiaba los datos a su manera. Para que todo cuadrara, lo unificamos: una única base limpia de la que sale todo lo demás. Así todas las cifras que vais a ver cuadran entre sí.</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(0:20) Lo primero que hicimos con los datos ya limpios fue un cuadro de mando en Power BI, para que cualquiera en la empresa pueda ver de un vistazo cómo vamos. [Si hay tiempo, abrirlo en directo unos 20 segundos.]</a:t>
            </a:r>
            <a:endParaRPr/>
          </a:p>
        </p:txBody>
      </p:sp>
      <p:sp>
        <p:nvSpPr>
          <p:cNvPr id="110" name="Google Shape;1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(0:20) En estos 17 meses se han hecho unas 240.000 ventas, que han dejado 146 millones de euros de margen. Y más de 150.000 clientes distintos han comprado algo.</a:t>
            </a:r>
            <a:endParaRPr/>
          </a:p>
        </p:txBody>
      </p:sp>
      <p:sp>
        <p:nvSpPr>
          <p:cNvPr id="121" name="Google Shape;1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Las ventas suben con fuerza en la segunda mitad de 2018, con el pico en octubre, y después se estabilizan.</a:t>
            </a:r>
            <a:endParaRPr/>
          </a:p>
        </p:txBody>
      </p:sp>
      <p:sp>
        <p:nvSpPr>
          <p:cNvPr id="137" name="Google Shape;13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(0:20) Cada venta deja de media unos 600 euros. Pero esa media esconde algo muy importante, que es lo que nos marcó el camino. Os lo enseñamos en la siguiente.</a:t>
            </a:r>
            <a:endParaRPr/>
          </a:p>
        </p:txBody>
      </p:sp>
      <p:sp>
        <p:nvSpPr>
          <p:cNvPr id="153" name="Google Shape;15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Este es el hallazgo que cambia toda la estrategia: el dinero no está donde están las ventas. Fijaos en las dos barras. De cada 100 ventas que hacemos, solo 8 son planes de pensiones. Pero de cada 100 euros de beneficio, 79 vienen de planes de pensiones. ¿Por qué? Porque cada plan de pensiones nos deja de media casi 6.000 euros. En cambio, la cuenta easyMoney, que es lo que más vendemos, deja 70 euros. Hacen falta más de 80 cuentas para igualar un solo plan de pensiones. Así que la primera respuesta está clara: si vamos a hacer una campaña para vender más a nuestros clientes, tiene que ser de planes de pensiones.</a:t>
            </a:r>
            <a:endParaRPr/>
          </a:p>
        </p:txBody>
      </p:sp>
      <p:sp>
        <p:nvSpPr>
          <p:cNvPr id="169" name="Google Shape;1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(0:10) ¿Y quiénes son los clientes? El cuadro de mando también nos lo dice.</a:t>
            </a:r>
            <a:endParaRPr/>
          </a:p>
        </p:txBody>
      </p:sp>
      <p:sp>
        <p:nvSpPr>
          <p:cNvPr id="186" name="Google Shape;1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Uno de cada dos clientes es universitario. Los particulares son el 43 % y los clientes TOP, solo un 4 %.</a:t>
            </a:r>
            <a:endParaRPr/>
          </a:p>
        </p:txBody>
      </p:sp>
      <p:sp>
        <p:nvSpPr>
          <p:cNvPr id="197" name="Google Shape;19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Y la gran mayoría tiene entre 20 y 30 años. Es un banco joven. Esto importa para la campaña, porque un estudiante de 22 años no suele pensar en su jubilación.</a:t>
            </a:r>
            <a:endParaRPr/>
          </a:p>
        </p:txBody>
      </p:sp>
      <p:sp>
        <p:nvSpPr>
          <p:cNvPr id="213" name="Google Shape;21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En esta otra página del cuadro de mando se ve qué tiene cada tipo de cliente. Fijaos en la fila del plan de pensiones: lo tiene el 18 % de los particulares y solo el 9 % de los universitarios. El doble.</a:t>
            </a:r>
            <a:endParaRPr/>
          </a:p>
        </p:txBody>
      </p:sp>
      <p:sp>
        <p:nvSpPr>
          <p:cNvPr id="229" name="Google Shape;22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En esta otra página del cuadro de mando se ve qué tiene cada tipo de cliente. Fijaos en la fila del plan de pensiones: lo tiene el 18 % de los particulares y solo el 9 % de los universitarios. El doble.</a:t>
            </a:r>
            <a:endParaRPr/>
          </a:p>
        </p:txBody>
      </p:sp>
      <p:sp>
        <p:nvSpPr>
          <p:cNvPr id="242" name="Google Shape;24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Y geográficamente, se vende sobre todo en Madrid, Barcelona y Valencia. Con todo esto ya intuimos que no vale la pena ofrecer el plan de pensiones a todo el mundo por igual. La pregunta es: ¿a quién exactamente?</a:t>
            </a:r>
            <a:endParaRPr/>
          </a:p>
        </p:txBody>
      </p:sp>
      <p:sp>
        <p:nvSpPr>
          <p:cNvPr id="258" name="Google Shape;25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Aquí está el problema. Un mes cualquiera, solo un 0,66 % de los clientes que no tienen plan de pensiones lo contrata. Dicho de forma sencilla: uno de cada 150. Es el punto verde entre todos los grises. Si mañana llamáramos a todos los clientes, gastaríamos muchísimo dinero y, sobre todo, molestaríamos a 149 personas para conseguir una venta. Eso quema la relación con el cliente. Así que la pregunta clave no es "¿vendemos planes de pensiones?", sino "¿quién es ese uno de cada 150?". Para encontrarlo hemos construido dos herramientas, que os explicamos ahora.</a:t>
            </a:r>
            <a:endParaRPr/>
          </a:p>
        </p:txBody>
      </p:sp>
      <p:sp>
        <p:nvSpPr>
          <p:cNvPr id="274" name="Google Shape;27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Antes de construir la nota, tuvimos que decidir para qué productos. Para que un modelo aprenda necesitamos dos cosas: que el producto valga la pena y que haya suficientes contrataciones nuevas cada mes para aprender de ellas. El plan de pensiones tiene unas 2.300 contrataciones al mes y es el que más margen deja: es el objetivo principal. La cuenta easyMoney tiene unas 2.500 y es la más vendida: la usamos para comprobar que el método también funciona con otro producto. La tarjeta de débito se vende mucho, pero deja muy poco margen. Y los depósitos, los fondos o las hipotecas tienen tan pocas contrataciones al mes que el modelo no tendría de dónde aprender.</a:t>
            </a:r>
            <a:endParaRPr/>
          </a:p>
        </p:txBody>
      </p:sp>
      <p:sp>
        <p:nvSpPr>
          <p:cNvPr id="286" name="Google Shape;28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Lo que construimos para estos dos productos es un modelo de propensión. Propensión quiere decir "tendencia a hacer algo": en nuestro caso, la probabilidad de que un cliente contrate el producto el mes que viene. El modelo recibe cómo era cada cliente el mes anterior: si usa el banco, qué productos tiene, su edad, cuánto tiempo lleva con nosotros… Aprende de 17 meses de historia qué tienen en común los que acaban contratando. Y lo que sale es el scoring: una nota de 0 a 1 para cada cliente, que nos permite ordenarlos de más a menos probable. Lo hemos aplicado a todos los clientes que todavía no tenían el producto en mayo de 2019, para predecir junio: 425.556 clientes para el plan de pensiones y 146.575 para la cuenta easyMoney. Esa lista ordenada es la base de la campaña.</a:t>
            </a:r>
            <a:endParaRPr/>
          </a:p>
        </p:txBody>
      </p:sp>
      <p:sp>
        <p:nvSpPr>
          <p:cNvPr id="295" name="Google Shape;29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(1:30) Para encontrar a ese uno de cada 150, construimos la primera herramienta: un modelo que le pone una nota a cada cliente. La idea es aprender del pasado. Durante 17 meses vemos qué clientes contrataron un plan de pensiones y cómo eran el mes anterior: su edad, sus productos, cuánto usaban el banco… El modelo aprende qué tienen en común los que acaban contratando. Lo hicimos en tres pasos, separando los meses para no hacer trampas. Con los datos hasta marzo de 2019, el modelo aprende. Con abril, comparamos cuatro tipos de modelo distintos, desde el más sencillo hasta los más complejos, y nos quedamos con el que más compradores encuentra entre los clientes con mejor nota. Y con mayo, un mes que el modelo nunca ha visto, comprobamos si acierta. Un detalle importante: el modelo solo usa lo que sabíamos del cliente el mes anterior. Nunca mira el futuro, igual que pasaría en la realidad. Lo hicimos para dos productos: el plan de pensiones, por el margen, y la cuenta easyMoney, que es la más vendida.</a:t>
            </a:r>
            <a:endParaRPr/>
          </a:p>
        </p:txBody>
      </p:sp>
      <p:sp>
        <p:nvSpPr>
          <p:cNvPr id="320" name="Google Shape;32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¿Y en qué se fija el modelo del plan de pensiones para poner la nota? Esto es lo que más pesa. Con mucha diferencia, si el cliente usa el banco: casi el 60 % de la decisión. Un cliente activo es mucho más probable que contrate algo. Después, si ya tiene la cuenta easyMoney, un 18 %: quien ya tiene la cuenta es más probable que acabe contratando un plan de pensiones. La edad, los meses que lleva con nosotros y cuántos productos tiene pesan bastante menos. Esto tiene sentido de negocio: el plan de pensiones no se lo contrata alguien que se dio de alta y se olvidó del banco, sino alguien que ya lo usa en su día a día. Y un detalle: el salario apenas pesa. Por eso la forma de rellenar los salarios que faltaban apenas afecta al resultado.</a:t>
            </a:r>
            <a:endParaRPr/>
          </a:p>
        </p:txBody>
      </p:sp>
      <p:sp>
        <p:nvSpPr>
          <p:cNvPr id="343" name="Google Shape;34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 ¿Y funciona? Este es el resultado en mayo, el mes que el modelo nunca había visto, comparando su nota con lo que pasó de verdad. Si llamamos al azar, compra menos de 1 de cada 100. Si llamamos al 10 % de clientes con mejor nota, compran 5 de cada 100: cinco veces más. Y si nos quedamos con el 1 % mejor, compran 16 de cada 100. Y lo más importante para la campaña: ese 10 % con mejor nota reúne 3 de cada 4 compradores del mes. Con una de cada diez llamadas encontramos al 75 % de los que iban a comprar. Es como el olfato de un buen director de oficina, que sabe quién está a punto de contratar algo, pero aplicado a 425.000 clientes a la vez.</a:t>
            </a:r>
            <a:endParaRPr/>
          </a:p>
        </p:txBody>
      </p:sp>
      <p:sp>
        <p:nvSpPr>
          <p:cNvPr id="372" name="Google Shape;37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(0:40) Para asegurarnos de que el método no funciona por casualidad, lo repetimos igual con la cuenta easyMoney. En el plan de pensiones, si llamamos al 5 % de clientes con mejor nota, compran 8,4 de cada 100, frente a 0,66 al azar: 13 veces más. En la cuenta easyMoney compran 17,5 de cada 100, frente a 1,7 al azar: 10 veces más. Aquí ganó otro modelo, el Gradient Boosting, porque cada producto tiene su propio comportamiento. Pero el método es el mismo y funciona en los dos. Nos centramos en el plan de pensiones porque es el que más dinero deja.</a:t>
            </a:r>
            <a:endParaRPr/>
          </a:p>
        </p:txBody>
      </p:sp>
      <p:sp>
        <p:nvSpPr>
          <p:cNvPr id="393" name="Google Shape;39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La segunda herramienta responde a otra pregunta: más allá de quién va a comprar, ¿qué tipos de clientes tenemos? Para eso usamos una técnica que junta automáticamente a los clientes que se parecen. Le dimos siete rasgos de cada cliente: edad, ingresos, segmento, qué productos tiene, cuánto tiempo lleva con nosotros, cuántas compras ha hecho y cuánto margen nos ha dejado. ¿Cuántos grupos? La dirección nos pidió entre 7 y 8, así que hicimos 8. Los clientes que no tienen ningún producto los separamos como un grupo propio, porque son muy distintos al resto. Y comprobamos que la técnica, por sí sola, también los separa. Un detalle importante: hicimos la foto de los clientes en abril. Así, cuando miramos quién compró en mayo, el grupo de cada cliente no está influido por esa compra, y la comprobación es honesta. El algoritmo solo numera los grupos; los nombres se los pusimos nosotros mirando el perfil de cada uno.</a:t>
            </a:r>
            <a:endParaRPr/>
          </a:p>
        </p:txBody>
      </p:sp>
      <p:sp>
        <p:nvSpPr>
          <p:cNvPr id="413" name="Google Shape;41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Y estos son los ocho grupos que salieron. Al lado de cada número de clientes veis qué parte de la base representa. Lo primero que llama la atención: los dos grupos más grandes son los que menos aportan. 151.000 universitarios que tienen la cuenta pero casi no la usan, un 34 % de los clientes, y 110.000 que se dieron de alta y no tienen nada contratado, otro 25 %. Entre los dos, más de la mitad de la base. En el otro extremo hay grupos pequeños pero muy valiosos. Y hay dos que os queremos destacar, los de abajo a la derecha: los clientes que tienen la nómina domiciliada con nosotros. Unos 16.700 particulares y unos 8.500 universitarios: juntos, apenas un 6 % de los clientes. Muchos de ellos todavía no tienen plan de pensiones.</a:t>
            </a:r>
            <a:endParaRPr/>
          </a:p>
        </p:txBody>
      </p:sp>
      <p:sp>
        <p:nvSpPr>
          <p:cNvPr id="433" name="Google Shape;43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 Y ahora juntamos las dos herramientas. Para cada grupo, miramos cuántos de sus clientes contrataron de verdad un plan de pensiones en mayo. La diferencia es enorme. De cada 100 particulares con nómina, 17 contrataron un plan de pensiones. De los universitarios con nómina, 13. La media de todo el banco es menos de 1. Es decir, compran más de 20 veces más. Y fijaos en un detalle: hace un momento dijimos que los universitarios compran pocos planes de pensiones. Es verdad en general, pero no para los que tienen la nómina con nosotros. No es la edad lo que decide, es tener la nómina en casa. Los particulares con tarjeta compran casi 2 de cada 100, el doble de la media. Y en el otro extremo, los recién llegados, 1 de cada 300, y los inactivos y los clientes sin producto, 1 de cada 1.000. Llamarles sería tirar el dinero.</a:t>
            </a:r>
            <a:endParaRPr/>
          </a:p>
        </p:txBody>
      </p:sp>
      <p:sp>
        <p:nvSpPr>
          <p:cNvPr id="473" name="Google Shape;47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(1:30) Con todo esto, la campaña se resume en tres decisiones muy sencillas, grupo a grupo. Primera: a los clientes con nómina, particulares y universitarios, y a los particulares con tarjeta los llamamos a todos. Son solo el 10 % de los clientes, pero compran tanto que merece la pena hablar con cada uno de ellos. Segunda: en los grupos que compran más o menos como la media no llamamos a todos. Son los particulares básicos y los TOP ahorradores. Ordenamos a todos los clientes del banco por su nota y, de estos dos grupos, solo llamamos a los que están en el 20 % de arriba de esa lista. Tercera: a los universitarios inactivos, a los recién llegados y a los clientes sin producto no los llamamos. Son el 74 % de nuestros clientes, tres de cada cuatro, pero casi no compran. Con ellos hay que hacer otra cosa, por ejemplo activarlos primero, pero no ofrecerles un plan de pensiones. Lo bueno de esta regla es que no la hemos decidido a ojo: sale sola de lo que compró cada grupo de verdad.</a:t>
            </a:r>
            <a:endParaRPr/>
          </a:p>
        </p:txBody>
      </p:sp>
      <p:sp>
        <p:nvSpPr>
          <p:cNvPr id="500" name="Google Shape;50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(1:30) Y esto es lo que podemos esperar de la campaña. Contactaríamos a unos 62.200 clientes, el 15 % de los que podrían comprar. Y esperamos que contraten unos 2.300 planes de pensiones. Es decir, compraría un 3,7 % de los clientes contactados, frente al 0,66 % si llamáramos al azar: más de cinco veces más ventas por cada llamada. Lo importante es de dónde sale esta cifra: no es una suposición, es lo que pasó de verdad en mayo de 2019 con los clientes que nuestro método habría elegido. También comprobamos que la campaña sigue compensando aunque el contacto sea caro, por ejemplo por teléfono o por carta. ¿Y en dinero? Lo ponemos abajo y en pequeño a propósito. Si se repitiera lo que pasó en mayo, el margen estaría entre 13 y 14 millones de euros en el mes. Pero es una estimación con supuestos de coste, no una promesa. Por eso, como veremos, lo que proponemos es medirlo primero con una prueba.</a:t>
            </a:r>
            <a:endParaRPr/>
          </a:p>
        </p:txBody>
      </p:sp>
      <p:sp>
        <p:nvSpPr>
          <p:cNvPr id="523" name="Google Shape;52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Os anticipamos una pregunta: ¿por qué no llamamos a más gente? Si usáramos solo la nota, sin los grupos, tendríamos que llamar a casi 128.000 clientes para conseguir unas 2.480 ventas. Con nuestra propuesta, que combina la nota y los grupos, llamamos a 62.200 y conseguimos unas 2.300. Es decir, el 93 % de las ventas con menos de la mitad de llamadas. ¿Y por qué pasa esto? Porque la nota ordena a los clientes de más a menos probable, y cuanto más bajas en la lista, menos compra la gente. Las primeras 62.200 llamadas encuentran a casi todos los compradores: compra 1 de cada 27. Las 65.000 llamadas de más solo añaden unas 180 ventas: compra 1 de cada 370, peor incluso que llamar al azar. Son clientes de los grupos que casi no compran, o los de peor nota del resto de grupos. Los grupos nos dicen dónde parar: a los de nómina y tarjeta los llamamos a todos, porque compran mucho; en el resto nos quedamos solo con los mejores; y a los grupos que casi no compran no bajamos a buscarlos. Esas llamadas de más, además, molestarían a clientes que casi seguro no iban a comprar, y el equipo comercial no es infinito.</a:t>
            </a:r>
            <a:endParaRPr/>
          </a:p>
        </p:txBody>
      </p:sp>
      <p:sp>
        <p:nvSpPr>
          <p:cNvPr id="545" name="Google Shape;54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(1:30) [Tener la app abierta antes de empezar.] No queremos que cada vez que tengáis una duda tengáis que esperar a que el equipo de datos haga números. Por eso hemos hecho un simulador que podéis usar vosotros mismos. Elegís el producto, el canal, con lo que cuesta cada contacto, y qué hacer con cada grupo: llamar a todos, solo a los mejores o a nadie. Y al momento veis cuántos clientes contactáis, cuántas ventas esperáis y cuánto ganáis, con el peor y el mejor caso. [Demo de 3 clics:] Uno: si quito a los clientes de nómina, el beneficio se hunde. Ese grupo es la clave de la campaña. Dos: si los vuelvo a poner y añado a los universitarios inactivos, las llamadas se disparan y apenas hay ventas nuevas. Tres: si cambio el canal de email a llamada telefónica, la campaña sigue siendo muy rentable.</a:t>
            </a:r>
            <a:endParaRPr/>
          </a:p>
        </p:txBody>
      </p:sp>
      <p:sp>
        <p:nvSpPr>
          <p:cNvPr id="572" name="Google Shape;57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Ahora, seamos honestos con lo que todavía no sabemos. Primero: el resultado es de un mes. No podemos multiplicarlo por doce, porque los clientes más interesados compran en la primera campaña y las siguientes rinden menos. Segundo, y más importante: nuestra herramienta encuentra a la gente que va a comprar, pero algunos habrían comprado igual aunque no les llamáramos. No queremos atribuirnos ventas que no son nuestras. Por eso proponemos empezar con una prueba de un mes. Llamamos a una parte de los clientes elegidos y dejamos otra parte, parecida, sin llamar. En el segundo mes comparamos: la diferencia entre los dos grupos es lo que la campaña gana de verdad. Si la prueba sale bien, ampliamos a todos los elegidos y repetimos cada mes con la nota actualizada.</a:t>
            </a:r>
            <a:endParaRPr/>
          </a:p>
        </p:txBody>
      </p:sp>
      <p:sp>
        <p:nvSpPr>
          <p:cNvPr id="587" name="Google Shape;58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Volvemos a las cuatro preguntas del principio. ¿Qué producto? Planes de pensiones. ¿A qué clientes? A los que tienen la nómina o la tarjeta con nosotros, y a los mejores del resto según la nota. ¿A cuántos? A unos 62.200. ¿Y qué podemos esperar? Más de cinco veces más ventas por llamada que llamando al azar. Nuestra recomendación es empezar con una prueba de un mes, con un grupo sin llamar, para medir el resultado real antes de ampliarla. Con los datos que ya tenía easyMoney, hemos pasado de una idea, "deberíamos vender más a nuestros clientes", a una propuesta concreta y comprobada. Muchas gracias. Quedamos a vuestra disposición para las preguntas.</a:t>
            </a:r>
            <a:endParaRPr/>
          </a:p>
        </p:txBody>
      </p:sp>
      <p:sp>
        <p:nvSpPr>
          <p:cNvPr id="610" name="Google Shape;61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AF8F2"/>
        </a:solidFill>
      </p:bgPr>
    </p:bg>
    <p:spTree>
      <p:nvGrpSpPr>
        <p:cNvPr id="12" name="Shape 12"/>
        <p:cNvGrpSpPr/>
        <p:nvPr/>
      </p:nvGrpSpPr>
      <p:grpSpPr>
        <a:xfrm>
          <a:off x="0" y="0"/>
          <a:ext cx="0" cy="0"/>
          <a:chOff x="0" y="0"/>
          <a:chExt cx="0" cy="0"/>
        </a:xfrm>
      </p:grpSpPr>
      <p:sp>
        <p:nvSpPr>
          <p:cNvPr id="13" name="Google Shape;13;p34"/>
          <p:cNvSpPr txBox="1"/>
          <p:nvPr>
            <p:ph type="title"/>
          </p:nvPr>
        </p:nvSpPr>
        <p:spPr>
          <a:xfrm>
            <a:off x="609562" y="634926"/>
            <a:ext cx="10972757" cy="363201"/>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A24"/>
              </a:buClr>
              <a:buSzPts val="2600"/>
              <a:buFont typeface="Fraunces"/>
              <a:buNone/>
              <a:defRPr sz="2600">
                <a:solidFill>
                  <a:srgbClr val="1F2A24"/>
                </a:solidFill>
                <a:latin typeface="Fraunces"/>
                <a:ea typeface="Fraunces"/>
                <a:cs typeface="Fraunces"/>
                <a:sym typeface="Fraunce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34"/>
          <p:cNvSpPr txBox="1"/>
          <p:nvPr>
            <p:ph idx="1" type="body"/>
          </p:nvPr>
        </p:nvSpPr>
        <p:spPr>
          <a:xfrm>
            <a:off x="609562" y="1302927"/>
            <a:ext cx="10769638" cy="4742273"/>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A24"/>
              </a:buClr>
              <a:buSzPts val="1600"/>
              <a:buNone/>
              <a:defRPr sz="1600">
                <a:solidFill>
                  <a:srgbClr val="1F2A24"/>
                </a:solidFill>
                <a:latin typeface="Nunito Sans"/>
                <a:ea typeface="Nunito Sans"/>
                <a:cs typeface="Nunito Sans"/>
                <a:sym typeface="Nunito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609562" y="634926"/>
            <a:ext cx="10972757" cy="363201"/>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A24"/>
              </a:buClr>
              <a:buSzPts val="2600"/>
              <a:buFont typeface="Fraunces"/>
              <a:buNone/>
              <a:defRPr b="0" i="0" sz="2600" u="none" cap="none" strike="noStrike">
                <a:solidFill>
                  <a:srgbClr val="1F2A24"/>
                </a:solidFill>
                <a:latin typeface="Fraunces"/>
                <a:ea typeface="Fraunces"/>
                <a:cs typeface="Fraunces"/>
                <a:sym typeface="Fraunce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3"/>
          <p:cNvSpPr txBox="1"/>
          <p:nvPr>
            <p:ph idx="1" type="body"/>
          </p:nvPr>
        </p:nvSpPr>
        <p:spPr>
          <a:xfrm>
            <a:off x="609562" y="1302927"/>
            <a:ext cx="10769638" cy="4742273"/>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A24"/>
              </a:buClr>
              <a:buSzPts val="1600"/>
              <a:buFont typeface="Arial"/>
              <a:buNone/>
              <a:defRPr b="0" i="0" sz="1600" u="none" cap="none" strike="noStrike">
                <a:solidFill>
                  <a:srgbClr val="1F2A24"/>
                </a:solidFill>
                <a:latin typeface="Nunito Sans"/>
                <a:ea typeface="Nunito Sans"/>
                <a:cs typeface="Nunito Sans"/>
                <a:sym typeface="Nunito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Nunito Sans"/>
                <a:ea typeface="Nunito Sans"/>
                <a:cs typeface="Nunito Sans"/>
                <a:sym typeface="Nunito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Nunito Sans"/>
                <a:ea typeface="Nunito Sans"/>
                <a:cs typeface="Nunito Sans"/>
                <a:sym typeface="Nuni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jp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0" name="Shape 20"/>
        <p:cNvGrpSpPr/>
        <p:nvPr/>
      </p:nvGrpSpPr>
      <p:grpSpPr>
        <a:xfrm>
          <a:off x="0" y="0"/>
          <a:ext cx="0" cy="0"/>
          <a:chOff x="0" y="0"/>
          <a:chExt cx="0" cy="0"/>
        </a:xfrm>
      </p:grpSpPr>
      <p:sp>
        <p:nvSpPr>
          <p:cNvPr id="21" name="Google Shape;21;p1"/>
          <p:cNvSpPr/>
          <p:nvPr/>
        </p:nvSpPr>
        <p:spPr>
          <a:xfrm>
            <a:off x="7873952" y="0"/>
            <a:ext cx="4317930" cy="6857984"/>
          </a:xfrm>
          <a:prstGeom prst="rect">
            <a:avLst/>
          </a:pr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 de easyMoney" id="22" name="Google Shape;22;p1"/>
          <p:cNvPicPr preferRelativeResize="0"/>
          <p:nvPr/>
        </p:nvPicPr>
        <p:blipFill rotWithShape="1">
          <a:blip r:embed="rId3">
            <a:alphaModFix/>
          </a:blip>
          <a:srcRect b="0" l="-1" r="-1" t="0"/>
          <a:stretch/>
        </p:blipFill>
        <p:spPr>
          <a:xfrm>
            <a:off x="812720" y="812720"/>
            <a:ext cx="1873250" cy="825491"/>
          </a:xfrm>
          <a:prstGeom prst="rect">
            <a:avLst/>
          </a:prstGeom>
          <a:noFill/>
          <a:ln>
            <a:noFill/>
          </a:ln>
        </p:spPr>
      </p:pic>
      <p:sp>
        <p:nvSpPr>
          <p:cNvPr id="23" name="Google Shape;23;p1"/>
          <p:cNvSpPr/>
          <p:nvPr/>
        </p:nvSpPr>
        <p:spPr>
          <a:xfrm>
            <a:off x="812720" y="2230292"/>
            <a:ext cx="654045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600"/>
              <a:buFont typeface="Nunito Sans"/>
              <a:buNone/>
            </a:pPr>
            <a:r>
              <a:rPr b="1" i="0" lang="en-US" spc="150" sz="1600" u="none" cap="none" strike="noStrike">
                <a:solidFill>
                  <a:srgbClr val="2F6E62"/>
                </a:solidFill>
                <a:latin typeface="Nunito Sans"/>
                <a:ea typeface="Nunito Sans"/>
                <a:cs typeface="Nunito Sans"/>
                <a:sym typeface="Nunito Sans"/>
              </a:rPr>
              <a:t>PROPUESTA DE CAMPAÑA · CROSS-SELLING</a:t>
            </a:r>
            <a:endParaRPr b="0" i="0" sz="1600" u="none" cap="none" strike="noStrike">
              <a:solidFill>
                <a:schemeClr val="dk1"/>
              </a:solidFill>
              <a:latin typeface="Nunito Sans"/>
              <a:ea typeface="Nunito Sans"/>
              <a:cs typeface="Nunito Sans"/>
              <a:sym typeface="Nunito Sans"/>
            </a:endParaRPr>
          </a:p>
        </p:txBody>
      </p:sp>
      <p:sp>
        <p:nvSpPr>
          <p:cNvPr id="24" name="Google Shape;24;p1"/>
          <p:cNvSpPr txBox="1"/>
          <p:nvPr>
            <p:ph type="title"/>
          </p:nvPr>
        </p:nvSpPr>
        <p:spPr>
          <a:xfrm>
            <a:off x="812720" y="2768663"/>
            <a:ext cx="6540454" cy="2425518"/>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1F2A24"/>
              </a:buClr>
              <a:buSzPts val="6000"/>
              <a:buFont typeface="Fraunces"/>
              <a:buNone/>
            </a:pPr>
            <a:r>
              <a:rPr b="1" i="0" lang="en-US" sz="6000">
                <a:solidFill>
                  <a:srgbClr val="1F2A24"/>
                </a:solidFill>
                <a:latin typeface="Fraunces"/>
                <a:ea typeface="Fraunces"/>
                <a:cs typeface="Fraunces"/>
                <a:sym typeface="Fraunces"/>
              </a:rPr>
              <a:t>Vender más a quien ya es cliente</a:t>
            </a:r>
            <a:endParaRPr sz="6000"/>
          </a:p>
        </p:txBody>
      </p:sp>
      <p:sp>
        <p:nvSpPr>
          <p:cNvPr id="25" name="Google Shape;25;p1"/>
          <p:cNvSpPr/>
          <p:nvPr/>
        </p:nvSpPr>
        <p:spPr>
          <a:xfrm>
            <a:off x="812720" y="5760863"/>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Equipo de Data Science · Propuesta a dirección</a:t>
            </a:r>
            <a:endParaRPr b="0" i="0" sz="1600" u="none" cap="none" strike="noStrike">
              <a:solidFill>
                <a:schemeClr val="dk1"/>
              </a:solidFill>
              <a:latin typeface="Nunito Sans"/>
              <a:ea typeface="Nunito Sans"/>
              <a:cs typeface="Nunito Sans"/>
              <a:sym typeface="Nunito Sans"/>
            </a:endParaRPr>
          </a:p>
        </p:txBody>
      </p:sp>
      <p:sp>
        <p:nvSpPr>
          <p:cNvPr id="26" name="Google Shape;26;p1"/>
          <p:cNvSpPr/>
          <p:nvPr/>
        </p:nvSpPr>
        <p:spPr>
          <a:xfrm>
            <a:off x="8381981" y="2666949"/>
            <a:ext cx="3401021" cy="111500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2200"/>
              <a:buFont typeface="Fraunces"/>
              <a:buNone/>
            </a:pPr>
            <a:r>
              <a:rPr b="0" i="0" lang="en-US" sz="2200" u="none" cap="none" strike="noStrike">
                <a:solidFill>
                  <a:srgbClr val="F4F1E8"/>
                </a:solidFill>
                <a:latin typeface="Fraunces"/>
                <a:ea typeface="Fraunces"/>
                <a:cs typeface="Fraunces"/>
                <a:sym typeface="Fraunces"/>
              </a:rPr>
              <a:t>Del dato a la campaña: cómo lo hicimos y qué proponemos</a:t>
            </a:r>
            <a:endParaRPr b="0" i="0" sz="2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31" name="Shape 31"/>
        <p:cNvGrpSpPr/>
        <p:nvPr/>
      </p:nvGrpSpPr>
      <p:grpSpPr>
        <a:xfrm>
          <a:off x="0" y="0"/>
          <a:ext cx="0" cy="0"/>
          <a:chOff x="0" y="0"/>
          <a:chExt cx="0" cy="0"/>
        </a:xfrm>
      </p:grpSpPr>
      <p:sp>
        <p:nvSpPr>
          <p:cNvPr id="32" name="Google Shape;32;p2"/>
          <p:cNvSpPr/>
          <p:nvPr/>
        </p:nvSpPr>
        <p:spPr>
          <a:xfrm>
            <a:off x="812720" y="812720"/>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EL RETO</a:t>
            </a:r>
            <a:endParaRPr b="0" i="0" sz="1200" u="none" cap="none" strike="noStrike">
              <a:solidFill>
                <a:schemeClr val="dk1"/>
              </a:solidFill>
              <a:latin typeface="Nunito Sans"/>
              <a:ea typeface="Nunito Sans"/>
              <a:cs typeface="Nunito Sans"/>
              <a:sym typeface="Nunito Sans"/>
            </a:endParaRPr>
          </a:p>
        </p:txBody>
      </p:sp>
      <p:sp>
        <p:nvSpPr>
          <p:cNvPr id="33" name="Google Shape;33;p2"/>
          <p:cNvSpPr txBox="1"/>
          <p:nvPr>
            <p:ph type="title"/>
          </p:nvPr>
        </p:nvSpPr>
        <p:spPr>
          <a:xfrm>
            <a:off x="812720" y="1127645"/>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Dejar de perseguir clientes nuevos y ofrecer más a los que ya tenemos</a:t>
            </a:r>
            <a:endParaRPr sz="3600"/>
          </a:p>
        </p:txBody>
      </p:sp>
      <p:sp>
        <p:nvSpPr>
          <p:cNvPr id="34" name="Google Shape;34;p2"/>
          <p:cNvSpPr/>
          <p:nvPr/>
        </p:nvSpPr>
        <p:spPr>
          <a:xfrm>
            <a:off x="812720" y="2488971"/>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La dirección de easyMoney nos planteó cuatro preguntas:</a:t>
            </a:r>
            <a:endParaRPr b="0" i="0" sz="1600" u="none" cap="none" strike="noStrike">
              <a:solidFill>
                <a:schemeClr val="dk1"/>
              </a:solidFill>
              <a:latin typeface="Nunito Sans"/>
              <a:ea typeface="Nunito Sans"/>
              <a:cs typeface="Nunito Sans"/>
              <a:sym typeface="Nunito Sans"/>
            </a:endParaRPr>
          </a:p>
        </p:txBody>
      </p:sp>
      <p:sp>
        <p:nvSpPr>
          <p:cNvPr id="35" name="Google Shape;35;p2"/>
          <p:cNvSpPr/>
          <p:nvPr/>
        </p:nvSpPr>
        <p:spPr>
          <a:xfrm>
            <a:off x="815895" y="3132141"/>
            <a:ext cx="2482893" cy="1826685"/>
          </a:xfrm>
          <a:prstGeom prst="roundRect">
            <a:avLst>
              <a:gd fmla="val 5388"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072486" y="3388732"/>
            <a:ext cx="202880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01</a:t>
            </a:r>
            <a:endParaRPr b="0" i="0" sz="1200" u="none" cap="none" strike="noStrike">
              <a:solidFill>
                <a:schemeClr val="dk1"/>
              </a:solidFill>
              <a:latin typeface="Nunito Sans"/>
              <a:ea typeface="Nunito Sans"/>
              <a:cs typeface="Nunito Sans"/>
              <a:sym typeface="Nunito Sans"/>
            </a:endParaRPr>
          </a:p>
        </p:txBody>
      </p:sp>
      <p:sp>
        <p:nvSpPr>
          <p:cNvPr id="37" name="Google Shape;37;p2"/>
          <p:cNvSpPr/>
          <p:nvPr/>
        </p:nvSpPr>
        <p:spPr>
          <a:xfrm>
            <a:off x="1072486" y="3703658"/>
            <a:ext cx="2028802" cy="989197"/>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¿Qué producto ofrecer?</a:t>
            </a:r>
            <a:endParaRPr b="0" i="0" sz="2200" u="none" cap="none" strike="noStrike">
              <a:solidFill>
                <a:schemeClr val="dk1"/>
              </a:solidFill>
              <a:latin typeface="Nunito Sans"/>
              <a:ea typeface="Nunito Sans"/>
              <a:cs typeface="Nunito Sans"/>
              <a:sym typeface="Nunito Sans"/>
            </a:endParaRPr>
          </a:p>
        </p:txBody>
      </p:sp>
      <p:sp>
        <p:nvSpPr>
          <p:cNvPr id="38" name="Google Shape;38;p2"/>
          <p:cNvSpPr/>
          <p:nvPr/>
        </p:nvSpPr>
        <p:spPr>
          <a:xfrm>
            <a:off x="3508295" y="3132141"/>
            <a:ext cx="2482893" cy="1826685"/>
          </a:xfrm>
          <a:prstGeom prst="roundRect">
            <a:avLst>
              <a:gd fmla="val 5388"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3764886" y="3388732"/>
            <a:ext cx="202880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02</a:t>
            </a:r>
            <a:endParaRPr b="0" i="0" sz="1200" u="none" cap="none" strike="noStrike">
              <a:solidFill>
                <a:schemeClr val="dk1"/>
              </a:solidFill>
              <a:latin typeface="Nunito Sans"/>
              <a:ea typeface="Nunito Sans"/>
              <a:cs typeface="Nunito Sans"/>
              <a:sym typeface="Nunito Sans"/>
            </a:endParaRPr>
          </a:p>
        </p:txBody>
      </p:sp>
      <p:sp>
        <p:nvSpPr>
          <p:cNvPr id="40" name="Google Shape;40;p2"/>
          <p:cNvSpPr/>
          <p:nvPr/>
        </p:nvSpPr>
        <p:spPr>
          <a:xfrm>
            <a:off x="3764886" y="3703658"/>
            <a:ext cx="2028802" cy="667931"/>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¿A qué clientes?</a:t>
            </a:r>
            <a:endParaRPr b="0" i="0" sz="2200" u="none" cap="none" strike="noStrike">
              <a:solidFill>
                <a:schemeClr val="dk1"/>
              </a:solidFill>
              <a:latin typeface="Nunito Sans"/>
              <a:ea typeface="Nunito Sans"/>
              <a:cs typeface="Nunito Sans"/>
              <a:sym typeface="Nunito Sans"/>
            </a:endParaRPr>
          </a:p>
        </p:txBody>
      </p:sp>
      <p:sp>
        <p:nvSpPr>
          <p:cNvPr id="41" name="Google Shape;41;p2"/>
          <p:cNvSpPr/>
          <p:nvPr/>
        </p:nvSpPr>
        <p:spPr>
          <a:xfrm>
            <a:off x="6200695" y="3132141"/>
            <a:ext cx="2482893" cy="1826685"/>
          </a:xfrm>
          <a:prstGeom prst="roundRect">
            <a:avLst>
              <a:gd fmla="val 5388"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457286" y="3388732"/>
            <a:ext cx="202880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03</a:t>
            </a:r>
            <a:endParaRPr b="0" i="0" sz="1200" u="none" cap="none" strike="noStrike">
              <a:solidFill>
                <a:schemeClr val="dk1"/>
              </a:solidFill>
              <a:latin typeface="Nunito Sans"/>
              <a:ea typeface="Nunito Sans"/>
              <a:cs typeface="Nunito Sans"/>
              <a:sym typeface="Nunito Sans"/>
            </a:endParaRPr>
          </a:p>
        </p:txBody>
      </p:sp>
      <p:sp>
        <p:nvSpPr>
          <p:cNvPr id="43" name="Google Shape;43;p2"/>
          <p:cNvSpPr/>
          <p:nvPr/>
        </p:nvSpPr>
        <p:spPr>
          <a:xfrm>
            <a:off x="6457286" y="3703658"/>
            <a:ext cx="2028802" cy="346666"/>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¿A cuántos?</a:t>
            </a:r>
            <a:endParaRPr b="0" i="0" sz="2200" u="none" cap="none" strike="noStrike">
              <a:solidFill>
                <a:schemeClr val="dk1"/>
              </a:solidFill>
              <a:latin typeface="Nunito Sans"/>
              <a:ea typeface="Nunito Sans"/>
              <a:cs typeface="Nunito Sans"/>
              <a:sym typeface="Nunito Sans"/>
            </a:endParaRPr>
          </a:p>
        </p:txBody>
      </p:sp>
      <p:sp>
        <p:nvSpPr>
          <p:cNvPr id="44" name="Google Shape;44;p2"/>
          <p:cNvSpPr/>
          <p:nvPr/>
        </p:nvSpPr>
        <p:spPr>
          <a:xfrm>
            <a:off x="8889919" y="3128966"/>
            <a:ext cx="2489333" cy="1833035"/>
          </a:xfrm>
          <a:prstGeom prst="roundRect">
            <a:avLst>
              <a:gd fmla="val 5543"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8889919" y="3128966"/>
            <a:ext cx="2489333" cy="1833035"/>
          </a:xfrm>
          <a:custGeom>
            <a:rect b="b" l="l" r="r" t="t"/>
            <a:pathLst>
              <a:path extrusionOk="0" h="1833035" w="2489333">
                <a:moveTo>
                  <a:pt x="0" y="101600"/>
                </a:moveTo>
                <a:lnTo>
                  <a:pt x="0" y="101600"/>
                </a:lnTo>
                <a:cubicBezTo>
                  <a:pt x="0" y="45488"/>
                  <a:pt x="45488" y="0"/>
                  <a:pt x="101600" y="0"/>
                </a:cubicBezTo>
                <a:lnTo>
                  <a:pt x="2387733" y="0"/>
                </a:lnTo>
                <a:cubicBezTo>
                  <a:pt x="2414679" y="0"/>
                  <a:pt x="2440521" y="10704"/>
                  <a:pt x="2459575" y="29758"/>
                </a:cubicBezTo>
                <a:cubicBezTo>
                  <a:pt x="2478629" y="48812"/>
                  <a:pt x="2489333" y="74654"/>
                  <a:pt x="2489333" y="101600"/>
                </a:cubicBezTo>
                <a:lnTo>
                  <a:pt x="2489333" y="101600"/>
                </a:lnTo>
                <a:cubicBezTo>
                  <a:pt x="2489333" y="73544"/>
                  <a:pt x="2443845" y="50800"/>
                  <a:pt x="2387733" y="50800"/>
                </a:cubicBezTo>
                <a:lnTo>
                  <a:pt x="101600" y="50800"/>
                </a:lnTo>
                <a:cubicBezTo>
                  <a:pt x="45488" y="50800"/>
                  <a:pt x="0" y="73544"/>
                  <a:pt x="0" y="101600"/>
                </a:cubicBezTo>
                <a:close/>
              </a:path>
            </a:pathLst>
          </a:custGeom>
          <a:solidFill>
            <a:srgbClr val="7CC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9143889" y="3429309"/>
            <a:ext cx="2040837"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04</a:t>
            </a:r>
            <a:endParaRPr b="0" i="0" sz="1200" u="none" cap="none" strike="noStrike">
              <a:solidFill>
                <a:schemeClr val="dk1"/>
              </a:solidFill>
              <a:latin typeface="Nunito Sans"/>
              <a:ea typeface="Nunito Sans"/>
              <a:cs typeface="Nunito Sans"/>
              <a:sym typeface="Nunito Sans"/>
            </a:endParaRPr>
          </a:p>
        </p:txBody>
      </p:sp>
      <p:sp>
        <p:nvSpPr>
          <p:cNvPr id="47" name="Google Shape;47;p2"/>
          <p:cNvSpPr/>
          <p:nvPr/>
        </p:nvSpPr>
        <p:spPr>
          <a:xfrm>
            <a:off x="9143889" y="3744235"/>
            <a:ext cx="2040837" cy="989197"/>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¿Qué podemos esperar?</a:t>
            </a:r>
            <a:endParaRPr b="0" i="0" sz="2200" u="none" cap="none" strike="noStrike">
              <a:solidFill>
                <a:schemeClr val="dk1"/>
              </a:solidFill>
              <a:latin typeface="Nunito Sans"/>
              <a:ea typeface="Nunito Sans"/>
              <a:cs typeface="Nunito Sans"/>
              <a:sym typeface="Nunito Sans"/>
            </a:endParaRPr>
          </a:p>
        </p:txBody>
      </p:sp>
      <p:sp>
        <p:nvSpPr>
          <p:cNvPr id="48" name="Google Shape;48;p2"/>
          <p:cNvSpPr/>
          <p:nvPr/>
        </p:nvSpPr>
        <p:spPr>
          <a:xfrm>
            <a:off x="812720" y="6238278"/>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02</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53" name="Shape 53"/>
        <p:cNvGrpSpPr/>
        <p:nvPr/>
      </p:nvGrpSpPr>
      <p:grpSpPr>
        <a:xfrm>
          <a:off x="0" y="0"/>
          <a:ext cx="0" cy="0"/>
          <a:chOff x="0" y="0"/>
          <a:chExt cx="0" cy="0"/>
        </a:xfrm>
      </p:grpSpPr>
      <p:sp>
        <p:nvSpPr>
          <p:cNvPr id="54" name="Google Shape;54;p3"/>
          <p:cNvSpPr/>
          <p:nvPr/>
        </p:nvSpPr>
        <p:spPr>
          <a:xfrm>
            <a:off x="812720" y="812719"/>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CÓMO LO HEMOS ABORDADO</a:t>
            </a:r>
            <a:endParaRPr b="0" i="0" sz="1200" u="none" cap="none" strike="noStrike">
              <a:solidFill>
                <a:schemeClr val="dk1"/>
              </a:solidFill>
              <a:latin typeface="Nunito Sans"/>
              <a:ea typeface="Nunito Sans"/>
              <a:cs typeface="Nunito Sans"/>
              <a:sym typeface="Nunito Sans"/>
            </a:endParaRPr>
          </a:p>
        </p:txBody>
      </p:sp>
      <p:sp>
        <p:nvSpPr>
          <p:cNvPr id="55" name="Google Shape;55;p3"/>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Seis pasos, del dato a la campaña</a:t>
            </a:r>
            <a:endParaRPr sz="3600"/>
          </a:p>
        </p:txBody>
      </p:sp>
      <p:sp>
        <p:nvSpPr>
          <p:cNvPr id="56" name="Google Shape;56;p3"/>
          <p:cNvSpPr/>
          <p:nvPr/>
        </p:nvSpPr>
        <p:spPr>
          <a:xfrm>
            <a:off x="812720" y="1935293"/>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1041238" y="2163811"/>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1</a:t>
            </a:r>
            <a:endParaRPr b="0" i="0" sz="2200" u="none" cap="none" strike="noStrike">
              <a:solidFill>
                <a:schemeClr val="dk1"/>
              </a:solidFill>
              <a:latin typeface="Nunito Sans"/>
              <a:ea typeface="Nunito Sans"/>
              <a:cs typeface="Nunito Sans"/>
              <a:sym typeface="Nunito Sans"/>
            </a:endParaRPr>
          </a:p>
        </p:txBody>
      </p:sp>
      <p:sp>
        <p:nvSpPr>
          <p:cNvPr id="58" name="Google Shape;58;p3"/>
          <p:cNvSpPr/>
          <p:nvPr/>
        </p:nvSpPr>
        <p:spPr>
          <a:xfrm>
            <a:off x="1041238" y="260572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Entender los datos</a:t>
            </a:r>
            <a:endParaRPr b="0" i="0" sz="1600" u="none" cap="none" strike="noStrike">
              <a:solidFill>
                <a:schemeClr val="dk1"/>
              </a:solidFill>
              <a:latin typeface="Nunito Sans"/>
              <a:ea typeface="Nunito Sans"/>
              <a:cs typeface="Nunito Sans"/>
              <a:sym typeface="Nunito Sans"/>
            </a:endParaRPr>
          </a:p>
        </p:txBody>
      </p:sp>
      <p:sp>
        <p:nvSpPr>
          <p:cNvPr id="59" name="Google Shape;59;p3"/>
          <p:cNvSpPr/>
          <p:nvPr/>
        </p:nvSpPr>
        <p:spPr>
          <a:xfrm>
            <a:off x="1041238" y="2900176"/>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Cinco ficheros con 17 meses de clientes y ventas</a:t>
            </a:r>
            <a:endParaRPr b="0" i="0" sz="1200" u="none" cap="none" strike="noStrike">
              <a:solidFill>
                <a:schemeClr val="dk1"/>
              </a:solidFill>
              <a:latin typeface="Nunito Sans"/>
              <a:ea typeface="Nunito Sans"/>
              <a:cs typeface="Nunito Sans"/>
              <a:sym typeface="Nunito Sans"/>
            </a:endParaRPr>
          </a:p>
        </p:txBody>
      </p:sp>
      <p:sp>
        <p:nvSpPr>
          <p:cNvPr id="60" name="Google Shape;60;p3"/>
          <p:cNvSpPr/>
          <p:nvPr/>
        </p:nvSpPr>
        <p:spPr>
          <a:xfrm>
            <a:off x="4385679" y="1935293"/>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4614197" y="2163811"/>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2</a:t>
            </a:r>
            <a:endParaRPr b="0" i="0" sz="2200" u="none" cap="none" strike="noStrike">
              <a:solidFill>
                <a:schemeClr val="dk1"/>
              </a:solidFill>
              <a:latin typeface="Nunito Sans"/>
              <a:ea typeface="Nunito Sans"/>
              <a:cs typeface="Nunito Sans"/>
              <a:sym typeface="Nunito Sans"/>
            </a:endParaRPr>
          </a:p>
        </p:txBody>
      </p:sp>
      <p:sp>
        <p:nvSpPr>
          <p:cNvPr id="62" name="Google Shape;62;p3"/>
          <p:cNvSpPr/>
          <p:nvPr/>
        </p:nvSpPr>
        <p:spPr>
          <a:xfrm>
            <a:off x="4614197" y="260572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Prepararlos una sola vez</a:t>
            </a:r>
            <a:endParaRPr b="0" i="0" sz="1600" u="none" cap="none" strike="noStrike">
              <a:solidFill>
                <a:schemeClr val="dk1"/>
              </a:solidFill>
              <a:latin typeface="Nunito Sans"/>
              <a:ea typeface="Nunito Sans"/>
              <a:cs typeface="Nunito Sans"/>
              <a:sym typeface="Nunito Sans"/>
            </a:endParaRPr>
          </a:p>
        </p:txBody>
      </p:sp>
      <p:sp>
        <p:nvSpPr>
          <p:cNvPr id="63" name="Google Shape;63;p3"/>
          <p:cNvSpPr/>
          <p:nvPr/>
        </p:nvSpPr>
        <p:spPr>
          <a:xfrm>
            <a:off x="4614197" y="2900176"/>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Limpiar, completar nulos y crear una base común</a:t>
            </a:r>
            <a:endParaRPr b="0" i="0" sz="1200" u="none" cap="none" strike="noStrike">
              <a:solidFill>
                <a:schemeClr val="dk1"/>
              </a:solidFill>
              <a:latin typeface="Nunito Sans"/>
              <a:ea typeface="Nunito Sans"/>
              <a:cs typeface="Nunito Sans"/>
              <a:sym typeface="Nunito Sans"/>
            </a:endParaRPr>
          </a:p>
        </p:txBody>
      </p:sp>
      <p:sp>
        <p:nvSpPr>
          <p:cNvPr id="64" name="Google Shape;64;p3"/>
          <p:cNvSpPr/>
          <p:nvPr/>
        </p:nvSpPr>
        <p:spPr>
          <a:xfrm>
            <a:off x="7958639" y="1935293"/>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8187157" y="2163811"/>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3</a:t>
            </a:r>
            <a:endParaRPr b="0" i="0" sz="2200" u="none" cap="none" strike="noStrike">
              <a:solidFill>
                <a:schemeClr val="dk1"/>
              </a:solidFill>
              <a:latin typeface="Nunito Sans"/>
              <a:ea typeface="Nunito Sans"/>
              <a:cs typeface="Nunito Sans"/>
              <a:sym typeface="Nunito Sans"/>
            </a:endParaRPr>
          </a:p>
        </p:txBody>
      </p:sp>
      <p:sp>
        <p:nvSpPr>
          <p:cNvPr id="66" name="Google Shape;66;p3"/>
          <p:cNvSpPr/>
          <p:nvPr/>
        </p:nvSpPr>
        <p:spPr>
          <a:xfrm>
            <a:off x="8187157" y="260572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Cuadro de mando</a:t>
            </a:r>
            <a:endParaRPr b="0" i="0" sz="1600" u="none" cap="none" strike="noStrike">
              <a:solidFill>
                <a:schemeClr val="dk1"/>
              </a:solidFill>
              <a:latin typeface="Nunito Sans"/>
              <a:ea typeface="Nunito Sans"/>
              <a:cs typeface="Nunito Sans"/>
              <a:sym typeface="Nunito Sans"/>
            </a:endParaRPr>
          </a:p>
        </p:txBody>
      </p:sp>
      <p:sp>
        <p:nvSpPr>
          <p:cNvPr id="67" name="Google Shape;67;p3"/>
          <p:cNvSpPr/>
          <p:nvPr/>
        </p:nvSpPr>
        <p:spPr>
          <a:xfrm>
            <a:off x="8187157" y="2900176"/>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Power BI: qué ha pasado y dónde está el dinero</a:t>
            </a:r>
            <a:endParaRPr b="0" i="0" sz="1200" u="none" cap="none" strike="noStrike">
              <a:solidFill>
                <a:schemeClr val="dk1"/>
              </a:solidFill>
              <a:latin typeface="Nunito Sans"/>
              <a:ea typeface="Nunito Sans"/>
              <a:cs typeface="Nunito Sans"/>
              <a:sym typeface="Nunito Sans"/>
            </a:endParaRPr>
          </a:p>
        </p:txBody>
      </p:sp>
      <p:sp>
        <p:nvSpPr>
          <p:cNvPr id="68" name="Google Shape;68;p3"/>
          <p:cNvSpPr/>
          <p:nvPr/>
        </p:nvSpPr>
        <p:spPr>
          <a:xfrm>
            <a:off x="812720" y="3707825"/>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1041238" y="3936343"/>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4</a:t>
            </a:r>
            <a:endParaRPr b="0" i="0" sz="2200" u="none" cap="none" strike="noStrike">
              <a:solidFill>
                <a:schemeClr val="dk1"/>
              </a:solidFill>
              <a:latin typeface="Nunito Sans"/>
              <a:ea typeface="Nunito Sans"/>
              <a:cs typeface="Nunito Sans"/>
              <a:sym typeface="Nunito Sans"/>
            </a:endParaRPr>
          </a:p>
        </p:txBody>
      </p:sp>
      <p:sp>
        <p:nvSpPr>
          <p:cNvPr id="70" name="Google Shape;70;p3"/>
          <p:cNvSpPr/>
          <p:nvPr/>
        </p:nvSpPr>
        <p:spPr>
          <a:xfrm>
            <a:off x="1041238" y="437825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Una nota por cliente</a:t>
            </a:r>
            <a:endParaRPr b="0" i="0" sz="1600" u="none" cap="none" strike="noStrike">
              <a:solidFill>
                <a:schemeClr val="dk1"/>
              </a:solidFill>
              <a:latin typeface="Nunito Sans"/>
              <a:ea typeface="Nunito Sans"/>
              <a:cs typeface="Nunito Sans"/>
              <a:sym typeface="Nunito Sans"/>
            </a:endParaRPr>
          </a:p>
        </p:txBody>
      </p:sp>
      <p:sp>
        <p:nvSpPr>
          <p:cNvPr id="71" name="Google Shape;71;p3"/>
          <p:cNvSpPr/>
          <p:nvPr/>
        </p:nvSpPr>
        <p:spPr>
          <a:xfrm>
            <a:off x="1041238" y="4672709"/>
            <a:ext cx="319209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Un modelo que estima quién va a contratar</a:t>
            </a:r>
            <a:endParaRPr b="0" i="0" sz="1200" u="none" cap="none" strike="noStrike">
              <a:solidFill>
                <a:schemeClr val="dk1"/>
              </a:solidFill>
              <a:latin typeface="Nunito Sans"/>
              <a:ea typeface="Nunito Sans"/>
              <a:cs typeface="Nunito Sans"/>
              <a:sym typeface="Nunito Sans"/>
            </a:endParaRPr>
          </a:p>
        </p:txBody>
      </p:sp>
      <p:sp>
        <p:nvSpPr>
          <p:cNvPr id="72" name="Google Shape;72;p3"/>
          <p:cNvSpPr/>
          <p:nvPr/>
        </p:nvSpPr>
        <p:spPr>
          <a:xfrm>
            <a:off x="4385679" y="3707825"/>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4614197" y="3936343"/>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5</a:t>
            </a:r>
            <a:endParaRPr b="0" i="0" sz="2200" u="none" cap="none" strike="noStrike">
              <a:solidFill>
                <a:schemeClr val="dk1"/>
              </a:solidFill>
              <a:latin typeface="Nunito Sans"/>
              <a:ea typeface="Nunito Sans"/>
              <a:cs typeface="Nunito Sans"/>
              <a:sym typeface="Nunito Sans"/>
            </a:endParaRPr>
          </a:p>
        </p:txBody>
      </p:sp>
      <p:sp>
        <p:nvSpPr>
          <p:cNvPr id="74" name="Google Shape;74;p3"/>
          <p:cNvSpPr/>
          <p:nvPr/>
        </p:nvSpPr>
        <p:spPr>
          <a:xfrm>
            <a:off x="4614197" y="437825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Grupos de clientes</a:t>
            </a:r>
            <a:endParaRPr b="0" i="0" sz="1600" u="none" cap="none" strike="noStrike">
              <a:solidFill>
                <a:schemeClr val="dk1"/>
              </a:solidFill>
              <a:latin typeface="Nunito Sans"/>
              <a:ea typeface="Nunito Sans"/>
              <a:cs typeface="Nunito Sans"/>
              <a:sym typeface="Nunito Sans"/>
            </a:endParaRPr>
          </a:p>
        </p:txBody>
      </p:sp>
      <p:sp>
        <p:nvSpPr>
          <p:cNvPr id="75" name="Google Shape;75;p3"/>
          <p:cNvSpPr/>
          <p:nvPr/>
        </p:nvSpPr>
        <p:spPr>
          <a:xfrm>
            <a:off x="4614197" y="4672709"/>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Juntar a los que se parecen para entenderlos</a:t>
            </a:r>
            <a:endParaRPr b="0" i="0" sz="1200" u="none" cap="none" strike="noStrike">
              <a:solidFill>
                <a:schemeClr val="dk1"/>
              </a:solidFill>
              <a:latin typeface="Nunito Sans"/>
              <a:ea typeface="Nunito Sans"/>
              <a:cs typeface="Nunito Sans"/>
              <a:sym typeface="Nunito Sans"/>
            </a:endParaRPr>
          </a:p>
        </p:txBody>
      </p:sp>
      <p:sp>
        <p:nvSpPr>
          <p:cNvPr id="76" name="Google Shape;76;p3"/>
          <p:cNvSpPr/>
          <p:nvPr/>
        </p:nvSpPr>
        <p:spPr>
          <a:xfrm>
            <a:off x="7958639" y="3707825"/>
            <a:ext cx="3420614" cy="1620186"/>
          </a:xfrm>
          <a:prstGeom prst="roundRect">
            <a:avLst>
              <a:gd fmla="val 6271"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8187157" y="3936343"/>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6</a:t>
            </a:r>
            <a:endParaRPr b="0" i="0" sz="2200" u="none" cap="none" strike="noStrike">
              <a:solidFill>
                <a:schemeClr val="dk1"/>
              </a:solidFill>
              <a:latin typeface="Nunito Sans"/>
              <a:ea typeface="Nunito Sans"/>
              <a:cs typeface="Nunito Sans"/>
              <a:sym typeface="Nunito Sans"/>
            </a:endParaRPr>
          </a:p>
        </p:txBody>
      </p:sp>
      <p:sp>
        <p:nvSpPr>
          <p:cNvPr id="78" name="Google Shape;78;p3"/>
          <p:cNvSpPr/>
          <p:nvPr/>
        </p:nvSpPr>
        <p:spPr>
          <a:xfrm>
            <a:off x="8187157" y="437825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La campaña</a:t>
            </a:r>
            <a:endParaRPr b="0" i="0" sz="1600" u="none" cap="none" strike="noStrike">
              <a:solidFill>
                <a:schemeClr val="dk1"/>
              </a:solidFill>
              <a:latin typeface="Nunito Sans"/>
              <a:ea typeface="Nunito Sans"/>
              <a:cs typeface="Nunito Sans"/>
              <a:sym typeface="Nunito Sans"/>
            </a:endParaRPr>
          </a:p>
        </p:txBody>
      </p:sp>
      <p:sp>
        <p:nvSpPr>
          <p:cNvPr id="79" name="Google Shape;79;p3"/>
          <p:cNvSpPr/>
          <p:nvPr/>
        </p:nvSpPr>
        <p:spPr>
          <a:xfrm>
            <a:off x="8187157" y="4672709"/>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A quién contactar, qué esperar y un simulador</a:t>
            </a:r>
            <a:endParaRPr b="0" i="0" sz="1200" u="none" cap="none" strike="noStrike">
              <a:solidFill>
                <a:schemeClr val="dk1"/>
              </a:solidFill>
              <a:latin typeface="Nunito Sans"/>
              <a:ea typeface="Nunito Sans"/>
              <a:cs typeface="Nunito Sans"/>
              <a:sym typeface="Nunito Sans"/>
            </a:endParaRPr>
          </a:p>
        </p:txBody>
      </p:sp>
      <p:sp>
        <p:nvSpPr>
          <p:cNvPr id="80" name="Google Shape;80;p3"/>
          <p:cNvSpPr/>
          <p:nvPr/>
        </p:nvSpPr>
        <p:spPr>
          <a:xfrm>
            <a:off x="812720" y="6238278"/>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03</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85" name="Shape 85"/>
        <p:cNvGrpSpPr/>
        <p:nvPr/>
      </p:nvGrpSpPr>
      <p:grpSpPr>
        <a:xfrm>
          <a:off x="0" y="0"/>
          <a:ext cx="0" cy="0"/>
          <a:chOff x="0" y="0"/>
          <a:chExt cx="0" cy="0"/>
        </a:xfrm>
      </p:grpSpPr>
      <p:sp>
        <p:nvSpPr>
          <p:cNvPr id="86" name="Google Shape;86;p4"/>
          <p:cNvSpPr/>
          <p:nvPr/>
        </p:nvSpPr>
        <p:spPr>
          <a:xfrm>
            <a:off x="812720" y="812719"/>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DE DÓNDE PARTIMOS</a:t>
            </a:r>
            <a:endParaRPr b="0" i="0" sz="1200" u="none" cap="none" strike="noStrike">
              <a:solidFill>
                <a:schemeClr val="dk1"/>
              </a:solidFill>
              <a:latin typeface="Nunito Sans"/>
              <a:ea typeface="Nunito Sans"/>
              <a:cs typeface="Nunito Sans"/>
              <a:sym typeface="Nunito Sans"/>
            </a:endParaRPr>
          </a:p>
        </p:txBody>
      </p:sp>
      <p:sp>
        <p:nvSpPr>
          <p:cNvPr id="87" name="Google Shape;87;p4"/>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No hemos inventado nada: todo sale de nuestros propios datos</a:t>
            </a:r>
            <a:endParaRPr sz="3600"/>
          </a:p>
        </p:txBody>
      </p:sp>
      <p:cxnSp>
        <p:nvCxnSpPr>
          <p:cNvPr id="88" name="Google Shape;88;p4"/>
          <p:cNvCxnSpPr/>
          <p:nvPr/>
        </p:nvCxnSpPr>
        <p:spPr>
          <a:xfrm>
            <a:off x="812720" y="2552393"/>
            <a:ext cx="3318990" cy="0"/>
          </a:xfrm>
          <a:prstGeom prst="straightConnector1">
            <a:avLst/>
          </a:prstGeom>
          <a:noFill/>
          <a:ln cap="flat" cmpd="sng" w="25400">
            <a:solidFill>
              <a:srgbClr val="2F6E62"/>
            </a:solidFill>
            <a:prstDash val="solid"/>
            <a:round/>
            <a:headEnd len="sm" w="sm" type="none"/>
            <a:tailEnd len="sm" w="sm" type="none"/>
          </a:ln>
        </p:spPr>
      </p:cxnSp>
      <p:sp>
        <p:nvSpPr>
          <p:cNvPr id="89" name="Google Shape;89;p4"/>
          <p:cNvSpPr/>
          <p:nvPr/>
        </p:nvSpPr>
        <p:spPr>
          <a:xfrm>
            <a:off x="812720" y="2766037"/>
            <a:ext cx="3418560"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1F2A24"/>
              </a:buClr>
              <a:buSzPts val="6000"/>
              <a:buFont typeface="Fraunces"/>
              <a:buNone/>
            </a:pPr>
            <a:r>
              <a:rPr b="1" i="0" lang="en-US" sz="6000" u="none" cap="none" strike="noStrike">
                <a:solidFill>
                  <a:srgbClr val="1F2A24"/>
                </a:solidFill>
                <a:latin typeface="Fraunces"/>
                <a:ea typeface="Fraunces"/>
                <a:cs typeface="Fraunces"/>
                <a:sym typeface="Fraunces"/>
              </a:rPr>
              <a:t>456.000</a:t>
            </a:r>
            <a:endParaRPr b="0" i="0" sz="6000" u="none" cap="none" strike="noStrike">
              <a:solidFill>
                <a:schemeClr val="dk1"/>
              </a:solidFill>
              <a:latin typeface="Nunito Sans"/>
              <a:ea typeface="Nunito Sans"/>
              <a:cs typeface="Nunito Sans"/>
              <a:sym typeface="Nunito Sans"/>
            </a:endParaRPr>
          </a:p>
        </p:txBody>
      </p:sp>
      <p:sp>
        <p:nvSpPr>
          <p:cNvPr id="90" name="Google Shape;90;p4"/>
          <p:cNvSpPr/>
          <p:nvPr/>
        </p:nvSpPr>
        <p:spPr>
          <a:xfrm>
            <a:off x="812720" y="3578757"/>
            <a:ext cx="341856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clientes, mes a mes</a:t>
            </a:r>
            <a:endParaRPr b="0" i="0" sz="1600" u="none" cap="none" strike="noStrike">
              <a:solidFill>
                <a:schemeClr val="dk1"/>
              </a:solidFill>
              <a:latin typeface="Nunito Sans"/>
              <a:ea typeface="Nunito Sans"/>
              <a:cs typeface="Nunito Sans"/>
              <a:sym typeface="Nunito Sans"/>
            </a:endParaRPr>
          </a:p>
        </p:txBody>
      </p:sp>
      <p:cxnSp>
        <p:nvCxnSpPr>
          <p:cNvPr id="91" name="Google Shape;91;p4"/>
          <p:cNvCxnSpPr/>
          <p:nvPr/>
        </p:nvCxnSpPr>
        <p:spPr>
          <a:xfrm>
            <a:off x="4436491" y="2552393"/>
            <a:ext cx="3318990" cy="0"/>
          </a:xfrm>
          <a:prstGeom prst="straightConnector1">
            <a:avLst/>
          </a:prstGeom>
          <a:noFill/>
          <a:ln cap="flat" cmpd="sng" w="25400">
            <a:solidFill>
              <a:srgbClr val="2F6E62"/>
            </a:solidFill>
            <a:prstDash val="solid"/>
            <a:round/>
            <a:headEnd len="sm" w="sm" type="none"/>
            <a:tailEnd len="sm" w="sm" type="none"/>
          </a:ln>
        </p:spPr>
      </p:cxnSp>
      <p:sp>
        <p:nvSpPr>
          <p:cNvPr id="92" name="Google Shape;92;p4"/>
          <p:cNvSpPr/>
          <p:nvPr/>
        </p:nvSpPr>
        <p:spPr>
          <a:xfrm>
            <a:off x="4436491" y="2766037"/>
            <a:ext cx="3418560"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1F2A24"/>
              </a:buClr>
              <a:buSzPts val="6000"/>
              <a:buFont typeface="Fraunces"/>
              <a:buNone/>
            </a:pPr>
            <a:r>
              <a:rPr b="1" i="0" lang="en-US" sz="6000" u="none" cap="none" strike="noStrike">
                <a:solidFill>
                  <a:srgbClr val="1F2A24"/>
                </a:solidFill>
                <a:latin typeface="Fraunces"/>
                <a:ea typeface="Fraunces"/>
                <a:cs typeface="Fraunces"/>
                <a:sym typeface="Fraunces"/>
              </a:rPr>
              <a:t>17</a:t>
            </a:r>
            <a:endParaRPr b="0" i="0" sz="6000" u="none" cap="none" strike="noStrike">
              <a:solidFill>
                <a:schemeClr val="dk1"/>
              </a:solidFill>
              <a:latin typeface="Nunito Sans"/>
              <a:ea typeface="Nunito Sans"/>
              <a:cs typeface="Nunito Sans"/>
              <a:sym typeface="Nunito Sans"/>
            </a:endParaRPr>
          </a:p>
        </p:txBody>
      </p:sp>
      <p:sp>
        <p:nvSpPr>
          <p:cNvPr id="93" name="Google Shape;93;p4"/>
          <p:cNvSpPr/>
          <p:nvPr/>
        </p:nvSpPr>
        <p:spPr>
          <a:xfrm>
            <a:off x="4436491" y="3578757"/>
            <a:ext cx="3418560" cy="5942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meses de historia, de enero de 2018 a mayo de 2019</a:t>
            </a:r>
            <a:endParaRPr b="0" i="0" sz="1600" u="none" cap="none" strike="noStrike">
              <a:solidFill>
                <a:schemeClr val="dk1"/>
              </a:solidFill>
              <a:latin typeface="Nunito Sans"/>
              <a:ea typeface="Nunito Sans"/>
              <a:cs typeface="Nunito Sans"/>
              <a:sym typeface="Nunito Sans"/>
            </a:endParaRPr>
          </a:p>
        </p:txBody>
      </p:sp>
      <p:cxnSp>
        <p:nvCxnSpPr>
          <p:cNvPr id="94" name="Google Shape;94;p4"/>
          <p:cNvCxnSpPr/>
          <p:nvPr/>
        </p:nvCxnSpPr>
        <p:spPr>
          <a:xfrm>
            <a:off x="8060262" y="2552393"/>
            <a:ext cx="3318990" cy="0"/>
          </a:xfrm>
          <a:prstGeom prst="straightConnector1">
            <a:avLst/>
          </a:prstGeom>
          <a:noFill/>
          <a:ln cap="flat" cmpd="sng" w="25400">
            <a:solidFill>
              <a:srgbClr val="2F6E62"/>
            </a:solidFill>
            <a:prstDash val="solid"/>
            <a:round/>
            <a:headEnd len="sm" w="sm" type="none"/>
            <a:tailEnd len="sm" w="sm" type="none"/>
          </a:ln>
        </p:spPr>
      </p:cxnSp>
      <p:sp>
        <p:nvSpPr>
          <p:cNvPr id="95" name="Google Shape;95;p4"/>
          <p:cNvSpPr/>
          <p:nvPr/>
        </p:nvSpPr>
        <p:spPr>
          <a:xfrm>
            <a:off x="8060262" y="2766037"/>
            <a:ext cx="3418560"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1F2A24"/>
              </a:buClr>
              <a:buSzPts val="6000"/>
              <a:buFont typeface="Fraunces"/>
              <a:buNone/>
            </a:pPr>
            <a:r>
              <a:rPr b="1" i="0" lang="en-US" sz="6000" u="none" cap="none" strike="noStrike">
                <a:solidFill>
                  <a:srgbClr val="1F2A24"/>
                </a:solidFill>
                <a:latin typeface="Fraunces"/>
                <a:ea typeface="Fraunces"/>
                <a:cs typeface="Fraunces"/>
                <a:sym typeface="Fraunces"/>
              </a:rPr>
              <a:t>240.000</a:t>
            </a:r>
            <a:endParaRPr b="0" i="0" sz="6000" u="none" cap="none" strike="noStrike">
              <a:solidFill>
                <a:schemeClr val="dk1"/>
              </a:solidFill>
              <a:latin typeface="Nunito Sans"/>
              <a:ea typeface="Nunito Sans"/>
              <a:cs typeface="Nunito Sans"/>
              <a:sym typeface="Nunito Sans"/>
            </a:endParaRPr>
          </a:p>
        </p:txBody>
      </p:sp>
      <p:sp>
        <p:nvSpPr>
          <p:cNvPr id="96" name="Google Shape;96;p4"/>
          <p:cNvSpPr/>
          <p:nvPr/>
        </p:nvSpPr>
        <p:spPr>
          <a:xfrm>
            <a:off x="8060262" y="3578757"/>
            <a:ext cx="3418560" cy="5942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ventas, cada una con lo que nos dejó</a:t>
            </a:r>
            <a:endParaRPr b="0" i="0" sz="1600" u="none" cap="none" strike="noStrike">
              <a:solidFill>
                <a:schemeClr val="dk1"/>
              </a:solidFill>
              <a:latin typeface="Nunito Sans"/>
              <a:ea typeface="Nunito Sans"/>
              <a:cs typeface="Nunito Sans"/>
              <a:sym typeface="Nunito Sans"/>
            </a:endParaRPr>
          </a:p>
        </p:txBody>
      </p:sp>
      <p:sp>
        <p:nvSpPr>
          <p:cNvPr id="97" name="Google Shape;97;p4"/>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04 · Paso 1</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02" name="Shape 102"/>
        <p:cNvGrpSpPr/>
        <p:nvPr/>
      </p:nvGrpSpPr>
      <p:grpSpPr>
        <a:xfrm>
          <a:off x="0" y="0"/>
          <a:ext cx="0" cy="0"/>
          <a:chOff x="0" y="0"/>
          <a:chExt cx="0" cy="0"/>
        </a:xfrm>
      </p:grpSpPr>
      <p:sp>
        <p:nvSpPr>
          <p:cNvPr id="103" name="Google Shape;103;p5"/>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05</a:t>
            </a:r>
            <a:endParaRPr b="0" i="0" sz="1200" u="none" cap="none" strike="noStrike">
              <a:solidFill>
                <a:schemeClr val="dk1"/>
              </a:solidFill>
              <a:latin typeface="Nunito Sans"/>
              <a:ea typeface="Nunito Sans"/>
              <a:cs typeface="Nunito Sans"/>
              <a:sym typeface="Nunito Sans"/>
            </a:endParaRPr>
          </a:p>
        </p:txBody>
      </p:sp>
      <p:sp>
        <p:nvSpPr>
          <p:cNvPr id="104" name="Google Shape;104;p5"/>
          <p:cNvSpPr/>
          <p:nvPr/>
        </p:nvSpPr>
        <p:spPr>
          <a:xfrm>
            <a:off x="812720" y="812719"/>
            <a:ext cx="1088987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2 · PREPARAR LOS DATOS</a:t>
            </a:r>
            <a:endParaRPr b="0" i="0" sz="1200" u="none" cap="none" strike="noStrike">
              <a:solidFill>
                <a:schemeClr val="dk1"/>
              </a:solidFill>
              <a:latin typeface="Nunito Sans"/>
              <a:ea typeface="Nunito Sans"/>
              <a:cs typeface="Nunito Sans"/>
              <a:sym typeface="Nunito Sans"/>
            </a:endParaRPr>
          </a:p>
        </p:txBody>
      </p:sp>
      <p:sp>
        <p:nvSpPr>
          <p:cNvPr id="105" name="Google Shape;105;p5"/>
          <p:cNvSpPr txBox="1"/>
          <p:nvPr>
            <p:ph type="title"/>
          </p:nvPr>
        </p:nvSpPr>
        <p:spPr>
          <a:xfrm>
            <a:off x="812720" y="1127646"/>
            <a:ext cx="10889873"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Antes de analizar, preparar los datos</a:t>
            </a:r>
            <a:endParaRPr sz="3600"/>
          </a:p>
        </p:txBody>
      </p:sp>
      <p:graphicFrame>
        <p:nvGraphicFramePr>
          <p:cNvPr id="106" name="Google Shape;106;p5"/>
          <p:cNvGraphicFramePr/>
          <p:nvPr/>
        </p:nvGraphicFramePr>
        <p:xfrm>
          <a:off x="824313" y="1897525"/>
          <a:ext cx="3000000" cy="3000000"/>
        </p:xfrm>
        <a:graphic>
          <a:graphicData uri="http://schemas.openxmlformats.org/drawingml/2006/table">
            <a:tbl>
              <a:tblPr>
                <a:noFill/>
                <a:tableStyleId>{0A5A7EA0-4624-40F9-BD69-A792ACAA488B}</a:tableStyleId>
              </a:tblPr>
              <a:tblGrid>
                <a:gridCol w="4752500"/>
                <a:gridCol w="5808600"/>
              </a:tblGrid>
              <a:tr h="384950">
                <a:tc>
                  <a:txBody>
                    <a:bodyPr/>
                    <a:lstStyle/>
                    <a:p>
                      <a:pPr indent="0" lvl="0" marL="0" marR="0" rtl="0" algn="l">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Lo que encontramos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c>
                  <a:txBody>
                    <a:bodyPr/>
                    <a:lstStyle/>
                    <a:p>
                      <a:pPr indent="0" lvl="0" marL="0" marR="0" rtl="0" algn="l">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Cómo lo resolvimos</a:t>
                      </a:r>
                      <a:endParaRPr sz="1400" u="none" cap="none" strike="noStrike">
                        <a:latin typeface="Nunito Sans"/>
                        <a:ea typeface="Nunito Sans"/>
                        <a:cs typeface="Nunito Sans"/>
                        <a:sym typeface="Nunito Sans"/>
                      </a:endParaRPr>
                    </a:p>
                  </a:txBody>
                  <a:tcPr marT="62225" marB="62225" marR="62225" marL="62225">
                    <a:lnL cap="flat" cmpd="sng" w="12700">
                      <a:solidFill>
                        <a:srgbClr val="1D2520"/>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Clientes fallecidos en los datos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Los quitamos antes de cualquier análisis</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Productos sin rellenar</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7C6C1"/>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7C6C1"/>
                      </a:solidFill>
                      <a:prstDash val="solid"/>
                      <a:round/>
                      <a:headEnd len="sm" w="sm" type="none"/>
                      <a:tailEnd len="sm" w="sm" type="none"/>
                    </a:lnB>
                    <a:solidFill>
                      <a:srgbClr val="FAF8F2"/>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Vacío significa que no lo tiene</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7C6C1"/>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7C6C1"/>
                      </a:solidFill>
                      <a:prstDash val="solid"/>
                      <a:round/>
                      <a:headEnd len="sm" w="sm" type="none"/>
                      <a:tailEnd len="sm" w="sm" type="none"/>
                    </a:lnB>
                    <a:solidFill>
                      <a:srgbClr val="FAF8F2"/>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Región o canal vacíos algún mes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Lo copiamos de otro mes del mismo cliente</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633825">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Salario vacío en 1 de cada 4 filas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BEC2B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BB"/>
                      </a:solidFill>
                      <a:prstDash val="solid"/>
                      <a:round/>
                      <a:headEnd len="sm" w="sm" type="none"/>
                      <a:tailEnd len="sm" w="sm" type="none"/>
                    </a:lnB>
                    <a:solidFill>
                      <a:srgbClr val="EEF3EA"/>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El salario típico de clientes parecidos: misma provincia, segmento y edad</a:t>
                      </a:r>
                      <a:endParaRPr sz="1400" u="none" cap="none" strike="noStrike">
                        <a:latin typeface="Nunito Sans"/>
                        <a:ea typeface="Nunito Sans"/>
                        <a:cs typeface="Nunito Sans"/>
                        <a:sym typeface="Nunito Sans"/>
                      </a:endParaRPr>
                    </a:p>
                  </a:txBody>
                  <a:tcPr marT="62225" marB="62225" marR="62225" marL="62225">
                    <a:lnL cap="flat" cmpd="sng" w="12700">
                      <a:solidFill>
                        <a:srgbClr val="BEC2BB"/>
                      </a:solidFill>
                      <a:prstDash val="solid"/>
                      <a:round/>
                      <a:headEnd len="sm" w="sm" type="none"/>
                      <a:tailEnd len="sm" w="sm" type="none"/>
                    </a:lnL>
                    <a:lnR cap="flat" cmpd="sng" w="12700">
                      <a:solidFill>
                        <a:srgbClr val="BEC2B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BB"/>
                      </a:solidFill>
                      <a:prstDash val="solid"/>
                      <a:round/>
                      <a:headEnd len="sm" w="sm" type="none"/>
                      <a:tailEnd len="sm" w="sm" type="none"/>
                    </a:lnB>
                    <a:solidFill>
                      <a:srgbClr val="EEF3E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11" name="Shape 111"/>
        <p:cNvGrpSpPr/>
        <p:nvPr/>
      </p:nvGrpSpPr>
      <p:grpSpPr>
        <a:xfrm>
          <a:off x="0" y="0"/>
          <a:ext cx="0" cy="0"/>
          <a:chOff x="0" y="0"/>
          <a:chExt cx="0" cy="0"/>
        </a:xfrm>
      </p:grpSpPr>
      <p:sp>
        <p:nvSpPr>
          <p:cNvPr id="112" name="Google Shape;112;p6"/>
          <p:cNvSpPr/>
          <p:nvPr/>
        </p:nvSpPr>
        <p:spPr>
          <a:xfrm>
            <a:off x="1600169" y="1168313"/>
            <a:ext cx="899154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únicos, total de ventas, margen total, margen medio y evolución mensual de ventas y margen" id="113" name="Google Shape;113;p6"/>
          <p:cNvPicPr preferRelativeResize="0"/>
          <p:nvPr/>
        </p:nvPicPr>
        <p:blipFill rotWithShape="1">
          <a:blip r:embed="rId3">
            <a:alphaModFix/>
          </a:blip>
          <a:srcRect b="0" l="-43" r="-43" t="0"/>
          <a:stretch/>
        </p:blipFill>
        <p:spPr>
          <a:xfrm>
            <a:off x="1606519" y="1174663"/>
            <a:ext cx="8978843" cy="4876751"/>
          </a:xfrm>
          <a:prstGeom prst="roundRect">
            <a:avLst>
              <a:gd fmla="val 1432" name="adj"/>
            </a:avLst>
          </a:prstGeom>
          <a:noFill/>
          <a:ln>
            <a:noFill/>
          </a:ln>
        </p:spPr>
      </p:pic>
      <p:sp>
        <p:nvSpPr>
          <p:cNvPr id="114" name="Google Shape;114;p6"/>
          <p:cNvSpPr/>
          <p:nvPr/>
        </p:nvSpPr>
        <p:spPr>
          <a:xfrm>
            <a:off x="1603344" y="1171488"/>
            <a:ext cx="898519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609562" y="406316"/>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VENTAS · 1/4</a:t>
            </a:r>
            <a:endParaRPr b="0" i="0" sz="1200" u="none" cap="none" strike="noStrike">
              <a:solidFill>
                <a:schemeClr val="dk1"/>
              </a:solidFill>
              <a:latin typeface="Nunito Sans"/>
              <a:ea typeface="Nunito Sans"/>
              <a:cs typeface="Nunito Sans"/>
              <a:sym typeface="Nunito Sans"/>
            </a:endParaRPr>
          </a:p>
        </p:txBody>
      </p:sp>
      <p:sp>
        <p:nvSpPr>
          <p:cNvPr id="116" name="Google Shape;116;p6"/>
          <p:cNvSpPr txBox="1"/>
          <p:nvPr>
            <p:ph type="title"/>
          </p:nvPr>
        </p:nvSpPr>
        <p:spPr>
          <a:xfrm>
            <a:off x="609562" y="634922"/>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Un cuadro de mando para ver de un vistazo cómo vamos</a:t>
            </a:r>
            <a:endParaRPr sz="2600"/>
          </a:p>
        </p:txBody>
      </p:sp>
      <p:sp>
        <p:nvSpPr>
          <p:cNvPr id="117" name="Google Shape;117;p6"/>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06</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22" name="Shape 122"/>
        <p:cNvGrpSpPr/>
        <p:nvPr/>
      </p:nvGrpSpPr>
      <p:grpSpPr>
        <a:xfrm>
          <a:off x="0" y="0"/>
          <a:ext cx="0" cy="0"/>
          <a:chOff x="0" y="0"/>
          <a:chExt cx="0" cy="0"/>
        </a:xfrm>
      </p:grpSpPr>
      <p:sp>
        <p:nvSpPr>
          <p:cNvPr id="123" name="Google Shape;123;p7"/>
          <p:cNvSpPr/>
          <p:nvPr/>
        </p:nvSpPr>
        <p:spPr>
          <a:xfrm>
            <a:off x="1600169" y="1168313"/>
            <a:ext cx="899154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únicos, total de ventas, margen total, margen medio y evolución mensual de ventas y margen" id="124" name="Google Shape;124;p7"/>
          <p:cNvPicPr preferRelativeResize="0"/>
          <p:nvPr/>
        </p:nvPicPr>
        <p:blipFill rotWithShape="1">
          <a:blip r:embed="rId3">
            <a:alphaModFix/>
          </a:blip>
          <a:srcRect b="0" l="-43" r="-43" t="0"/>
          <a:stretch/>
        </p:blipFill>
        <p:spPr>
          <a:xfrm>
            <a:off x="1606519" y="1174663"/>
            <a:ext cx="8978843" cy="4876751"/>
          </a:xfrm>
          <a:prstGeom prst="roundRect">
            <a:avLst>
              <a:gd fmla="val 1432" name="adj"/>
            </a:avLst>
          </a:prstGeom>
          <a:noFill/>
          <a:ln>
            <a:noFill/>
          </a:ln>
        </p:spPr>
      </p:pic>
      <p:sp>
        <p:nvSpPr>
          <p:cNvPr id="125" name="Google Shape;125;p7"/>
          <p:cNvSpPr/>
          <p:nvPr/>
        </p:nvSpPr>
        <p:spPr>
          <a:xfrm>
            <a:off x="1603344" y="1171488"/>
            <a:ext cx="898519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1600169" y="1168313"/>
            <a:ext cx="8991543" cy="74288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1600169" y="2622479"/>
            <a:ext cx="8991543" cy="343528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1600169" y="1911291"/>
            <a:ext cx="507938" cy="71118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7156426" y="1911291"/>
            <a:ext cx="3435287" cy="71118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2089117" y="1892300"/>
            <a:ext cx="5086300" cy="749259"/>
          </a:xfrm>
          <a:prstGeom prst="roundRect">
            <a:avLst>
              <a:gd fmla="val 9323"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609562" y="406316"/>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VENTAS · 2/4</a:t>
            </a:r>
            <a:endParaRPr b="0" i="0" sz="1200" u="none" cap="none" strike="noStrike">
              <a:solidFill>
                <a:schemeClr val="dk1"/>
              </a:solidFill>
              <a:latin typeface="Nunito Sans"/>
              <a:ea typeface="Nunito Sans"/>
              <a:cs typeface="Nunito Sans"/>
              <a:sym typeface="Nunito Sans"/>
            </a:endParaRPr>
          </a:p>
        </p:txBody>
      </p:sp>
      <p:sp>
        <p:nvSpPr>
          <p:cNvPr id="132" name="Google Shape;132;p7"/>
          <p:cNvSpPr txBox="1"/>
          <p:nvPr>
            <p:ph type="title"/>
          </p:nvPr>
        </p:nvSpPr>
        <p:spPr>
          <a:xfrm>
            <a:off x="609562" y="634922"/>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240.773 ventas y 146 millones de margen en 17 meses</a:t>
            </a:r>
            <a:endParaRPr sz="2600"/>
          </a:p>
        </p:txBody>
      </p:sp>
      <p:sp>
        <p:nvSpPr>
          <p:cNvPr id="133" name="Google Shape;133;p7"/>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06</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38" name="Shape 138"/>
        <p:cNvGrpSpPr/>
        <p:nvPr/>
      </p:nvGrpSpPr>
      <p:grpSpPr>
        <a:xfrm>
          <a:off x="0" y="0"/>
          <a:ext cx="0" cy="0"/>
          <a:chOff x="0" y="0"/>
          <a:chExt cx="0" cy="0"/>
        </a:xfrm>
      </p:grpSpPr>
      <p:sp>
        <p:nvSpPr>
          <p:cNvPr id="139" name="Google Shape;139;p8"/>
          <p:cNvSpPr/>
          <p:nvPr/>
        </p:nvSpPr>
        <p:spPr>
          <a:xfrm>
            <a:off x="1600169" y="1168313"/>
            <a:ext cx="899154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únicos, total de ventas, margen total, margen medio y evolución mensual de ventas y margen" id="140" name="Google Shape;140;p8"/>
          <p:cNvPicPr preferRelativeResize="0"/>
          <p:nvPr/>
        </p:nvPicPr>
        <p:blipFill rotWithShape="1">
          <a:blip r:embed="rId3">
            <a:alphaModFix/>
          </a:blip>
          <a:srcRect b="0" l="-43" r="-43" t="0"/>
          <a:stretch/>
        </p:blipFill>
        <p:spPr>
          <a:xfrm>
            <a:off x="1606519" y="1174663"/>
            <a:ext cx="8978843" cy="4876751"/>
          </a:xfrm>
          <a:prstGeom prst="roundRect">
            <a:avLst>
              <a:gd fmla="val 1432" name="adj"/>
            </a:avLst>
          </a:prstGeom>
          <a:noFill/>
          <a:ln>
            <a:noFill/>
          </a:ln>
        </p:spPr>
      </p:pic>
      <p:sp>
        <p:nvSpPr>
          <p:cNvPr id="141" name="Google Shape;141;p8"/>
          <p:cNvSpPr/>
          <p:nvPr/>
        </p:nvSpPr>
        <p:spPr>
          <a:xfrm>
            <a:off x="1603344" y="1171488"/>
            <a:ext cx="898519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1600169" y="1168313"/>
            <a:ext cx="8991543" cy="2495492"/>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1600169" y="5891017"/>
            <a:ext cx="8991543" cy="257864"/>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1600169" y="3663897"/>
            <a:ext cx="2914578" cy="209542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7003990" y="3663897"/>
            <a:ext cx="3587723" cy="209542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4495756" y="3644816"/>
            <a:ext cx="2564632" cy="2227153"/>
          </a:xfrm>
          <a:prstGeom prst="roundRect">
            <a:avLst>
              <a:gd fmla="val 3136"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609562" y="406316"/>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VENTAS · 3/4</a:t>
            </a:r>
            <a:endParaRPr b="0" i="0" sz="1200" u="none" cap="none" strike="noStrike">
              <a:solidFill>
                <a:schemeClr val="dk1"/>
              </a:solidFill>
              <a:latin typeface="Nunito Sans"/>
              <a:ea typeface="Nunito Sans"/>
              <a:cs typeface="Nunito Sans"/>
              <a:sym typeface="Nunito Sans"/>
            </a:endParaRPr>
          </a:p>
        </p:txBody>
      </p:sp>
      <p:sp>
        <p:nvSpPr>
          <p:cNvPr id="148" name="Google Shape;148;p8"/>
          <p:cNvSpPr txBox="1"/>
          <p:nvPr>
            <p:ph type="title"/>
          </p:nvPr>
        </p:nvSpPr>
        <p:spPr>
          <a:xfrm>
            <a:off x="609562" y="634922"/>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Suben a finales de 2018 y luego se estabilizan</a:t>
            </a:r>
            <a:endParaRPr sz="2600"/>
          </a:p>
        </p:txBody>
      </p:sp>
      <p:sp>
        <p:nvSpPr>
          <p:cNvPr id="149" name="Google Shape;149;p8"/>
          <p:cNvSpPr/>
          <p:nvPr/>
        </p:nvSpPr>
        <p:spPr>
          <a:xfrm>
            <a:off x="609562" y="6390627"/>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06</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54" name="Shape 154"/>
        <p:cNvGrpSpPr/>
        <p:nvPr/>
      </p:nvGrpSpPr>
      <p:grpSpPr>
        <a:xfrm>
          <a:off x="0" y="0"/>
          <a:ext cx="0" cy="0"/>
          <a:chOff x="0" y="0"/>
          <a:chExt cx="0" cy="0"/>
        </a:xfrm>
      </p:grpSpPr>
      <p:sp>
        <p:nvSpPr>
          <p:cNvPr id="155" name="Google Shape;155;p9"/>
          <p:cNvSpPr/>
          <p:nvPr/>
        </p:nvSpPr>
        <p:spPr>
          <a:xfrm>
            <a:off x="1600169" y="1168313"/>
            <a:ext cx="899154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únicos, total de ventas, margen total, margen medio y evolución mensual de ventas y margen" id="156" name="Google Shape;156;p9"/>
          <p:cNvPicPr preferRelativeResize="0"/>
          <p:nvPr/>
        </p:nvPicPr>
        <p:blipFill rotWithShape="1">
          <a:blip r:embed="rId3">
            <a:alphaModFix/>
          </a:blip>
          <a:srcRect b="0" l="-43" r="-43" t="0"/>
          <a:stretch/>
        </p:blipFill>
        <p:spPr>
          <a:xfrm>
            <a:off x="1606519" y="1174663"/>
            <a:ext cx="8978843" cy="4876751"/>
          </a:xfrm>
          <a:prstGeom prst="roundRect">
            <a:avLst>
              <a:gd fmla="val 1432" name="adj"/>
            </a:avLst>
          </a:prstGeom>
          <a:noFill/>
          <a:ln>
            <a:noFill/>
          </a:ln>
        </p:spPr>
      </p:pic>
      <p:sp>
        <p:nvSpPr>
          <p:cNvPr id="157" name="Google Shape;157;p9"/>
          <p:cNvSpPr/>
          <p:nvPr/>
        </p:nvSpPr>
        <p:spPr>
          <a:xfrm>
            <a:off x="1603344" y="1171488"/>
            <a:ext cx="898519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1600169" y="1168313"/>
            <a:ext cx="8991543" cy="74288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1600169" y="2622476"/>
            <a:ext cx="8991543" cy="343528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1600169" y="1911294"/>
            <a:ext cx="5683241" cy="71118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8312148" y="1911294"/>
            <a:ext cx="2279564" cy="71118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7264329" y="1892300"/>
            <a:ext cx="1066721" cy="749259"/>
          </a:xfrm>
          <a:prstGeom prst="roundRect">
            <a:avLst>
              <a:gd fmla="val 9323"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VENTAS · 4/4</a:t>
            </a:r>
            <a:endParaRPr b="0" i="0" sz="1200" u="none" cap="none" strike="noStrike">
              <a:solidFill>
                <a:schemeClr val="dk1"/>
              </a:solidFill>
              <a:latin typeface="Nunito Sans"/>
              <a:ea typeface="Nunito Sans"/>
              <a:cs typeface="Nunito Sans"/>
              <a:sym typeface="Nunito Sans"/>
            </a:endParaRPr>
          </a:p>
        </p:txBody>
      </p:sp>
      <p:sp>
        <p:nvSpPr>
          <p:cNvPr id="164" name="Google Shape;164;p9"/>
          <p:cNvSpPr txBox="1"/>
          <p:nvPr>
            <p:ph type="title"/>
          </p:nvPr>
        </p:nvSpPr>
        <p:spPr>
          <a:xfrm>
            <a:off x="609562" y="634926"/>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De media, cada venta deja unos 600 €</a:t>
            </a:r>
            <a:endParaRPr sz="2600"/>
          </a:p>
        </p:txBody>
      </p:sp>
      <p:sp>
        <p:nvSpPr>
          <p:cNvPr id="165" name="Google Shape;165;p9"/>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06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24"/>
        </a:solidFill>
      </p:bgPr>
    </p:bg>
    <p:spTree>
      <p:nvGrpSpPr>
        <p:cNvPr id="170" name="Shape 170"/>
        <p:cNvGrpSpPr/>
        <p:nvPr/>
      </p:nvGrpSpPr>
      <p:grpSpPr>
        <a:xfrm>
          <a:off x="0" y="0"/>
          <a:ext cx="0" cy="0"/>
          <a:chOff x="0" y="0"/>
          <a:chExt cx="0" cy="0"/>
        </a:xfrm>
      </p:grpSpPr>
      <p:sp>
        <p:nvSpPr>
          <p:cNvPr id="171" name="Google Shape;171;p10"/>
          <p:cNvSpPr/>
          <p:nvPr/>
        </p:nvSpPr>
        <p:spPr>
          <a:xfrm>
            <a:off x="812720" y="812719"/>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pc="150" sz="1200" u="none" cap="none" strike="noStrike">
                <a:solidFill>
                  <a:srgbClr val="7CC242"/>
                </a:solidFill>
                <a:latin typeface="Nunito Sans"/>
                <a:ea typeface="Nunito Sans"/>
                <a:cs typeface="Nunito Sans"/>
                <a:sym typeface="Nunito Sans"/>
              </a:rPr>
              <a:t>EL HALLAZGO QUE LO CAMBIA TODO</a:t>
            </a:r>
            <a:endParaRPr b="0" i="0" sz="1200" u="none" cap="none" strike="noStrike">
              <a:solidFill>
                <a:schemeClr val="dk1"/>
              </a:solidFill>
              <a:latin typeface="Nunito Sans"/>
              <a:ea typeface="Nunito Sans"/>
              <a:cs typeface="Nunito Sans"/>
              <a:sym typeface="Nunito Sans"/>
            </a:endParaRPr>
          </a:p>
        </p:txBody>
      </p:sp>
      <p:sp>
        <p:nvSpPr>
          <p:cNvPr id="172" name="Google Shape;172;p10"/>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1E8"/>
              </a:buClr>
              <a:buSzPts val="3600"/>
              <a:buFont typeface="Fraunces"/>
              <a:buNone/>
            </a:pPr>
            <a:r>
              <a:rPr b="1" i="0" lang="en-US" sz="3600">
                <a:solidFill>
                  <a:srgbClr val="F4F1E8"/>
                </a:solidFill>
                <a:latin typeface="Fraunces"/>
                <a:ea typeface="Fraunces"/>
                <a:cs typeface="Fraunces"/>
                <a:sym typeface="Fraunces"/>
              </a:rPr>
              <a:t>El dinero no está donde están las ventas</a:t>
            </a:r>
            <a:endParaRPr sz="3600"/>
          </a:p>
        </p:txBody>
      </p:sp>
      <p:sp>
        <p:nvSpPr>
          <p:cNvPr id="173" name="Google Shape;173;p10"/>
          <p:cNvSpPr/>
          <p:nvPr/>
        </p:nvSpPr>
        <p:spPr>
          <a:xfrm>
            <a:off x="812720" y="2036825"/>
            <a:ext cx="2339741"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De cada 100 ventas…</a:t>
            </a:r>
            <a:endParaRPr b="0" i="0" sz="1600" u="none" cap="none" strike="noStrike">
              <a:solidFill>
                <a:schemeClr val="dk1"/>
              </a:solidFill>
              <a:latin typeface="Nunito Sans"/>
              <a:ea typeface="Nunito Sans"/>
              <a:cs typeface="Nunito Sans"/>
              <a:sym typeface="Nunito Sans"/>
            </a:endParaRPr>
          </a:p>
        </p:txBody>
      </p:sp>
      <p:sp>
        <p:nvSpPr>
          <p:cNvPr id="174" name="Google Shape;174;p10"/>
          <p:cNvSpPr/>
          <p:nvPr/>
        </p:nvSpPr>
        <p:spPr>
          <a:xfrm>
            <a:off x="8401509" y="2036825"/>
            <a:ext cx="2977744" cy="309802"/>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7CC242"/>
              </a:buClr>
              <a:buSzPts val="1600"/>
              <a:buFont typeface="Nunito Sans"/>
              <a:buNone/>
            </a:pPr>
            <a:r>
              <a:rPr b="1" i="0" lang="en-US" sz="1600" u="none" cap="none" strike="noStrike">
                <a:solidFill>
                  <a:srgbClr val="7CC242"/>
                </a:solidFill>
                <a:latin typeface="Nunito Sans"/>
                <a:ea typeface="Nunito Sans"/>
                <a:cs typeface="Nunito Sans"/>
                <a:sym typeface="Nunito Sans"/>
              </a:rPr>
              <a:t>8 son planes de pensiones</a:t>
            </a:r>
            <a:endParaRPr b="0" i="0" sz="1600" u="none" cap="none" strike="noStrike">
              <a:solidFill>
                <a:schemeClr val="dk1"/>
              </a:solidFill>
              <a:latin typeface="Nunito Sans"/>
              <a:ea typeface="Nunito Sans"/>
              <a:cs typeface="Nunito Sans"/>
              <a:sym typeface="Nunito Sans"/>
            </a:endParaRPr>
          </a:p>
        </p:txBody>
      </p:sp>
      <p:sp>
        <p:nvSpPr>
          <p:cNvPr id="175" name="Google Shape;175;p10"/>
          <p:cNvSpPr/>
          <p:nvPr/>
        </p:nvSpPr>
        <p:spPr>
          <a:xfrm>
            <a:off x="812720" y="2422761"/>
            <a:ext cx="844511" cy="457127"/>
          </a:xfrm>
          <a:custGeom>
            <a:rect b="b" l="l" r="r" t="t"/>
            <a:pathLst>
              <a:path extrusionOk="0" h="457127" w="844511">
                <a:moveTo>
                  <a:pt x="0" y="76200"/>
                </a:moveTo>
                <a:cubicBezTo>
                  <a:pt x="0" y="34116"/>
                  <a:pt x="34116" y="0"/>
                  <a:pt x="76200" y="0"/>
                </a:cubicBezTo>
                <a:lnTo>
                  <a:pt x="844511" y="0"/>
                </a:lnTo>
                <a:lnTo>
                  <a:pt x="844511" y="457127"/>
                </a:lnTo>
                <a:lnTo>
                  <a:pt x="76200" y="457127"/>
                </a:lnTo>
                <a:cubicBezTo>
                  <a:pt x="34116" y="457127"/>
                  <a:pt x="0" y="423011"/>
                  <a:pt x="0" y="380927"/>
                </a:cubicBezTo>
                <a:close/>
              </a:path>
            </a:pathLst>
          </a:custGeom>
          <a:solidFill>
            <a:srgbClr val="7CC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1657231" y="2422761"/>
            <a:ext cx="9722022" cy="457127"/>
          </a:xfrm>
          <a:custGeom>
            <a:rect b="b" l="l" r="r" t="t"/>
            <a:pathLst>
              <a:path extrusionOk="0" h="457127" w="9722022">
                <a:moveTo>
                  <a:pt x="9645822" y="0"/>
                </a:moveTo>
                <a:cubicBezTo>
                  <a:pt x="9666031" y="0"/>
                  <a:pt x="9685413" y="8028"/>
                  <a:pt x="9699704" y="22318"/>
                </a:cubicBezTo>
                <a:cubicBezTo>
                  <a:pt x="9713994" y="36609"/>
                  <a:pt x="9722022" y="55991"/>
                  <a:pt x="9722022" y="76200"/>
                </a:cubicBezTo>
                <a:lnTo>
                  <a:pt x="9722022" y="380927"/>
                </a:lnTo>
                <a:cubicBezTo>
                  <a:pt x="9722022" y="423011"/>
                  <a:pt x="9687906" y="457127"/>
                  <a:pt x="9645822" y="457127"/>
                </a:cubicBezTo>
                <a:lnTo>
                  <a:pt x="0" y="457127"/>
                </a:lnTo>
                <a:lnTo>
                  <a:pt x="0" y="0"/>
                </a:lnTo>
                <a:close/>
              </a:path>
            </a:pathLst>
          </a:custGeom>
          <a:solidFill>
            <a:srgbClr val="3D4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p:nvPr/>
        </p:nvSpPr>
        <p:spPr>
          <a:xfrm>
            <a:off x="812720" y="3184668"/>
            <a:ext cx="3136756"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De cada 100 € de beneficio…</a:t>
            </a:r>
            <a:endParaRPr b="0" i="0" sz="1600" u="none" cap="none" strike="noStrike">
              <a:solidFill>
                <a:schemeClr val="dk1"/>
              </a:solidFill>
              <a:latin typeface="Nunito Sans"/>
              <a:ea typeface="Nunito Sans"/>
              <a:cs typeface="Nunito Sans"/>
              <a:sym typeface="Nunito Sans"/>
            </a:endParaRPr>
          </a:p>
        </p:txBody>
      </p:sp>
      <p:sp>
        <p:nvSpPr>
          <p:cNvPr id="178" name="Google Shape;178;p10"/>
          <p:cNvSpPr/>
          <p:nvPr/>
        </p:nvSpPr>
        <p:spPr>
          <a:xfrm>
            <a:off x="7360706" y="3184668"/>
            <a:ext cx="4018547" cy="309802"/>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7CC242"/>
              </a:buClr>
              <a:buSzPts val="1600"/>
              <a:buFont typeface="Nunito Sans"/>
              <a:buNone/>
            </a:pPr>
            <a:r>
              <a:rPr b="1" i="0" lang="en-US" sz="1600" u="none" cap="none" strike="noStrike">
                <a:solidFill>
                  <a:srgbClr val="7CC242"/>
                </a:solidFill>
                <a:latin typeface="Nunito Sans"/>
                <a:ea typeface="Nunito Sans"/>
                <a:cs typeface="Nunito Sans"/>
                <a:sym typeface="Nunito Sans"/>
              </a:rPr>
              <a:t>79 € vienen de planes de pensiones</a:t>
            </a:r>
            <a:endParaRPr b="0" i="0" sz="1600" u="none" cap="none" strike="noStrike">
              <a:solidFill>
                <a:schemeClr val="dk1"/>
              </a:solidFill>
              <a:latin typeface="Nunito Sans"/>
              <a:ea typeface="Nunito Sans"/>
              <a:cs typeface="Nunito Sans"/>
              <a:sym typeface="Nunito Sans"/>
            </a:endParaRPr>
          </a:p>
        </p:txBody>
      </p:sp>
      <p:sp>
        <p:nvSpPr>
          <p:cNvPr id="179" name="Google Shape;179;p10"/>
          <p:cNvSpPr/>
          <p:nvPr/>
        </p:nvSpPr>
        <p:spPr>
          <a:xfrm>
            <a:off x="812720" y="3570604"/>
            <a:ext cx="8350190" cy="457127"/>
          </a:xfrm>
          <a:custGeom>
            <a:rect b="b" l="l" r="r" t="t"/>
            <a:pathLst>
              <a:path extrusionOk="0" h="457127" w="8350190">
                <a:moveTo>
                  <a:pt x="0" y="76200"/>
                </a:moveTo>
                <a:cubicBezTo>
                  <a:pt x="0" y="34116"/>
                  <a:pt x="34116" y="0"/>
                  <a:pt x="76200" y="0"/>
                </a:cubicBezTo>
                <a:lnTo>
                  <a:pt x="8350190" y="0"/>
                </a:lnTo>
                <a:lnTo>
                  <a:pt x="8350190" y="457127"/>
                </a:lnTo>
                <a:lnTo>
                  <a:pt x="76200" y="457127"/>
                </a:lnTo>
                <a:cubicBezTo>
                  <a:pt x="34116" y="457127"/>
                  <a:pt x="0" y="423011"/>
                  <a:pt x="0" y="380927"/>
                </a:cubicBezTo>
                <a:close/>
              </a:path>
            </a:pathLst>
          </a:custGeom>
          <a:solidFill>
            <a:srgbClr val="7CC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9162910" y="3570604"/>
            <a:ext cx="2216344" cy="457127"/>
          </a:xfrm>
          <a:custGeom>
            <a:rect b="b" l="l" r="r" t="t"/>
            <a:pathLst>
              <a:path extrusionOk="0" h="457127" w="2216344">
                <a:moveTo>
                  <a:pt x="2140144" y="0"/>
                </a:moveTo>
                <a:cubicBezTo>
                  <a:pt x="2160353" y="0"/>
                  <a:pt x="2179735" y="8028"/>
                  <a:pt x="2194026" y="22318"/>
                </a:cubicBezTo>
                <a:cubicBezTo>
                  <a:pt x="2208316" y="36609"/>
                  <a:pt x="2216344" y="55991"/>
                  <a:pt x="2216344" y="76200"/>
                </a:cubicBezTo>
                <a:lnTo>
                  <a:pt x="2216344" y="380927"/>
                </a:lnTo>
                <a:cubicBezTo>
                  <a:pt x="2216344" y="423011"/>
                  <a:pt x="2182228" y="457127"/>
                  <a:pt x="2140144" y="457127"/>
                </a:cubicBezTo>
                <a:lnTo>
                  <a:pt x="0" y="457127"/>
                </a:lnTo>
                <a:lnTo>
                  <a:pt x="0" y="0"/>
                </a:lnTo>
                <a:close/>
              </a:path>
            </a:pathLst>
          </a:custGeom>
          <a:solidFill>
            <a:srgbClr val="3D4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
          <p:cNvSpPr/>
          <p:nvPr/>
        </p:nvSpPr>
        <p:spPr>
          <a:xfrm>
            <a:off x="812720" y="4434043"/>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Cada plan de pensiones deja </a:t>
            </a:r>
            <a:r>
              <a:rPr b="1" i="0" lang="en-US" sz="1600" u="none" cap="none" strike="noStrike">
                <a:solidFill>
                  <a:srgbClr val="C9D4CC"/>
                </a:solidFill>
                <a:latin typeface="Nunito Sans"/>
                <a:ea typeface="Nunito Sans"/>
                <a:cs typeface="Nunito Sans"/>
                <a:sym typeface="Nunito Sans"/>
              </a:rPr>
              <a:t>casi 6.000 €</a:t>
            </a:r>
            <a:r>
              <a:rPr b="0" i="0" lang="en-US" sz="1600" u="none" cap="none" strike="noStrike">
                <a:solidFill>
                  <a:srgbClr val="C9D4CC"/>
                </a:solidFill>
                <a:latin typeface="Nunito Sans"/>
                <a:ea typeface="Nunito Sans"/>
                <a:cs typeface="Nunito Sans"/>
                <a:sym typeface="Nunito Sans"/>
              </a:rPr>
              <a:t>. La cuenta easyMoney, la más vendida, deja </a:t>
            </a:r>
            <a:r>
              <a:rPr b="1" i="0" lang="en-US" sz="1600" u="none" cap="none" strike="noStrike">
                <a:solidFill>
                  <a:srgbClr val="C9D4CC"/>
                </a:solidFill>
                <a:latin typeface="Nunito Sans"/>
                <a:ea typeface="Nunito Sans"/>
                <a:cs typeface="Nunito Sans"/>
                <a:sym typeface="Nunito Sans"/>
              </a:rPr>
              <a:t>70 €</a:t>
            </a:r>
            <a:r>
              <a:rPr b="0" i="0" lang="en-US" sz="1600" u="none" cap="none" strike="noStrike">
                <a:solidFill>
                  <a:srgbClr val="C9D4CC"/>
                </a:solidFill>
                <a:latin typeface="Nunito Sans"/>
                <a:ea typeface="Nunito Sans"/>
                <a:cs typeface="Nunito Sans"/>
                <a:sym typeface="Nunito Sans"/>
              </a:rPr>
              <a:t>.</a:t>
            </a:r>
            <a:endParaRPr b="0" i="0" sz="1600" u="none" cap="none" strike="noStrike">
              <a:solidFill>
                <a:schemeClr val="dk1"/>
              </a:solidFill>
              <a:latin typeface="Nunito Sans"/>
              <a:ea typeface="Nunito Sans"/>
              <a:cs typeface="Nunito Sans"/>
              <a:sym typeface="Nunito Sans"/>
            </a:endParaRPr>
          </a:p>
        </p:txBody>
      </p:sp>
      <p:sp>
        <p:nvSpPr>
          <p:cNvPr id="182" name="Google Shape;182;p10"/>
          <p:cNvSpPr/>
          <p:nvPr/>
        </p:nvSpPr>
        <p:spPr>
          <a:xfrm>
            <a:off x="812720" y="6238273"/>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9A92"/>
              </a:buClr>
              <a:buSzPts val="1200"/>
              <a:buFont typeface="Nunito Sans"/>
              <a:buNone/>
            </a:pPr>
            <a:r>
              <a:rPr b="0" i="0" lang="en-US" sz="1200" u="none" cap="none" strike="noStrike">
                <a:solidFill>
                  <a:srgbClr val="8E9A92"/>
                </a:solidFill>
                <a:latin typeface="Nunito Sans"/>
                <a:ea typeface="Nunito Sans"/>
                <a:cs typeface="Nunito Sans"/>
                <a:sym typeface="Nunito Sans"/>
              </a:rPr>
              <a:t>easyMoney · 07 · Ventas de enero 2018 a mayo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87" name="Shape 187"/>
        <p:cNvGrpSpPr/>
        <p:nvPr/>
      </p:nvGrpSpPr>
      <p:grpSpPr>
        <a:xfrm>
          <a:off x="0" y="0"/>
          <a:ext cx="0" cy="0"/>
          <a:chOff x="0" y="0"/>
          <a:chExt cx="0" cy="0"/>
        </a:xfrm>
      </p:grpSpPr>
      <p:sp>
        <p:nvSpPr>
          <p:cNvPr id="188" name="Google Shape;188;p11"/>
          <p:cNvSpPr/>
          <p:nvPr/>
        </p:nvSpPr>
        <p:spPr>
          <a:xfrm>
            <a:off x="1498545" y="1168313"/>
            <a:ext cx="9188361"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por segmento, por sexo y por rango de edad" id="189" name="Google Shape;189;p11"/>
          <p:cNvPicPr preferRelativeResize="0"/>
          <p:nvPr/>
        </p:nvPicPr>
        <p:blipFill rotWithShape="1">
          <a:blip r:embed="rId3">
            <a:alphaModFix/>
          </a:blip>
          <a:srcRect b="0" l="-46" r="-46" t="0"/>
          <a:stretch/>
        </p:blipFill>
        <p:spPr>
          <a:xfrm>
            <a:off x="1504895" y="1174663"/>
            <a:ext cx="9175661" cy="4876751"/>
          </a:xfrm>
          <a:prstGeom prst="roundRect">
            <a:avLst>
              <a:gd fmla="val 1432" name="adj"/>
            </a:avLst>
          </a:prstGeom>
          <a:noFill/>
          <a:ln>
            <a:noFill/>
          </a:ln>
        </p:spPr>
      </p:pic>
      <p:sp>
        <p:nvSpPr>
          <p:cNvPr id="190" name="Google Shape;190;p11"/>
          <p:cNvSpPr/>
          <p:nvPr/>
        </p:nvSpPr>
        <p:spPr>
          <a:xfrm>
            <a:off x="1501720" y="1171488"/>
            <a:ext cx="9182011"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1/5</a:t>
            </a:r>
            <a:endParaRPr b="0" i="0" sz="1200" u="none" cap="none" strike="noStrike">
              <a:solidFill>
                <a:schemeClr val="dk1"/>
              </a:solidFill>
              <a:latin typeface="Nunito Sans"/>
              <a:ea typeface="Nunito Sans"/>
              <a:cs typeface="Nunito Sans"/>
              <a:sym typeface="Nunito Sans"/>
            </a:endParaRPr>
          </a:p>
        </p:txBody>
      </p:sp>
      <p:sp>
        <p:nvSpPr>
          <p:cNvPr id="192" name="Google Shape;192;p11"/>
          <p:cNvSpPr txBox="1"/>
          <p:nvPr>
            <p:ph type="title"/>
          </p:nvPr>
        </p:nvSpPr>
        <p:spPr>
          <a:xfrm>
            <a:off x="609562" y="634926"/>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¿Quiénes son nuestros clientes?</a:t>
            </a:r>
            <a:endParaRPr sz="2600"/>
          </a:p>
        </p:txBody>
      </p:sp>
      <p:sp>
        <p:nvSpPr>
          <p:cNvPr id="193" name="Google Shape;193;p11"/>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98" name="Shape 198"/>
        <p:cNvGrpSpPr/>
        <p:nvPr/>
      </p:nvGrpSpPr>
      <p:grpSpPr>
        <a:xfrm>
          <a:off x="0" y="0"/>
          <a:ext cx="0" cy="0"/>
          <a:chOff x="0" y="0"/>
          <a:chExt cx="0" cy="0"/>
        </a:xfrm>
      </p:grpSpPr>
      <p:sp>
        <p:nvSpPr>
          <p:cNvPr id="199" name="Google Shape;199;p12"/>
          <p:cNvSpPr/>
          <p:nvPr/>
        </p:nvSpPr>
        <p:spPr>
          <a:xfrm>
            <a:off x="1498545" y="1168313"/>
            <a:ext cx="9188361"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por segmento, por sexo y por rango de edad" id="200" name="Google Shape;200;p12"/>
          <p:cNvPicPr preferRelativeResize="0"/>
          <p:nvPr/>
        </p:nvPicPr>
        <p:blipFill rotWithShape="1">
          <a:blip r:embed="rId3">
            <a:alphaModFix/>
          </a:blip>
          <a:srcRect b="0" l="-46" r="-46" t="0"/>
          <a:stretch/>
        </p:blipFill>
        <p:spPr>
          <a:xfrm>
            <a:off x="1504895" y="1174663"/>
            <a:ext cx="9175661" cy="4876751"/>
          </a:xfrm>
          <a:prstGeom prst="roundRect">
            <a:avLst>
              <a:gd fmla="val 1432" name="adj"/>
            </a:avLst>
          </a:prstGeom>
          <a:noFill/>
          <a:ln>
            <a:noFill/>
          </a:ln>
        </p:spPr>
      </p:pic>
      <p:sp>
        <p:nvSpPr>
          <p:cNvPr id="201" name="Google Shape;201;p12"/>
          <p:cNvSpPr/>
          <p:nvPr/>
        </p:nvSpPr>
        <p:spPr>
          <a:xfrm>
            <a:off x="1501720" y="1171488"/>
            <a:ext cx="9182011"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2"/>
          <p:cNvSpPr/>
          <p:nvPr/>
        </p:nvSpPr>
        <p:spPr>
          <a:xfrm>
            <a:off x="1498545" y="1168313"/>
            <a:ext cx="9188361" cy="81272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
          <p:cNvSpPr/>
          <p:nvPr/>
        </p:nvSpPr>
        <p:spPr>
          <a:xfrm>
            <a:off x="1498545" y="4444913"/>
            <a:ext cx="9188361" cy="161285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
          <p:cNvSpPr/>
          <p:nvPr/>
        </p:nvSpPr>
        <p:spPr>
          <a:xfrm>
            <a:off x="1498545" y="1981119"/>
            <a:ext cx="171366" cy="2463791"/>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5683241" y="1981119"/>
            <a:ext cx="5003755" cy="2463791"/>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1650920" y="1962131"/>
            <a:ext cx="4051221" cy="2501864"/>
          </a:xfrm>
          <a:prstGeom prst="roundRect">
            <a:avLst>
              <a:gd fmla="val 2792"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2/5</a:t>
            </a:r>
            <a:endParaRPr b="0" i="0" sz="1200" u="none" cap="none" strike="noStrike">
              <a:solidFill>
                <a:schemeClr val="dk1"/>
              </a:solidFill>
              <a:latin typeface="Nunito Sans"/>
              <a:ea typeface="Nunito Sans"/>
              <a:cs typeface="Nunito Sans"/>
              <a:sym typeface="Nunito Sans"/>
            </a:endParaRPr>
          </a:p>
        </p:txBody>
      </p:sp>
      <p:sp>
        <p:nvSpPr>
          <p:cNvPr id="208" name="Google Shape;208;p12"/>
          <p:cNvSpPr txBox="1"/>
          <p:nvPr>
            <p:ph type="title"/>
          </p:nvPr>
        </p:nvSpPr>
        <p:spPr>
          <a:xfrm>
            <a:off x="609562" y="634919"/>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Uno de cada dos es universitario</a:t>
            </a:r>
            <a:endParaRPr sz="2600"/>
          </a:p>
        </p:txBody>
      </p:sp>
      <p:sp>
        <p:nvSpPr>
          <p:cNvPr id="209" name="Google Shape;209;p12"/>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14" name="Shape 214"/>
        <p:cNvGrpSpPr/>
        <p:nvPr/>
      </p:nvGrpSpPr>
      <p:grpSpPr>
        <a:xfrm>
          <a:off x="0" y="0"/>
          <a:ext cx="0" cy="0"/>
          <a:chOff x="0" y="0"/>
          <a:chExt cx="0" cy="0"/>
        </a:xfrm>
      </p:grpSpPr>
      <p:sp>
        <p:nvSpPr>
          <p:cNvPr id="215" name="Google Shape;215;p13"/>
          <p:cNvSpPr/>
          <p:nvPr/>
        </p:nvSpPr>
        <p:spPr>
          <a:xfrm>
            <a:off x="1498545" y="1168313"/>
            <a:ext cx="9188361"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por segmento, por sexo y por rango de edad" id="216" name="Google Shape;216;p13"/>
          <p:cNvPicPr preferRelativeResize="0"/>
          <p:nvPr/>
        </p:nvPicPr>
        <p:blipFill rotWithShape="1">
          <a:blip r:embed="rId3">
            <a:alphaModFix/>
          </a:blip>
          <a:srcRect b="0" l="-46" r="-46" t="0"/>
          <a:stretch/>
        </p:blipFill>
        <p:spPr>
          <a:xfrm>
            <a:off x="1504895" y="1174663"/>
            <a:ext cx="9175661" cy="4876751"/>
          </a:xfrm>
          <a:prstGeom prst="roundRect">
            <a:avLst>
              <a:gd fmla="val 1432" name="adj"/>
            </a:avLst>
          </a:prstGeom>
          <a:noFill/>
          <a:ln>
            <a:noFill/>
          </a:ln>
        </p:spPr>
      </p:pic>
      <p:sp>
        <p:nvSpPr>
          <p:cNvPr id="217" name="Google Shape;217;p13"/>
          <p:cNvSpPr/>
          <p:nvPr/>
        </p:nvSpPr>
        <p:spPr>
          <a:xfrm>
            <a:off x="1501720" y="1171488"/>
            <a:ext cx="9182011"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
          <p:cNvSpPr/>
          <p:nvPr/>
        </p:nvSpPr>
        <p:spPr>
          <a:xfrm>
            <a:off x="1498545" y="1168313"/>
            <a:ext cx="9188361" cy="177162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
          <p:cNvSpPr/>
          <p:nvPr/>
        </p:nvSpPr>
        <p:spPr>
          <a:xfrm>
            <a:off x="1498545" y="5835588"/>
            <a:ext cx="9188361" cy="222178"/>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p:nvPr/>
        </p:nvSpPr>
        <p:spPr>
          <a:xfrm>
            <a:off x="1498545" y="2940031"/>
            <a:ext cx="5511784" cy="289555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7899313" y="2940031"/>
            <a:ext cx="2787593" cy="289555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3"/>
          <p:cNvSpPr/>
          <p:nvPr/>
        </p:nvSpPr>
        <p:spPr>
          <a:xfrm>
            <a:off x="6991339" y="2920950"/>
            <a:ext cx="927056" cy="2986435"/>
          </a:xfrm>
          <a:prstGeom prst="roundRect">
            <a:avLst>
              <a:gd fmla="val 7535"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3"/>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3/5</a:t>
            </a:r>
            <a:endParaRPr b="0" i="0" sz="1200" u="none" cap="none" strike="noStrike">
              <a:solidFill>
                <a:schemeClr val="dk1"/>
              </a:solidFill>
              <a:latin typeface="Nunito Sans"/>
              <a:ea typeface="Nunito Sans"/>
              <a:cs typeface="Nunito Sans"/>
              <a:sym typeface="Nunito Sans"/>
            </a:endParaRPr>
          </a:p>
        </p:txBody>
      </p:sp>
      <p:sp>
        <p:nvSpPr>
          <p:cNvPr id="224" name="Google Shape;224;p13"/>
          <p:cNvSpPr txBox="1"/>
          <p:nvPr>
            <p:ph type="title"/>
          </p:nvPr>
        </p:nvSpPr>
        <p:spPr>
          <a:xfrm>
            <a:off x="609562" y="634926"/>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La mayoría tiene entre 20 y 30 años</a:t>
            </a:r>
            <a:endParaRPr sz="2600"/>
          </a:p>
        </p:txBody>
      </p:sp>
      <p:sp>
        <p:nvSpPr>
          <p:cNvPr id="225" name="Google Shape;225;p13"/>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30" name="Shape 230"/>
        <p:cNvGrpSpPr/>
        <p:nvPr/>
      </p:nvGrpSpPr>
      <p:grpSpPr>
        <a:xfrm>
          <a:off x="0" y="0"/>
          <a:ext cx="0" cy="0"/>
          <a:chOff x="0" y="0"/>
          <a:chExt cx="0" cy="0"/>
        </a:xfrm>
      </p:grpSpPr>
      <p:sp>
        <p:nvSpPr>
          <p:cNvPr id="231" name="Google Shape;231;p14"/>
          <p:cNvSpPr/>
          <p:nvPr/>
        </p:nvSpPr>
        <p:spPr>
          <a:xfrm>
            <a:off x="812810" y="1168313"/>
            <a:ext cx="9899547" cy="4876862"/>
          </a:xfrm>
          <a:prstGeom prst="roundRect">
            <a:avLst>
              <a:gd fmla="val 156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qué productos tiene cada tipo de cliente" id="232" name="Google Shape;232;p14"/>
          <p:cNvPicPr preferRelativeResize="0"/>
          <p:nvPr/>
        </p:nvPicPr>
        <p:blipFill rotWithShape="1">
          <a:blip r:embed="rId3">
            <a:alphaModFix/>
          </a:blip>
          <a:srcRect b="0" l="0" r="0" t="0"/>
          <a:stretch/>
        </p:blipFill>
        <p:spPr>
          <a:xfrm>
            <a:off x="1173233" y="1174663"/>
            <a:ext cx="9178700" cy="4864162"/>
          </a:xfrm>
          <a:prstGeom prst="rect">
            <a:avLst/>
          </a:prstGeom>
          <a:noFill/>
          <a:ln>
            <a:noFill/>
          </a:ln>
        </p:spPr>
      </p:pic>
      <p:sp>
        <p:nvSpPr>
          <p:cNvPr id="233" name="Google Shape;233;p14"/>
          <p:cNvSpPr/>
          <p:nvPr/>
        </p:nvSpPr>
        <p:spPr>
          <a:xfrm>
            <a:off x="815985" y="1171488"/>
            <a:ext cx="9893197" cy="4870512"/>
          </a:xfrm>
          <a:prstGeom prst="roundRect">
            <a:avLst>
              <a:gd fmla="val 1499"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4"/>
          <p:cNvSpPr/>
          <p:nvPr/>
        </p:nvSpPr>
        <p:spPr>
          <a:xfrm>
            <a:off x="1485865" y="4698975"/>
            <a:ext cx="12680" cy="323802"/>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4/5</a:t>
            </a:r>
            <a:endParaRPr b="0" i="0" sz="1200" u="none" cap="none" strike="noStrike">
              <a:solidFill>
                <a:schemeClr val="dk1"/>
              </a:solidFill>
              <a:latin typeface="Nunito Sans"/>
              <a:ea typeface="Nunito Sans"/>
              <a:cs typeface="Nunito Sans"/>
              <a:sym typeface="Nunito Sans"/>
            </a:endParaRPr>
          </a:p>
        </p:txBody>
      </p:sp>
      <p:sp>
        <p:nvSpPr>
          <p:cNvPr id="236" name="Google Shape;236;p14"/>
          <p:cNvSpPr txBox="1"/>
          <p:nvPr>
            <p:ph type="title"/>
          </p:nvPr>
        </p:nvSpPr>
        <p:spPr>
          <a:xfrm>
            <a:off x="609562" y="634919"/>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Los particulares, el doble de planes de pensiones</a:t>
            </a:r>
            <a:endParaRPr sz="2600"/>
          </a:p>
        </p:txBody>
      </p:sp>
      <p:sp>
        <p:nvSpPr>
          <p:cNvPr id="237" name="Google Shape;237;p14"/>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 Fuente: cuadro de mando Power BI</a:t>
            </a:r>
            <a:endParaRPr b="0" i="0" sz="1200" u="none" cap="none" strike="noStrike">
              <a:solidFill>
                <a:schemeClr val="dk1"/>
              </a:solidFill>
              <a:latin typeface="Nunito Sans"/>
              <a:ea typeface="Nunito Sans"/>
              <a:cs typeface="Nunito Sans"/>
              <a:sym typeface="Nunito Sans"/>
            </a:endParaRPr>
          </a:p>
        </p:txBody>
      </p:sp>
      <p:pic>
        <p:nvPicPr>
          <p:cNvPr descr="Captura de pantalla 2026-10-07 a las 19.42.42.png" id="238" name="Google Shape;238;p14"/>
          <p:cNvPicPr preferRelativeResize="0"/>
          <p:nvPr/>
        </p:nvPicPr>
        <p:blipFill rotWithShape="1">
          <a:blip r:embed="rId4">
            <a:alphaModFix/>
          </a:blip>
          <a:srcRect b="17066" l="0" r="0" t="17066"/>
          <a:stretch/>
        </p:blipFill>
        <p:spPr>
          <a:xfrm>
            <a:off x="1056364" y="1299369"/>
            <a:ext cx="6128231" cy="3549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43" name="Shape 243"/>
        <p:cNvGrpSpPr/>
        <p:nvPr/>
      </p:nvGrpSpPr>
      <p:grpSpPr>
        <a:xfrm>
          <a:off x="0" y="0"/>
          <a:ext cx="0" cy="0"/>
          <a:chOff x="0" y="0"/>
          <a:chExt cx="0" cy="0"/>
        </a:xfrm>
      </p:grpSpPr>
      <p:sp>
        <p:nvSpPr>
          <p:cNvPr id="244" name="Google Shape;244;p15"/>
          <p:cNvSpPr/>
          <p:nvPr/>
        </p:nvSpPr>
        <p:spPr>
          <a:xfrm>
            <a:off x="1485865" y="1168313"/>
            <a:ext cx="922649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qué productos tiene cada tipo de cliente" id="245" name="Google Shape;245;p15"/>
          <p:cNvPicPr preferRelativeResize="0"/>
          <p:nvPr/>
        </p:nvPicPr>
        <p:blipFill rotWithShape="1">
          <a:blip r:embed="rId3">
            <a:alphaModFix/>
          </a:blip>
          <a:srcRect b="0" l="-62" r="-62" t="0"/>
          <a:stretch/>
        </p:blipFill>
        <p:spPr>
          <a:xfrm>
            <a:off x="1492215" y="1174663"/>
            <a:ext cx="9213793" cy="4876751"/>
          </a:xfrm>
          <a:prstGeom prst="roundRect">
            <a:avLst>
              <a:gd fmla="val 1432" name="adj"/>
            </a:avLst>
          </a:prstGeom>
          <a:noFill/>
          <a:ln>
            <a:noFill/>
          </a:ln>
        </p:spPr>
      </p:pic>
      <p:sp>
        <p:nvSpPr>
          <p:cNvPr id="246" name="Google Shape;246;p15"/>
          <p:cNvSpPr/>
          <p:nvPr/>
        </p:nvSpPr>
        <p:spPr>
          <a:xfrm>
            <a:off x="1489040" y="1171488"/>
            <a:ext cx="922014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1498591" y="1168406"/>
            <a:ext cx="9226493" cy="3530571"/>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1485865" y="5022776"/>
            <a:ext cx="9226493" cy="1034988"/>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1485865" y="4698975"/>
            <a:ext cx="12680" cy="323802"/>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8007277" y="4698975"/>
            <a:ext cx="2705080" cy="323802"/>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1479464" y="4679894"/>
            <a:ext cx="6546804" cy="361874"/>
          </a:xfrm>
          <a:prstGeom prst="roundRect">
            <a:avLst>
              <a:gd fmla="val 19302"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4/5</a:t>
            </a:r>
            <a:endParaRPr b="0" i="0" sz="1200" u="none" cap="none" strike="noStrike">
              <a:solidFill>
                <a:schemeClr val="dk1"/>
              </a:solidFill>
              <a:latin typeface="Nunito Sans"/>
              <a:ea typeface="Nunito Sans"/>
              <a:cs typeface="Nunito Sans"/>
              <a:sym typeface="Nunito Sans"/>
            </a:endParaRPr>
          </a:p>
        </p:txBody>
      </p:sp>
      <p:sp>
        <p:nvSpPr>
          <p:cNvPr id="253" name="Google Shape;253;p15"/>
          <p:cNvSpPr txBox="1"/>
          <p:nvPr>
            <p:ph type="title"/>
          </p:nvPr>
        </p:nvSpPr>
        <p:spPr>
          <a:xfrm>
            <a:off x="609562" y="634926"/>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Los particulares, el doble de planes de pensiones</a:t>
            </a:r>
            <a:endParaRPr sz="2600"/>
          </a:p>
        </p:txBody>
      </p:sp>
      <p:sp>
        <p:nvSpPr>
          <p:cNvPr id="254" name="Google Shape;254;p15"/>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59" name="Shape 259"/>
        <p:cNvGrpSpPr/>
        <p:nvPr/>
      </p:nvGrpSpPr>
      <p:grpSpPr>
        <a:xfrm>
          <a:off x="0" y="0"/>
          <a:ext cx="0" cy="0"/>
          <a:chOff x="0" y="0"/>
          <a:chExt cx="0" cy="0"/>
        </a:xfrm>
      </p:grpSpPr>
      <p:sp>
        <p:nvSpPr>
          <p:cNvPr id="260" name="Google Shape;260;p16"/>
          <p:cNvSpPr/>
          <p:nvPr/>
        </p:nvSpPr>
        <p:spPr>
          <a:xfrm>
            <a:off x="1714473" y="1168313"/>
            <a:ext cx="8762935"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mapa de ventas por provincia" id="261" name="Google Shape;261;p16"/>
          <p:cNvPicPr preferRelativeResize="0"/>
          <p:nvPr/>
        </p:nvPicPr>
        <p:blipFill rotWithShape="1">
          <a:blip r:embed="rId3">
            <a:alphaModFix/>
          </a:blip>
          <a:srcRect b="0" l="-73" r="-73" t="0"/>
          <a:stretch/>
        </p:blipFill>
        <p:spPr>
          <a:xfrm>
            <a:off x="1720823" y="1174663"/>
            <a:ext cx="8750235" cy="4876751"/>
          </a:xfrm>
          <a:prstGeom prst="roundRect">
            <a:avLst>
              <a:gd fmla="val 1432" name="adj"/>
            </a:avLst>
          </a:prstGeom>
          <a:noFill/>
          <a:ln>
            <a:noFill/>
          </a:ln>
        </p:spPr>
      </p:pic>
      <p:sp>
        <p:nvSpPr>
          <p:cNvPr id="262" name="Google Shape;262;p16"/>
          <p:cNvSpPr/>
          <p:nvPr/>
        </p:nvSpPr>
        <p:spPr>
          <a:xfrm>
            <a:off x="1717648" y="1171488"/>
            <a:ext cx="8756585"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1714473" y="1168313"/>
            <a:ext cx="8762935" cy="1384241"/>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1714473" y="3625757"/>
            <a:ext cx="8762935" cy="243200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1714473" y="2552644"/>
            <a:ext cx="4413214" cy="107312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8172393" y="2552644"/>
            <a:ext cx="2305015" cy="107312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6108696" y="2533557"/>
            <a:ext cx="2082779" cy="1111192"/>
          </a:xfrm>
          <a:prstGeom prst="roundRect">
            <a:avLst>
              <a:gd fmla="val 6286"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5/5</a:t>
            </a:r>
            <a:endParaRPr b="0" i="0" sz="1200" u="none" cap="none" strike="noStrike">
              <a:solidFill>
                <a:schemeClr val="dk1"/>
              </a:solidFill>
              <a:latin typeface="Nunito Sans"/>
              <a:ea typeface="Nunito Sans"/>
              <a:cs typeface="Nunito Sans"/>
              <a:sym typeface="Nunito Sans"/>
            </a:endParaRPr>
          </a:p>
        </p:txBody>
      </p:sp>
      <p:sp>
        <p:nvSpPr>
          <p:cNvPr id="269" name="Google Shape;269;p16"/>
          <p:cNvSpPr txBox="1"/>
          <p:nvPr>
            <p:ph type="title"/>
          </p:nvPr>
        </p:nvSpPr>
        <p:spPr>
          <a:xfrm>
            <a:off x="609562" y="634919"/>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Se vende sobre todo en Madrid, Barcelona y Valencia</a:t>
            </a:r>
            <a:endParaRPr sz="2600"/>
          </a:p>
        </p:txBody>
      </p:sp>
      <p:sp>
        <p:nvSpPr>
          <p:cNvPr id="270" name="Google Shape;270;p16"/>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275" name="Shape 275"/>
        <p:cNvGrpSpPr/>
        <p:nvPr/>
      </p:nvGrpSpPr>
      <p:grpSpPr>
        <a:xfrm>
          <a:off x="0" y="0"/>
          <a:ext cx="0" cy="0"/>
          <a:chOff x="0" y="0"/>
          <a:chExt cx="0" cy="0"/>
        </a:xfrm>
      </p:grpSpPr>
      <p:sp>
        <p:nvSpPr>
          <p:cNvPr id="276" name="Google Shape;276;p17"/>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EL PROBLEMA</a:t>
            </a:r>
            <a:endParaRPr b="0" i="0" sz="1200" u="none" cap="none" strike="noStrike">
              <a:solidFill>
                <a:schemeClr val="dk1"/>
              </a:solidFill>
              <a:latin typeface="Nunito Sans"/>
              <a:ea typeface="Nunito Sans"/>
              <a:cs typeface="Nunito Sans"/>
              <a:sym typeface="Nunito Sans"/>
            </a:endParaRPr>
          </a:p>
        </p:txBody>
      </p:sp>
      <p:sp>
        <p:nvSpPr>
          <p:cNvPr id="277" name="Google Shape;277;p17"/>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Si llamamos a todos, compra uno de cada 150</a:t>
            </a:r>
            <a:endParaRPr sz="3600"/>
          </a:p>
        </p:txBody>
      </p:sp>
      <p:pic>
        <p:nvPicPr>
          <p:cNvPr descr="150 puntos grises y uno verde: de cada 150 clientes, solo uno contrata el plan de pensiones" id="278" name="Google Shape;278;p17"/>
          <p:cNvPicPr preferRelativeResize="0"/>
          <p:nvPr/>
        </p:nvPicPr>
        <p:blipFill rotWithShape="1">
          <a:blip r:embed="rId3">
            <a:alphaModFix/>
          </a:blip>
          <a:srcRect b="0" l="0" r="0" t="0"/>
          <a:stretch/>
        </p:blipFill>
        <p:spPr>
          <a:xfrm>
            <a:off x="812720" y="1935299"/>
            <a:ext cx="4952943" cy="3301962"/>
          </a:xfrm>
          <a:prstGeom prst="rect">
            <a:avLst/>
          </a:prstGeom>
          <a:noFill/>
          <a:ln>
            <a:noFill/>
          </a:ln>
        </p:spPr>
      </p:pic>
      <p:sp>
        <p:nvSpPr>
          <p:cNvPr id="279" name="Google Shape;279;p17"/>
          <p:cNvSpPr/>
          <p:nvPr/>
        </p:nvSpPr>
        <p:spPr>
          <a:xfrm>
            <a:off x="6171978" y="2814315"/>
            <a:ext cx="5363493" cy="5942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Un mes cualquiera, solo el </a:t>
            </a:r>
            <a:r>
              <a:rPr b="1" i="0" lang="en-US" sz="1600" u="none" cap="none" strike="noStrike">
                <a:solidFill>
                  <a:srgbClr val="1F2A24"/>
                </a:solidFill>
                <a:latin typeface="Nunito Sans"/>
                <a:ea typeface="Nunito Sans"/>
                <a:cs typeface="Nunito Sans"/>
                <a:sym typeface="Nunito Sans"/>
              </a:rPr>
              <a:t>0,66 %</a:t>
            </a:r>
            <a:r>
              <a:rPr b="0" i="0" lang="en-US" sz="1600" u="none" cap="none" strike="noStrike">
                <a:solidFill>
                  <a:srgbClr val="1F2A24"/>
                </a:solidFill>
                <a:latin typeface="Nunito Sans"/>
                <a:ea typeface="Nunito Sans"/>
                <a:cs typeface="Nunito Sans"/>
                <a:sym typeface="Nunito Sans"/>
              </a:rPr>
              <a:t> de los clientes contrata un plan de pensiones</a:t>
            </a:r>
            <a:endParaRPr b="0" i="0" sz="1600" u="none" cap="none" strike="noStrike">
              <a:solidFill>
                <a:schemeClr val="dk1"/>
              </a:solidFill>
              <a:latin typeface="Nunito Sans"/>
              <a:ea typeface="Nunito Sans"/>
              <a:cs typeface="Nunito Sans"/>
              <a:sym typeface="Nunito Sans"/>
            </a:endParaRPr>
          </a:p>
        </p:txBody>
      </p:sp>
      <p:sp>
        <p:nvSpPr>
          <p:cNvPr id="280" name="Google Shape;280;p17"/>
          <p:cNvSpPr/>
          <p:nvPr/>
        </p:nvSpPr>
        <p:spPr>
          <a:xfrm>
            <a:off x="6171978" y="3586274"/>
            <a:ext cx="6020022"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Llamar a todos sería caro y molestaría a 149 de cada 150</a:t>
            </a:r>
            <a:endParaRPr b="0" i="0" sz="1600" u="none" cap="none" strike="noStrike">
              <a:solidFill>
                <a:schemeClr val="dk1"/>
              </a:solidFill>
              <a:latin typeface="Nunito Sans"/>
              <a:ea typeface="Nunito Sans"/>
              <a:cs typeface="Nunito Sans"/>
              <a:sym typeface="Nunito Sans"/>
            </a:endParaRPr>
          </a:p>
        </p:txBody>
      </p:sp>
      <p:sp>
        <p:nvSpPr>
          <p:cNvPr id="281" name="Google Shape;281;p17"/>
          <p:cNvSpPr/>
          <p:nvPr/>
        </p:nvSpPr>
        <p:spPr>
          <a:xfrm>
            <a:off x="6171978" y="4073835"/>
            <a:ext cx="536349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600"/>
              <a:buFont typeface="Nunito Sans"/>
              <a:buNone/>
            </a:pPr>
            <a:r>
              <a:rPr b="1" i="0" lang="en-US" sz="1600" u="none" cap="none" strike="noStrike">
                <a:solidFill>
                  <a:srgbClr val="2F6E62"/>
                </a:solidFill>
                <a:latin typeface="Nunito Sans"/>
                <a:ea typeface="Nunito Sans"/>
                <a:cs typeface="Nunito Sans"/>
                <a:sym typeface="Nunito Sans"/>
              </a:rPr>
              <a:t>Necesitamos saber quién es ese uno antes de llamar</a:t>
            </a:r>
            <a:endParaRPr b="0" i="0" sz="1600" u="none" cap="none" strike="noStrike">
              <a:solidFill>
                <a:schemeClr val="dk1"/>
              </a:solidFill>
              <a:latin typeface="Nunito Sans"/>
              <a:ea typeface="Nunito Sans"/>
              <a:cs typeface="Nunito Sans"/>
              <a:sym typeface="Nunito Sans"/>
            </a:endParaRPr>
          </a:p>
        </p:txBody>
      </p:sp>
      <p:sp>
        <p:nvSpPr>
          <p:cNvPr id="282" name="Google Shape;282;p17"/>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09 · Punto verde oscuro: el cliente que compra</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87" name="Shape 287"/>
        <p:cNvGrpSpPr/>
        <p:nvPr/>
      </p:nvGrpSpPr>
      <p:grpSpPr>
        <a:xfrm>
          <a:off x="0" y="0"/>
          <a:ext cx="0" cy="0"/>
          <a:chOff x="0" y="0"/>
          <a:chExt cx="0" cy="0"/>
        </a:xfrm>
      </p:grpSpPr>
      <p:sp>
        <p:nvSpPr>
          <p:cNvPr id="288" name="Google Shape;288;p18"/>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QUÉ PRODUCTOS PODEMOS PREDECIR</a:t>
            </a:r>
            <a:endParaRPr b="0" i="0" sz="1200" u="none" cap="none" strike="noStrike">
              <a:solidFill>
                <a:schemeClr val="dk1"/>
              </a:solidFill>
              <a:latin typeface="Nunito Sans"/>
              <a:ea typeface="Nunito Sans"/>
              <a:cs typeface="Nunito Sans"/>
              <a:sym typeface="Nunito Sans"/>
            </a:endParaRPr>
          </a:p>
        </p:txBody>
      </p:sp>
      <p:sp>
        <p:nvSpPr>
          <p:cNvPr id="289" name="Google Shape;289;p18"/>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Solo dos productos tienen valor y ventas suficientes para aprender</a:t>
            </a:r>
            <a:endParaRPr sz="3600"/>
          </a:p>
        </p:txBody>
      </p:sp>
      <p:graphicFrame>
        <p:nvGraphicFramePr>
          <p:cNvPr id="290" name="Google Shape;290;p18"/>
          <p:cNvGraphicFramePr/>
          <p:nvPr/>
        </p:nvGraphicFramePr>
        <p:xfrm>
          <a:off x="824313" y="2449745"/>
          <a:ext cx="3000000" cy="3000000"/>
        </p:xfrm>
        <a:graphic>
          <a:graphicData uri="http://schemas.openxmlformats.org/drawingml/2006/table">
            <a:tbl>
              <a:tblPr>
                <a:noFill/>
                <a:tableStyleId>{0A5A7EA0-4624-40F9-BD69-A792ACAA488B}</a:tableStyleId>
              </a:tblPr>
              <a:tblGrid>
                <a:gridCol w="3377575"/>
                <a:gridCol w="2955375"/>
                <a:gridCol w="4221975"/>
              </a:tblGrid>
              <a:tr h="384950">
                <a:tc>
                  <a:txBody>
                    <a:bodyPr/>
                    <a:lstStyle/>
                    <a:p>
                      <a:pPr indent="0" lvl="0" marL="0" marR="0" rtl="0" algn="l">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Producto</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c>
                  <a:txBody>
                    <a:bodyPr/>
                    <a:lstStyle/>
                    <a:p>
                      <a:pPr indent="0" lvl="0" marL="0" marR="0" rtl="0" algn="r">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Contrataciones nuevas al mes</a:t>
                      </a:r>
                      <a:endParaRPr sz="1400" u="none" cap="none" strike="noStrike">
                        <a:latin typeface="Nunito Sans"/>
                        <a:ea typeface="Nunito Sans"/>
                        <a:cs typeface="Nunito Sans"/>
                        <a:sym typeface="Nunito Sans"/>
                      </a:endParaRPr>
                    </a:p>
                  </a:txBody>
                  <a:tcPr marT="62225" marB="62225" marR="62225" marL="62225">
                    <a:lnL cap="flat" cmpd="sng" w="12700">
                      <a:solidFill>
                        <a:srgbClr val="1D2520"/>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c>
                  <a:txBody>
                    <a:bodyPr/>
                    <a:lstStyle/>
                    <a:p>
                      <a:pPr indent="0" lvl="0" marL="0" marR="0" rtl="0" algn="l">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¿Hacemos modelo?</a:t>
                      </a:r>
                      <a:endParaRPr sz="1400" u="none" cap="none" strike="noStrike">
                        <a:latin typeface="Nunito Sans"/>
                        <a:ea typeface="Nunito Sans"/>
                        <a:cs typeface="Nunito Sans"/>
                        <a:sym typeface="Nunito Sans"/>
                      </a:endParaRPr>
                    </a:p>
                  </a:txBody>
                  <a:tcPr marT="62225" marB="62225" marR="62225" marL="62225">
                    <a:lnL cap="flat" cmpd="sng" w="12700">
                      <a:solidFill>
                        <a:srgbClr val="1D2520"/>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Plan de pensiones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2.301</a:t>
                      </a:r>
                      <a:endParaRPr sz="1400" u="none" cap="none" strike="noStrike">
                        <a:latin typeface="Nunito Sans"/>
                        <a:ea typeface="Nunito Sans"/>
                        <a:cs typeface="Nunito Sans"/>
                        <a:sym typeface="Nunito Sans"/>
                      </a:endParaRPr>
                    </a:p>
                  </a:txBody>
                  <a:tcPr marT="62225" marB="62225" marR="62225" marL="62225">
                    <a:lnL cap="flat" cmpd="sng" w="12700">
                      <a:solidFill>
                        <a:srgbClr val="B5C0AD"/>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Sí: es el que más margen deja</a:t>
                      </a:r>
                      <a:endParaRPr sz="1400" u="none" cap="none" strike="noStrike">
                        <a:latin typeface="Nunito Sans"/>
                        <a:ea typeface="Nunito Sans"/>
                        <a:cs typeface="Nunito Sans"/>
                        <a:sym typeface="Nunito Sans"/>
                      </a:endParaRPr>
                    </a:p>
                  </a:txBody>
                  <a:tcPr marT="62225" marB="62225" marR="62225" marL="62225">
                    <a:lnL cap="flat" cmpd="sng" w="12700">
                      <a:solidFill>
                        <a:srgbClr val="B5C0AD"/>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Cuenta easyMoney</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2.525</a:t>
                      </a:r>
                      <a:endParaRPr sz="1400" u="none" cap="none" strike="noStrike">
                        <a:latin typeface="Nunito Sans"/>
                        <a:ea typeface="Nunito Sans"/>
                        <a:cs typeface="Nunito Sans"/>
                        <a:sym typeface="Nunito Sans"/>
                      </a:endParaRPr>
                    </a:p>
                  </a:txBody>
                  <a:tcPr marT="62225" marB="62225" marR="62225" marL="62225">
                    <a:lnL cap="flat" cmpd="sng" w="12700">
                      <a:solidFill>
                        <a:srgbClr val="B5C0AD"/>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Sí: es la más vendida</a:t>
                      </a:r>
                      <a:endParaRPr sz="1400" u="none" cap="none" strike="noStrike">
                        <a:latin typeface="Nunito Sans"/>
                        <a:ea typeface="Nunito Sans"/>
                        <a:cs typeface="Nunito Sans"/>
                        <a:sym typeface="Nunito Sans"/>
                      </a:endParaRPr>
                    </a:p>
                  </a:txBody>
                  <a:tcPr marT="62225" marB="62225" marR="62225" marL="62225">
                    <a:lnL cap="flat" cmpd="sng" w="12700">
                      <a:solidFill>
                        <a:srgbClr val="B5C0AD"/>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Tarjeta de débito</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4.562</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No: deja muy poco margen</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Depósitos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160 – 249</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No: muy pocas para aprender</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Fondos y valores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56 – 78</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No: muy pocas para aprender</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Préstamos e hipotecas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 1</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No: casi ninguna</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bl>
          </a:graphicData>
        </a:graphic>
      </p:graphicFrame>
      <p:sp>
        <p:nvSpPr>
          <p:cNvPr id="291" name="Google Shape;291;p18"/>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09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296" name="Shape 296"/>
        <p:cNvGrpSpPr/>
        <p:nvPr/>
      </p:nvGrpSpPr>
      <p:grpSpPr>
        <a:xfrm>
          <a:off x="0" y="0"/>
          <a:ext cx="0" cy="0"/>
          <a:chOff x="0" y="0"/>
          <a:chExt cx="0" cy="0"/>
        </a:xfrm>
      </p:grpSpPr>
      <p:sp>
        <p:nvSpPr>
          <p:cNvPr id="297" name="Google Shape;297;p19"/>
          <p:cNvSpPr/>
          <p:nvPr/>
        </p:nvSpPr>
        <p:spPr>
          <a:xfrm>
            <a:off x="812720" y="6238267"/>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09 · Clientes que en mayo de 2019 aún no tenían el producto, puntuados para junio</a:t>
            </a:r>
            <a:endParaRPr b="0" i="0" sz="1200" u="none" cap="none" strike="noStrike">
              <a:solidFill>
                <a:schemeClr val="dk1"/>
              </a:solidFill>
              <a:latin typeface="Nunito Sans"/>
              <a:ea typeface="Nunito Sans"/>
              <a:cs typeface="Nunito Sans"/>
              <a:sym typeface="Nunito Sans"/>
            </a:endParaRPr>
          </a:p>
        </p:txBody>
      </p:sp>
      <p:sp>
        <p:nvSpPr>
          <p:cNvPr id="298" name="Google Shape;298;p19"/>
          <p:cNvSpPr/>
          <p:nvPr/>
        </p:nvSpPr>
        <p:spPr>
          <a:xfrm>
            <a:off x="812720" y="812713"/>
            <a:ext cx="1088987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MODELO DE PROPENSIÓN</a:t>
            </a:r>
            <a:endParaRPr b="0" i="0" sz="1200" u="none" cap="none" strike="noStrike">
              <a:solidFill>
                <a:schemeClr val="dk1"/>
              </a:solidFill>
              <a:latin typeface="Nunito Sans"/>
              <a:ea typeface="Nunito Sans"/>
              <a:cs typeface="Nunito Sans"/>
              <a:sym typeface="Nunito Sans"/>
            </a:endParaRPr>
          </a:p>
        </p:txBody>
      </p:sp>
      <p:sp>
        <p:nvSpPr>
          <p:cNvPr id="299" name="Google Shape;299;p19"/>
          <p:cNvSpPr txBox="1"/>
          <p:nvPr>
            <p:ph type="title"/>
          </p:nvPr>
        </p:nvSpPr>
        <p:spPr>
          <a:xfrm>
            <a:off x="812720" y="1127646"/>
            <a:ext cx="10889873"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Una nota para cada cliente: su probabilidad de contratar</a:t>
            </a:r>
            <a:endParaRPr sz="3600"/>
          </a:p>
        </p:txBody>
      </p:sp>
      <p:sp>
        <p:nvSpPr>
          <p:cNvPr id="300" name="Google Shape;300;p19"/>
          <p:cNvSpPr/>
          <p:nvPr/>
        </p:nvSpPr>
        <p:spPr>
          <a:xfrm>
            <a:off x="812720" y="2440868"/>
            <a:ext cx="3084042" cy="1544195"/>
          </a:xfrm>
          <a:prstGeom prst="roundRect">
            <a:avLst>
              <a:gd fmla="val 657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p:nvPr/>
        </p:nvSpPr>
        <p:spPr>
          <a:xfrm>
            <a:off x="1066689" y="2694843"/>
            <a:ext cx="265338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ENTRA</a:t>
            </a:r>
            <a:endParaRPr b="0" i="0" sz="1200" u="none" cap="none" strike="noStrike">
              <a:solidFill>
                <a:schemeClr val="dk1"/>
              </a:solidFill>
              <a:latin typeface="Nunito Sans"/>
              <a:ea typeface="Nunito Sans"/>
              <a:cs typeface="Nunito Sans"/>
              <a:sym typeface="Nunito Sans"/>
            </a:endParaRPr>
          </a:p>
        </p:txBody>
      </p:sp>
      <p:sp>
        <p:nvSpPr>
          <p:cNvPr id="302" name="Google Shape;302;p19"/>
          <p:cNvSpPr/>
          <p:nvPr/>
        </p:nvSpPr>
        <p:spPr>
          <a:xfrm>
            <a:off x="1066689" y="2984401"/>
            <a:ext cx="2653386"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Cómo era cada cliente el mes anterior: si usa el banco, sus productos, edad, antigüedad…</a:t>
            </a:r>
            <a:endParaRPr b="0" i="0" sz="1400" u="none" cap="none" strike="noStrike">
              <a:solidFill>
                <a:schemeClr val="dk1"/>
              </a:solidFill>
              <a:latin typeface="Nunito Sans"/>
              <a:ea typeface="Nunito Sans"/>
              <a:cs typeface="Nunito Sans"/>
              <a:sym typeface="Nunito Sans"/>
            </a:endParaRPr>
          </a:p>
        </p:txBody>
      </p:sp>
      <p:pic>
        <p:nvPicPr>
          <p:cNvPr descr="arrow-right" id="303" name="Google Shape;303;p19"/>
          <p:cNvPicPr preferRelativeResize="0"/>
          <p:nvPr/>
        </p:nvPicPr>
        <p:blipFill rotWithShape="1">
          <a:blip r:embed="rId3">
            <a:alphaModFix/>
          </a:blip>
          <a:srcRect b="0" l="0" r="0" t="0"/>
          <a:stretch/>
        </p:blipFill>
        <p:spPr>
          <a:xfrm>
            <a:off x="4049107" y="3124076"/>
            <a:ext cx="355593" cy="177797"/>
          </a:xfrm>
          <a:prstGeom prst="rect">
            <a:avLst/>
          </a:prstGeom>
          <a:noFill/>
          <a:ln>
            <a:noFill/>
          </a:ln>
        </p:spPr>
      </p:pic>
      <p:sp>
        <p:nvSpPr>
          <p:cNvPr id="304" name="Google Shape;304;p19"/>
          <p:cNvSpPr/>
          <p:nvPr/>
        </p:nvSpPr>
        <p:spPr>
          <a:xfrm>
            <a:off x="4557045" y="2440868"/>
            <a:ext cx="3084042" cy="1544195"/>
          </a:xfrm>
          <a:prstGeom prst="roundRect">
            <a:avLst>
              <a:gd fmla="val 657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4811014" y="2694843"/>
            <a:ext cx="265338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MODELO DE PROPENSIÓN</a:t>
            </a:r>
            <a:endParaRPr b="0" i="0" sz="1200" u="none" cap="none" strike="noStrike">
              <a:solidFill>
                <a:schemeClr val="dk1"/>
              </a:solidFill>
              <a:latin typeface="Nunito Sans"/>
              <a:ea typeface="Nunito Sans"/>
              <a:cs typeface="Nunito Sans"/>
              <a:sym typeface="Nunito Sans"/>
            </a:endParaRPr>
          </a:p>
        </p:txBody>
      </p:sp>
      <p:sp>
        <p:nvSpPr>
          <p:cNvPr id="306" name="Google Shape;306;p19"/>
          <p:cNvSpPr/>
          <p:nvPr/>
        </p:nvSpPr>
        <p:spPr>
          <a:xfrm>
            <a:off x="4811014" y="2984401"/>
            <a:ext cx="2653386"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Aprende de 17 meses qué tienen en común los que acaban contratando</a:t>
            </a:r>
            <a:endParaRPr b="0" i="0" sz="1400" u="none" cap="none" strike="noStrike">
              <a:solidFill>
                <a:schemeClr val="dk1"/>
              </a:solidFill>
              <a:latin typeface="Nunito Sans"/>
              <a:ea typeface="Nunito Sans"/>
              <a:cs typeface="Nunito Sans"/>
              <a:sym typeface="Nunito Sans"/>
            </a:endParaRPr>
          </a:p>
        </p:txBody>
      </p:sp>
      <p:pic>
        <p:nvPicPr>
          <p:cNvPr descr="arrow-right" id="307" name="Google Shape;307;p19"/>
          <p:cNvPicPr preferRelativeResize="0"/>
          <p:nvPr/>
        </p:nvPicPr>
        <p:blipFill rotWithShape="1">
          <a:blip r:embed="rId3">
            <a:alphaModFix/>
          </a:blip>
          <a:srcRect b="0" l="0" r="0" t="0"/>
          <a:stretch/>
        </p:blipFill>
        <p:spPr>
          <a:xfrm>
            <a:off x="7793432" y="3124076"/>
            <a:ext cx="355593" cy="177797"/>
          </a:xfrm>
          <a:prstGeom prst="rect">
            <a:avLst/>
          </a:prstGeom>
          <a:noFill/>
          <a:ln>
            <a:noFill/>
          </a:ln>
        </p:spPr>
      </p:pic>
      <p:sp>
        <p:nvSpPr>
          <p:cNvPr id="308" name="Google Shape;308;p19"/>
          <p:cNvSpPr/>
          <p:nvPr/>
        </p:nvSpPr>
        <p:spPr>
          <a:xfrm>
            <a:off x="8301370" y="2440868"/>
            <a:ext cx="3084042" cy="1544195"/>
          </a:xfrm>
          <a:prstGeom prst="roundRect">
            <a:avLst>
              <a:gd fmla="val 6579"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a:off x="8555340" y="2694843"/>
            <a:ext cx="265338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SALE: EL SCORING</a:t>
            </a:r>
            <a:endParaRPr b="0" i="0" sz="1200" u="none" cap="none" strike="noStrike">
              <a:solidFill>
                <a:schemeClr val="dk1"/>
              </a:solidFill>
              <a:latin typeface="Nunito Sans"/>
              <a:ea typeface="Nunito Sans"/>
              <a:cs typeface="Nunito Sans"/>
              <a:sym typeface="Nunito Sans"/>
            </a:endParaRPr>
          </a:p>
        </p:txBody>
      </p:sp>
      <p:sp>
        <p:nvSpPr>
          <p:cNvPr id="310" name="Google Shape;310;p19"/>
          <p:cNvSpPr/>
          <p:nvPr/>
        </p:nvSpPr>
        <p:spPr>
          <a:xfrm>
            <a:off x="8555340" y="2984401"/>
            <a:ext cx="2653386"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1400"/>
              <a:buFont typeface="Nunito Sans"/>
              <a:buNone/>
            </a:pPr>
            <a:r>
              <a:rPr b="0" i="0" lang="en-US" sz="1400" u="none" cap="none" strike="noStrike">
                <a:solidFill>
                  <a:srgbClr val="F4F1E8"/>
                </a:solidFill>
                <a:latin typeface="Nunito Sans"/>
                <a:ea typeface="Nunito Sans"/>
                <a:cs typeface="Nunito Sans"/>
                <a:sym typeface="Nunito Sans"/>
              </a:rPr>
              <a:t>Una probabilidad de 0 a 1 por cliente y la lista ordenada de más a menos probable</a:t>
            </a:r>
            <a:endParaRPr b="0" i="0" sz="1400" u="none" cap="none" strike="noStrike">
              <a:solidFill>
                <a:schemeClr val="dk1"/>
              </a:solidFill>
              <a:latin typeface="Nunito Sans"/>
              <a:ea typeface="Nunito Sans"/>
              <a:cs typeface="Nunito Sans"/>
              <a:sym typeface="Nunito Sans"/>
            </a:endParaRPr>
          </a:p>
        </p:txBody>
      </p:sp>
      <p:sp>
        <p:nvSpPr>
          <p:cNvPr id="311" name="Google Shape;311;p19"/>
          <p:cNvSpPr/>
          <p:nvPr/>
        </p:nvSpPr>
        <p:spPr>
          <a:xfrm>
            <a:off x="819070" y="4292575"/>
            <a:ext cx="5172022" cy="1231876"/>
          </a:xfrm>
          <a:prstGeom prst="roundRect">
            <a:avLst>
              <a:gd fmla="val 7732" name="adj"/>
            </a:avLst>
          </a:prstGeom>
          <a:solidFill>
            <a:srgbClr val="FFFFFF"/>
          </a:solidFill>
          <a:ln cap="flat" cmpd="sng" w="12700">
            <a:solidFill>
              <a:srgbClr val="7CC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1078282" y="4705313"/>
            <a:ext cx="1824774" cy="431805"/>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E62"/>
              </a:buClr>
              <a:buSzPts val="3200"/>
              <a:buFont typeface="Fraunces"/>
              <a:buNone/>
            </a:pPr>
            <a:r>
              <a:rPr b="1" i="0" lang="en-US" sz="3200" u="none" cap="none" strike="noStrike">
                <a:solidFill>
                  <a:srgbClr val="2F6E62"/>
                </a:solidFill>
                <a:latin typeface="Fraunces"/>
                <a:ea typeface="Fraunces"/>
                <a:cs typeface="Fraunces"/>
                <a:sym typeface="Fraunces"/>
              </a:rPr>
              <a:t>425.556</a:t>
            </a:r>
            <a:endParaRPr b="0" i="0" sz="3200" u="none" cap="none" strike="noStrike">
              <a:solidFill>
                <a:schemeClr val="dk1"/>
              </a:solidFill>
              <a:latin typeface="Nunito Sans"/>
              <a:ea typeface="Nunito Sans"/>
              <a:cs typeface="Nunito Sans"/>
              <a:sym typeface="Nunito Sans"/>
            </a:endParaRPr>
          </a:p>
        </p:txBody>
      </p:sp>
      <p:sp>
        <p:nvSpPr>
          <p:cNvPr id="313" name="Google Shape;313;p19"/>
          <p:cNvSpPr/>
          <p:nvPr/>
        </p:nvSpPr>
        <p:spPr>
          <a:xfrm>
            <a:off x="3053065" y="4677408"/>
            <a:ext cx="2759178" cy="487508"/>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clientes puntuados para el </a:t>
            </a:r>
            <a:r>
              <a:rPr b="1" i="0" lang="en-US" sz="1400" u="none" cap="none" strike="noStrike">
                <a:solidFill>
                  <a:srgbClr val="1F2A24"/>
                </a:solidFill>
                <a:latin typeface="Nunito Sans"/>
                <a:ea typeface="Nunito Sans"/>
                <a:cs typeface="Nunito Sans"/>
                <a:sym typeface="Nunito Sans"/>
              </a:rPr>
              <a:t>plan de pensiones</a:t>
            </a:r>
            <a:endParaRPr b="0" i="0" sz="1400" u="none" cap="none" strike="noStrike">
              <a:solidFill>
                <a:schemeClr val="dk1"/>
              </a:solidFill>
              <a:latin typeface="Nunito Sans"/>
              <a:ea typeface="Nunito Sans"/>
              <a:cs typeface="Nunito Sans"/>
              <a:sym typeface="Nunito Sans"/>
            </a:endParaRPr>
          </a:p>
        </p:txBody>
      </p:sp>
      <p:sp>
        <p:nvSpPr>
          <p:cNvPr id="314" name="Google Shape;314;p19"/>
          <p:cNvSpPr/>
          <p:nvPr/>
        </p:nvSpPr>
        <p:spPr>
          <a:xfrm>
            <a:off x="6206949" y="4292575"/>
            <a:ext cx="5172113" cy="1231876"/>
          </a:xfrm>
          <a:prstGeom prst="roundRect">
            <a:avLst>
              <a:gd fmla="val 7732" name="adj"/>
            </a:avLst>
          </a:prstGeom>
          <a:solidFill>
            <a:srgbClr val="FFFFFF"/>
          </a:solidFill>
          <a:ln cap="flat" cmpd="sng" w="12700">
            <a:solidFill>
              <a:srgbClr val="7CC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9"/>
          <p:cNvSpPr/>
          <p:nvPr/>
        </p:nvSpPr>
        <p:spPr>
          <a:xfrm>
            <a:off x="6466162" y="4705313"/>
            <a:ext cx="1824774" cy="431805"/>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E62"/>
              </a:buClr>
              <a:buSzPts val="3200"/>
              <a:buFont typeface="Fraunces"/>
              <a:buNone/>
            </a:pPr>
            <a:r>
              <a:rPr b="1" i="0" lang="en-US" sz="3200" u="none" cap="none" strike="noStrike">
                <a:solidFill>
                  <a:srgbClr val="2F6E62"/>
                </a:solidFill>
                <a:latin typeface="Fraunces"/>
                <a:ea typeface="Fraunces"/>
                <a:cs typeface="Fraunces"/>
                <a:sym typeface="Fraunces"/>
              </a:rPr>
              <a:t>146.575</a:t>
            </a:r>
            <a:endParaRPr b="0" i="0" sz="3200" u="none" cap="none" strike="noStrike">
              <a:solidFill>
                <a:schemeClr val="dk1"/>
              </a:solidFill>
              <a:latin typeface="Nunito Sans"/>
              <a:ea typeface="Nunito Sans"/>
              <a:cs typeface="Nunito Sans"/>
              <a:sym typeface="Nunito Sans"/>
            </a:endParaRPr>
          </a:p>
        </p:txBody>
      </p:sp>
      <p:sp>
        <p:nvSpPr>
          <p:cNvPr id="316" name="Google Shape;316;p19"/>
          <p:cNvSpPr/>
          <p:nvPr/>
        </p:nvSpPr>
        <p:spPr>
          <a:xfrm>
            <a:off x="8440944" y="4677408"/>
            <a:ext cx="2661969" cy="487508"/>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clientes puntuados para la </a:t>
            </a:r>
            <a:r>
              <a:rPr b="1" i="0" lang="en-US" sz="1400" u="none" cap="none" strike="noStrike">
                <a:solidFill>
                  <a:srgbClr val="1F2A24"/>
                </a:solidFill>
                <a:latin typeface="Nunito Sans"/>
                <a:ea typeface="Nunito Sans"/>
                <a:cs typeface="Nunito Sans"/>
                <a:sym typeface="Nunito Sans"/>
              </a:rPr>
              <a:t>cuenta easyMoney</a:t>
            </a:r>
            <a:endParaRPr b="0" i="0" sz="14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321" name="Shape 321"/>
        <p:cNvGrpSpPr/>
        <p:nvPr/>
      </p:nvGrpSpPr>
      <p:grpSpPr>
        <a:xfrm>
          <a:off x="0" y="0"/>
          <a:ext cx="0" cy="0"/>
          <a:chOff x="0" y="0"/>
          <a:chExt cx="0" cy="0"/>
        </a:xfrm>
      </p:grpSpPr>
      <p:sp>
        <p:nvSpPr>
          <p:cNvPr id="322" name="Google Shape;322;p20"/>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CÓMO CONSTRUIMOS LA NOTA</a:t>
            </a:r>
            <a:endParaRPr b="0" i="0" sz="1200" u="none" cap="none" strike="noStrike">
              <a:solidFill>
                <a:schemeClr val="dk1"/>
              </a:solidFill>
              <a:latin typeface="Nunito Sans"/>
              <a:ea typeface="Nunito Sans"/>
              <a:cs typeface="Nunito Sans"/>
              <a:sym typeface="Nunito Sans"/>
            </a:endParaRPr>
          </a:p>
        </p:txBody>
      </p:sp>
      <p:sp>
        <p:nvSpPr>
          <p:cNvPr id="323" name="Google Shape;323;p20"/>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Aprender del pasado y comprobarlo con un mes que no ha visto</a:t>
            </a:r>
            <a:endParaRPr sz="3600"/>
          </a:p>
        </p:txBody>
      </p:sp>
      <p:sp>
        <p:nvSpPr>
          <p:cNvPr id="324" name="Google Shape;324;p20"/>
          <p:cNvSpPr/>
          <p:nvPr/>
        </p:nvSpPr>
        <p:spPr>
          <a:xfrm>
            <a:off x="812720" y="2613422"/>
            <a:ext cx="3081958" cy="1706775"/>
          </a:xfrm>
          <a:prstGeom prst="roundRect">
            <a:avLst>
              <a:gd fmla="val 595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0"/>
          <p:cNvSpPr/>
          <p:nvPr/>
        </p:nvSpPr>
        <p:spPr>
          <a:xfrm>
            <a:off x="1066689" y="2867397"/>
            <a:ext cx="26512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ENE 2018 – MAR 2019</a:t>
            </a:r>
            <a:endParaRPr b="0" i="0" sz="1200" u="none" cap="none" strike="noStrike">
              <a:solidFill>
                <a:schemeClr val="dk1"/>
              </a:solidFill>
              <a:latin typeface="Nunito Sans"/>
              <a:ea typeface="Nunito Sans"/>
              <a:cs typeface="Nunito Sans"/>
              <a:sym typeface="Nunito Sans"/>
            </a:endParaRPr>
          </a:p>
        </p:txBody>
      </p:sp>
      <p:sp>
        <p:nvSpPr>
          <p:cNvPr id="326" name="Google Shape;326;p20"/>
          <p:cNvSpPr/>
          <p:nvPr/>
        </p:nvSpPr>
        <p:spPr>
          <a:xfrm>
            <a:off x="1066689" y="3156955"/>
            <a:ext cx="2651240"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Aprender</a:t>
            </a:r>
            <a:endParaRPr b="0" i="0" sz="2200" u="none" cap="none" strike="noStrike">
              <a:solidFill>
                <a:schemeClr val="dk1"/>
              </a:solidFill>
              <a:latin typeface="Nunito Sans"/>
              <a:ea typeface="Nunito Sans"/>
              <a:cs typeface="Nunito Sans"/>
              <a:sym typeface="Nunito Sans"/>
            </a:endParaRPr>
          </a:p>
        </p:txBody>
      </p:sp>
      <p:sp>
        <p:nvSpPr>
          <p:cNvPr id="327" name="Google Shape;327;p20"/>
          <p:cNvSpPr/>
          <p:nvPr/>
        </p:nvSpPr>
        <p:spPr>
          <a:xfrm>
            <a:off x="1066689" y="3568440"/>
            <a:ext cx="2651240"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Cómo era cada cliente el mes antes de contratar</a:t>
            </a:r>
            <a:endParaRPr b="0" i="0" sz="1400" u="none" cap="none" strike="noStrike">
              <a:solidFill>
                <a:schemeClr val="dk1"/>
              </a:solidFill>
              <a:latin typeface="Nunito Sans"/>
              <a:ea typeface="Nunito Sans"/>
              <a:cs typeface="Nunito Sans"/>
              <a:sym typeface="Nunito Sans"/>
            </a:endParaRPr>
          </a:p>
        </p:txBody>
      </p:sp>
      <p:pic>
        <p:nvPicPr>
          <p:cNvPr descr="arrow-right" id="328" name="Google Shape;328;p20"/>
          <p:cNvPicPr preferRelativeResize="0"/>
          <p:nvPr/>
        </p:nvPicPr>
        <p:blipFill rotWithShape="1">
          <a:blip r:embed="rId3">
            <a:alphaModFix/>
          </a:blip>
          <a:srcRect b="0" l="0" r="0" t="0"/>
          <a:stretch/>
        </p:blipFill>
        <p:spPr>
          <a:xfrm>
            <a:off x="4047024" y="3377865"/>
            <a:ext cx="355593" cy="177797"/>
          </a:xfrm>
          <a:prstGeom prst="rect">
            <a:avLst/>
          </a:prstGeom>
          <a:noFill/>
          <a:ln>
            <a:noFill/>
          </a:ln>
        </p:spPr>
      </p:pic>
      <p:sp>
        <p:nvSpPr>
          <p:cNvPr id="329" name="Google Shape;329;p20"/>
          <p:cNvSpPr/>
          <p:nvPr/>
        </p:nvSpPr>
        <p:spPr>
          <a:xfrm>
            <a:off x="4554962" y="2488977"/>
            <a:ext cx="3082049" cy="1955672"/>
          </a:xfrm>
          <a:prstGeom prst="roundRect">
            <a:avLst>
              <a:gd fmla="val 519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0"/>
          <p:cNvSpPr/>
          <p:nvPr/>
        </p:nvSpPr>
        <p:spPr>
          <a:xfrm>
            <a:off x="4808931" y="2742940"/>
            <a:ext cx="2651334"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ABRIL 2019</a:t>
            </a:r>
            <a:endParaRPr b="0" i="0" sz="1200" u="none" cap="none" strike="noStrike">
              <a:solidFill>
                <a:schemeClr val="dk1"/>
              </a:solidFill>
              <a:latin typeface="Nunito Sans"/>
              <a:ea typeface="Nunito Sans"/>
              <a:cs typeface="Nunito Sans"/>
              <a:sym typeface="Nunito Sans"/>
            </a:endParaRPr>
          </a:p>
        </p:txBody>
      </p:sp>
      <p:sp>
        <p:nvSpPr>
          <p:cNvPr id="331" name="Google Shape;331;p20"/>
          <p:cNvSpPr/>
          <p:nvPr/>
        </p:nvSpPr>
        <p:spPr>
          <a:xfrm>
            <a:off x="4808931" y="3032509"/>
            <a:ext cx="2651334"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Elegir</a:t>
            </a:r>
            <a:endParaRPr b="0" i="0" sz="2200" u="none" cap="none" strike="noStrike">
              <a:solidFill>
                <a:schemeClr val="dk1"/>
              </a:solidFill>
              <a:latin typeface="Nunito Sans"/>
              <a:ea typeface="Nunito Sans"/>
              <a:cs typeface="Nunito Sans"/>
              <a:sym typeface="Nunito Sans"/>
            </a:endParaRPr>
          </a:p>
        </p:txBody>
      </p:sp>
      <p:sp>
        <p:nvSpPr>
          <p:cNvPr id="332" name="Google Shape;332;p20"/>
          <p:cNvSpPr/>
          <p:nvPr/>
        </p:nvSpPr>
        <p:spPr>
          <a:xfrm>
            <a:off x="4808931" y="3443982"/>
            <a:ext cx="2651334"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Probamos 4 modelos y nos quedamos con el que más compradores encuentra</a:t>
            </a:r>
            <a:endParaRPr b="0" i="0" sz="1400" u="none" cap="none" strike="noStrike">
              <a:solidFill>
                <a:schemeClr val="dk1"/>
              </a:solidFill>
              <a:latin typeface="Nunito Sans"/>
              <a:ea typeface="Nunito Sans"/>
              <a:cs typeface="Nunito Sans"/>
              <a:sym typeface="Nunito Sans"/>
            </a:endParaRPr>
          </a:p>
        </p:txBody>
      </p:sp>
      <p:pic>
        <p:nvPicPr>
          <p:cNvPr descr="arrow-right" id="333" name="Google Shape;333;p20"/>
          <p:cNvPicPr preferRelativeResize="0"/>
          <p:nvPr/>
        </p:nvPicPr>
        <p:blipFill rotWithShape="1">
          <a:blip r:embed="rId3">
            <a:alphaModFix/>
          </a:blip>
          <a:srcRect b="0" l="0" r="0" t="0"/>
          <a:stretch/>
        </p:blipFill>
        <p:spPr>
          <a:xfrm>
            <a:off x="7789356" y="3377865"/>
            <a:ext cx="355593" cy="177797"/>
          </a:xfrm>
          <a:prstGeom prst="rect">
            <a:avLst/>
          </a:prstGeom>
          <a:noFill/>
          <a:ln>
            <a:noFill/>
          </a:ln>
        </p:spPr>
      </p:pic>
      <p:sp>
        <p:nvSpPr>
          <p:cNvPr id="334" name="Google Shape;334;p20"/>
          <p:cNvSpPr/>
          <p:nvPr/>
        </p:nvSpPr>
        <p:spPr>
          <a:xfrm>
            <a:off x="8297294" y="2613422"/>
            <a:ext cx="3081958" cy="1706775"/>
          </a:xfrm>
          <a:prstGeom prst="roundRect">
            <a:avLst>
              <a:gd fmla="val 5953"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0"/>
          <p:cNvSpPr/>
          <p:nvPr/>
        </p:nvSpPr>
        <p:spPr>
          <a:xfrm>
            <a:off x="8551264" y="2867397"/>
            <a:ext cx="26512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MAYO 2019</a:t>
            </a:r>
            <a:endParaRPr b="0" i="0" sz="1200" u="none" cap="none" strike="noStrike">
              <a:solidFill>
                <a:schemeClr val="dk1"/>
              </a:solidFill>
              <a:latin typeface="Nunito Sans"/>
              <a:ea typeface="Nunito Sans"/>
              <a:cs typeface="Nunito Sans"/>
              <a:sym typeface="Nunito Sans"/>
            </a:endParaRPr>
          </a:p>
        </p:txBody>
      </p:sp>
      <p:sp>
        <p:nvSpPr>
          <p:cNvPr id="336" name="Google Shape;336;p20"/>
          <p:cNvSpPr/>
          <p:nvPr/>
        </p:nvSpPr>
        <p:spPr>
          <a:xfrm>
            <a:off x="8551264" y="3156955"/>
            <a:ext cx="2651240"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Comprobar</a:t>
            </a:r>
            <a:endParaRPr b="0" i="0" sz="2200" u="none" cap="none" strike="noStrike">
              <a:solidFill>
                <a:schemeClr val="dk1"/>
              </a:solidFill>
              <a:latin typeface="Nunito Sans"/>
              <a:ea typeface="Nunito Sans"/>
              <a:cs typeface="Nunito Sans"/>
              <a:sym typeface="Nunito Sans"/>
            </a:endParaRPr>
          </a:p>
        </p:txBody>
      </p:sp>
      <p:sp>
        <p:nvSpPr>
          <p:cNvPr id="337" name="Google Shape;337;p20"/>
          <p:cNvSpPr/>
          <p:nvPr/>
        </p:nvSpPr>
        <p:spPr>
          <a:xfrm>
            <a:off x="8551264" y="3568440"/>
            <a:ext cx="2651240"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400"/>
              <a:buFont typeface="Nunito Sans"/>
              <a:buNone/>
            </a:pPr>
            <a:r>
              <a:rPr b="0" i="0" lang="en-US" sz="1400" u="none" cap="none" strike="noStrike">
                <a:solidFill>
                  <a:srgbClr val="C9D4CC"/>
                </a:solidFill>
                <a:latin typeface="Nunito Sans"/>
                <a:ea typeface="Nunito Sans"/>
                <a:cs typeface="Nunito Sans"/>
                <a:sym typeface="Nunito Sans"/>
              </a:rPr>
              <a:t>Un mes que nunca ha visto: lo comparamos con lo que pasó</a:t>
            </a:r>
            <a:endParaRPr b="0" i="0" sz="1400" u="none" cap="none" strike="noStrike">
              <a:solidFill>
                <a:schemeClr val="dk1"/>
              </a:solidFill>
              <a:latin typeface="Nunito Sans"/>
              <a:ea typeface="Nunito Sans"/>
              <a:cs typeface="Nunito Sans"/>
              <a:sym typeface="Nunito Sans"/>
            </a:endParaRPr>
          </a:p>
        </p:txBody>
      </p:sp>
      <p:sp>
        <p:nvSpPr>
          <p:cNvPr id="338" name="Google Shape;338;p20"/>
          <p:cNvSpPr/>
          <p:nvPr/>
        </p:nvSpPr>
        <p:spPr>
          <a:xfrm>
            <a:off x="812720" y="4800240"/>
            <a:ext cx="1088352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Solo usa lo que sabíamos del cliente el mes anterior: nunca mira el futuro. Lo hicimos para dos productos: plan de pensiones y cuenta easyMoney.</a:t>
            </a:r>
            <a:endParaRPr b="0" i="0" sz="1400" u="none" cap="none" strike="noStrike">
              <a:solidFill>
                <a:schemeClr val="dk1"/>
              </a:solidFill>
              <a:latin typeface="Nunito Sans"/>
              <a:ea typeface="Nunito Sans"/>
              <a:cs typeface="Nunito Sans"/>
              <a:sym typeface="Nunito Sans"/>
            </a:endParaRPr>
          </a:p>
        </p:txBody>
      </p:sp>
      <p:sp>
        <p:nvSpPr>
          <p:cNvPr id="339" name="Google Shape;339;p20"/>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10</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344" name="Shape 344"/>
        <p:cNvGrpSpPr/>
        <p:nvPr/>
      </p:nvGrpSpPr>
      <p:grpSpPr>
        <a:xfrm>
          <a:off x="0" y="0"/>
          <a:ext cx="0" cy="0"/>
          <a:chOff x="0" y="0"/>
          <a:chExt cx="0" cy="0"/>
        </a:xfrm>
      </p:grpSpPr>
      <p:sp>
        <p:nvSpPr>
          <p:cNvPr id="345" name="Google Shape;345;p21"/>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QUÉ MIRA EL MODELO</a:t>
            </a:r>
            <a:endParaRPr b="0" i="0" sz="1200" u="none" cap="none" strike="noStrike">
              <a:solidFill>
                <a:schemeClr val="dk1"/>
              </a:solidFill>
              <a:latin typeface="Nunito Sans"/>
              <a:ea typeface="Nunito Sans"/>
              <a:cs typeface="Nunito Sans"/>
              <a:sym typeface="Nunito Sans"/>
            </a:endParaRPr>
          </a:p>
        </p:txBody>
      </p:sp>
      <p:sp>
        <p:nvSpPr>
          <p:cNvPr id="346" name="Google Shape;346;p21"/>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En el modelo del plan de pensiones, lo que más pesa es que el cliente use el banco</a:t>
            </a:r>
            <a:endParaRPr sz="3600"/>
          </a:p>
        </p:txBody>
      </p:sp>
      <p:sp>
        <p:nvSpPr>
          <p:cNvPr id="347" name="Google Shape;347;p21"/>
          <p:cNvSpPr/>
          <p:nvPr/>
        </p:nvSpPr>
        <p:spPr>
          <a:xfrm>
            <a:off x="812720" y="2453382"/>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1" i="0" lang="en-US" sz="1400" u="none" cap="none" strike="noStrike">
                <a:solidFill>
                  <a:srgbClr val="1F2A24"/>
                </a:solidFill>
                <a:latin typeface="Nunito Sans"/>
                <a:ea typeface="Nunito Sans"/>
                <a:cs typeface="Nunito Sans"/>
                <a:sym typeface="Nunito Sans"/>
              </a:rPr>
              <a:t>Si el cliente usa el banco</a:t>
            </a:r>
            <a:endParaRPr b="0" i="0" sz="1400" u="none" cap="none" strike="noStrike">
              <a:solidFill>
                <a:schemeClr val="dk1"/>
              </a:solidFill>
              <a:latin typeface="Nunito Sans"/>
              <a:ea typeface="Nunito Sans"/>
              <a:cs typeface="Nunito Sans"/>
              <a:sym typeface="Nunito Sans"/>
            </a:endParaRPr>
          </a:p>
        </p:txBody>
      </p:sp>
      <p:sp>
        <p:nvSpPr>
          <p:cNvPr id="348" name="Google Shape;348;p21"/>
          <p:cNvSpPr/>
          <p:nvPr/>
        </p:nvSpPr>
        <p:spPr>
          <a:xfrm>
            <a:off x="4520997" y="2438164"/>
            <a:ext cx="5714942" cy="279330"/>
          </a:xfrm>
          <a:prstGeom prst="roundRect">
            <a:avLst>
              <a:gd fmla="val 13640" name="adj"/>
            </a:avLst>
          </a:pr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1"/>
          <p:cNvSpPr/>
          <p:nvPr/>
        </p:nvSpPr>
        <p:spPr>
          <a:xfrm>
            <a:off x="10388284" y="2453382"/>
            <a:ext cx="515293"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400"/>
              <a:buFont typeface="Nunito Sans"/>
              <a:buNone/>
            </a:pPr>
            <a:r>
              <a:rPr b="1" i="0" lang="en-US" sz="1400" u="none" cap="none" strike="noStrike">
                <a:solidFill>
                  <a:srgbClr val="2F6E62"/>
                </a:solidFill>
                <a:latin typeface="Nunito Sans"/>
                <a:ea typeface="Nunito Sans"/>
                <a:cs typeface="Nunito Sans"/>
                <a:sym typeface="Nunito Sans"/>
              </a:rPr>
              <a:t>59 %</a:t>
            </a:r>
            <a:endParaRPr b="0" i="0" sz="1400" u="none" cap="none" strike="noStrike">
              <a:solidFill>
                <a:schemeClr val="dk1"/>
              </a:solidFill>
              <a:latin typeface="Nunito Sans"/>
              <a:ea typeface="Nunito Sans"/>
              <a:cs typeface="Nunito Sans"/>
              <a:sym typeface="Nunito Sans"/>
            </a:endParaRPr>
          </a:p>
        </p:txBody>
      </p:sp>
      <p:sp>
        <p:nvSpPr>
          <p:cNvPr id="350" name="Google Shape;350;p21"/>
          <p:cNvSpPr/>
          <p:nvPr/>
        </p:nvSpPr>
        <p:spPr>
          <a:xfrm>
            <a:off x="812720" y="2859695"/>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1" i="0" lang="en-US" sz="1400" u="none" cap="none" strike="noStrike">
                <a:solidFill>
                  <a:srgbClr val="1F2A24"/>
                </a:solidFill>
                <a:latin typeface="Nunito Sans"/>
                <a:ea typeface="Nunito Sans"/>
                <a:cs typeface="Nunito Sans"/>
                <a:sym typeface="Nunito Sans"/>
              </a:rPr>
              <a:t>Si ya tiene la cuenta easyMoney</a:t>
            </a:r>
            <a:endParaRPr b="0" i="0" sz="1400" u="none" cap="none" strike="noStrike">
              <a:solidFill>
                <a:schemeClr val="dk1"/>
              </a:solidFill>
              <a:latin typeface="Nunito Sans"/>
              <a:ea typeface="Nunito Sans"/>
              <a:cs typeface="Nunito Sans"/>
              <a:sym typeface="Nunito Sans"/>
            </a:endParaRPr>
          </a:p>
        </p:txBody>
      </p:sp>
      <p:sp>
        <p:nvSpPr>
          <p:cNvPr id="351" name="Google Shape;351;p21"/>
          <p:cNvSpPr/>
          <p:nvPr/>
        </p:nvSpPr>
        <p:spPr>
          <a:xfrm>
            <a:off x="4520997" y="2844478"/>
            <a:ext cx="1746174" cy="279330"/>
          </a:xfrm>
          <a:prstGeom prst="roundRect">
            <a:avLst>
              <a:gd fmla="val 13640" name="adj"/>
            </a:avLst>
          </a:pr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1"/>
          <p:cNvSpPr/>
          <p:nvPr/>
        </p:nvSpPr>
        <p:spPr>
          <a:xfrm>
            <a:off x="6419516" y="2859695"/>
            <a:ext cx="515293"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400"/>
              <a:buFont typeface="Nunito Sans"/>
              <a:buNone/>
            </a:pPr>
            <a:r>
              <a:rPr b="1" i="0" lang="en-US" sz="1400" u="none" cap="none" strike="noStrike">
                <a:solidFill>
                  <a:srgbClr val="2F6E62"/>
                </a:solidFill>
                <a:latin typeface="Nunito Sans"/>
                <a:ea typeface="Nunito Sans"/>
                <a:cs typeface="Nunito Sans"/>
                <a:sym typeface="Nunito Sans"/>
              </a:rPr>
              <a:t>18 %</a:t>
            </a:r>
            <a:endParaRPr b="0" i="0" sz="1400" u="none" cap="none" strike="noStrike">
              <a:solidFill>
                <a:schemeClr val="dk1"/>
              </a:solidFill>
              <a:latin typeface="Nunito Sans"/>
              <a:ea typeface="Nunito Sans"/>
              <a:cs typeface="Nunito Sans"/>
              <a:sym typeface="Nunito Sans"/>
            </a:endParaRPr>
          </a:p>
        </p:txBody>
      </p:sp>
      <p:sp>
        <p:nvSpPr>
          <p:cNvPr id="353" name="Google Shape;353;p21"/>
          <p:cNvSpPr/>
          <p:nvPr/>
        </p:nvSpPr>
        <p:spPr>
          <a:xfrm>
            <a:off x="812720" y="3266008"/>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Edad</a:t>
            </a:r>
            <a:endParaRPr b="0" i="0" sz="1400" u="none" cap="none" strike="noStrike">
              <a:solidFill>
                <a:schemeClr val="dk1"/>
              </a:solidFill>
              <a:latin typeface="Nunito Sans"/>
              <a:ea typeface="Nunito Sans"/>
              <a:cs typeface="Nunito Sans"/>
              <a:sym typeface="Nunito Sans"/>
            </a:endParaRPr>
          </a:p>
        </p:txBody>
      </p:sp>
      <p:sp>
        <p:nvSpPr>
          <p:cNvPr id="354" name="Google Shape;354;p21"/>
          <p:cNvSpPr/>
          <p:nvPr/>
        </p:nvSpPr>
        <p:spPr>
          <a:xfrm>
            <a:off x="4520997" y="3250791"/>
            <a:ext cx="679395"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1"/>
          <p:cNvSpPr/>
          <p:nvPr/>
        </p:nvSpPr>
        <p:spPr>
          <a:xfrm>
            <a:off x="5352737" y="3266008"/>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7 %</a:t>
            </a:r>
            <a:endParaRPr b="0" i="0" sz="1400" u="none" cap="none" strike="noStrike">
              <a:solidFill>
                <a:schemeClr val="dk1"/>
              </a:solidFill>
              <a:latin typeface="Nunito Sans"/>
              <a:ea typeface="Nunito Sans"/>
              <a:cs typeface="Nunito Sans"/>
              <a:sym typeface="Nunito Sans"/>
            </a:endParaRPr>
          </a:p>
        </p:txBody>
      </p:sp>
      <p:sp>
        <p:nvSpPr>
          <p:cNvPr id="356" name="Google Shape;356;p21"/>
          <p:cNvSpPr/>
          <p:nvPr/>
        </p:nvSpPr>
        <p:spPr>
          <a:xfrm>
            <a:off x="812720" y="3672322"/>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Meses en el banco (Sin contratación)</a:t>
            </a:r>
            <a:endParaRPr b="0" i="0" sz="1400" u="none" cap="none" strike="noStrike">
              <a:solidFill>
                <a:schemeClr val="dk1"/>
              </a:solidFill>
              <a:latin typeface="Nunito Sans"/>
              <a:ea typeface="Nunito Sans"/>
              <a:cs typeface="Nunito Sans"/>
              <a:sym typeface="Nunito Sans"/>
            </a:endParaRPr>
          </a:p>
        </p:txBody>
      </p:sp>
      <p:sp>
        <p:nvSpPr>
          <p:cNvPr id="357" name="Google Shape;357;p21"/>
          <p:cNvSpPr/>
          <p:nvPr/>
        </p:nvSpPr>
        <p:spPr>
          <a:xfrm>
            <a:off x="4520997" y="3657104"/>
            <a:ext cx="482578"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1"/>
          <p:cNvSpPr/>
          <p:nvPr/>
        </p:nvSpPr>
        <p:spPr>
          <a:xfrm>
            <a:off x="5155920" y="3672322"/>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5 %</a:t>
            </a:r>
            <a:endParaRPr b="0" i="0" sz="1400" u="none" cap="none" strike="noStrike">
              <a:solidFill>
                <a:schemeClr val="dk1"/>
              </a:solidFill>
              <a:latin typeface="Nunito Sans"/>
              <a:ea typeface="Nunito Sans"/>
              <a:cs typeface="Nunito Sans"/>
              <a:sym typeface="Nunito Sans"/>
            </a:endParaRPr>
          </a:p>
        </p:txBody>
      </p:sp>
      <p:sp>
        <p:nvSpPr>
          <p:cNvPr id="359" name="Google Shape;359;p21"/>
          <p:cNvSpPr/>
          <p:nvPr/>
        </p:nvSpPr>
        <p:spPr>
          <a:xfrm>
            <a:off x="812720" y="4078635"/>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Número de productos</a:t>
            </a:r>
            <a:endParaRPr b="0" i="0" sz="1400" u="none" cap="none" strike="noStrike">
              <a:solidFill>
                <a:schemeClr val="dk1"/>
              </a:solidFill>
              <a:latin typeface="Nunito Sans"/>
              <a:ea typeface="Nunito Sans"/>
              <a:cs typeface="Nunito Sans"/>
              <a:sym typeface="Nunito Sans"/>
            </a:endParaRPr>
          </a:p>
        </p:txBody>
      </p:sp>
      <p:sp>
        <p:nvSpPr>
          <p:cNvPr id="360" name="Google Shape;360;p21"/>
          <p:cNvSpPr/>
          <p:nvPr/>
        </p:nvSpPr>
        <p:spPr>
          <a:xfrm>
            <a:off x="4520997" y="4063417"/>
            <a:ext cx="387294"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1"/>
          <p:cNvSpPr/>
          <p:nvPr/>
        </p:nvSpPr>
        <p:spPr>
          <a:xfrm>
            <a:off x="5060636" y="4078635"/>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4 %</a:t>
            </a:r>
            <a:endParaRPr b="0" i="0" sz="1400" u="none" cap="none" strike="noStrike">
              <a:solidFill>
                <a:schemeClr val="dk1"/>
              </a:solidFill>
              <a:latin typeface="Nunito Sans"/>
              <a:ea typeface="Nunito Sans"/>
              <a:cs typeface="Nunito Sans"/>
              <a:sym typeface="Nunito Sans"/>
            </a:endParaRPr>
          </a:p>
        </p:txBody>
      </p:sp>
      <p:sp>
        <p:nvSpPr>
          <p:cNvPr id="362" name="Google Shape;362;p21"/>
          <p:cNvSpPr/>
          <p:nvPr/>
        </p:nvSpPr>
        <p:spPr>
          <a:xfrm>
            <a:off x="812720" y="4484948"/>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Canal por el que llegó</a:t>
            </a:r>
            <a:endParaRPr b="0" i="0" sz="1400" u="none" cap="none" strike="noStrike">
              <a:solidFill>
                <a:schemeClr val="dk1"/>
              </a:solidFill>
              <a:latin typeface="Nunito Sans"/>
              <a:ea typeface="Nunito Sans"/>
              <a:cs typeface="Nunito Sans"/>
              <a:sym typeface="Nunito Sans"/>
            </a:endParaRPr>
          </a:p>
        </p:txBody>
      </p:sp>
      <p:sp>
        <p:nvSpPr>
          <p:cNvPr id="363" name="Google Shape;363;p21"/>
          <p:cNvSpPr/>
          <p:nvPr/>
        </p:nvSpPr>
        <p:spPr>
          <a:xfrm>
            <a:off x="4520997" y="4469730"/>
            <a:ext cx="292010"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1"/>
          <p:cNvSpPr/>
          <p:nvPr/>
        </p:nvSpPr>
        <p:spPr>
          <a:xfrm>
            <a:off x="4965352" y="4484948"/>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3 %</a:t>
            </a:r>
            <a:endParaRPr b="0" i="0" sz="1400" u="none" cap="none" strike="noStrike">
              <a:solidFill>
                <a:schemeClr val="dk1"/>
              </a:solidFill>
              <a:latin typeface="Nunito Sans"/>
              <a:ea typeface="Nunito Sans"/>
              <a:cs typeface="Nunito Sans"/>
              <a:sym typeface="Nunito Sans"/>
            </a:endParaRPr>
          </a:p>
        </p:txBody>
      </p:sp>
      <p:sp>
        <p:nvSpPr>
          <p:cNvPr id="365" name="Google Shape;365;p21"/>
          <p:cNvSpPr/>
          <p:nvPr/>
        </p:nvSpPr>
        <p:spPr>
          <a:xfrm>
            <a:off x="812720" y="4891261"/>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Resto (región, segmento, mes, salario…)</a:t>
            </a:r>
            <a:endParaRPr b="0" i="0" sz="1400" u="none" cap="none" strike="noStrike">
              <a:solidFill>
                <a:schemeClr val="dk1"/>
              </a:solidFill>
              <a:latin typeface="Nunito Sans"/>
              <a:ea typeface="Nunito Sans"/>
              <a:cs typeface="Nunito Sans"/>
              <a:sym typeface="Nunito Sans"/>
            </a:endParaRPr>
          </a:p>
        </p:txBody>
      </p:sp>
      <p:sp>
        <p:nvSpPr>
          <p:cNvPr id="366" name="Google Shape;366;p21"/>
          <p:cNvSpPr/>
          <p:nvPr/>
        </p:nvSpPr>
        <p:spPr>
          <a:xfrm>
            <a:off x="4520997" y="4876043"/>
            <a:ext cx="387294"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1"/>
          <p:cNvSpPr/>
          <p:nvPr/>
        </p:nvSpPr>
        <p:spPr>
          <a:xfrm>
            <a:off x="5060636" y="4891261"/>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4 %</a:t>
            </a:r>
            <a:endParaRPr b="0" i="0" sz="1400" u="none" cap="none" strike="noStrike">
              <a:solidFill>
                <a:schemeClr val="dk1"/>
              </a:solidFill>
              <a:latin typeface="Nunito Sans"/>
              <a:ea typeface="Nunito Sans"/>
              <a:cs typeface="Nunito Sans"/>
              <a:sym typeface="Nunito Sans"/>
            </a:endParaRPr>
          </a:p>
        </p:txBody>
      </p:sp>
      <p:sp>
        <p:nvSpPr>
          <p:cNvPr id="368" name="Google Shape;368;p21"/>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10 · Peso de cada dato en el modelo de plan de pensiones</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373" name="Shape 373"/>
        <p:cNvGrpSpPr/>
        <p:nvPr/>
      </p:nvGrpSpPr>
      <p:grpSpPr>
        <a:xfrm>
          <a:off x="0" y="0"/>
          <a:ext cx="0" cy="0"/>
          <a:chOff x="0" y="0"/>
          <a:chExt cx="0" cy="0"/>
        </a:xfrm>
      </p:grpSpPr>
      <p:sp>
        <p:nvSpPr>
          <p:cNvPr id="374" name="Google Shape;374;p22"/>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EL RESULTADO DE LA NOTA</a:t>
            </a:r>
            <a:endParaRPr b="0" i="0" sz="1200" u="none" cap="none" strike="noStrike">
              <a:solidFill>
                <a:schemeClr val="dk1"/>
              </a:solidFill>
              <a:latin typeface="Nunito Sans"/>
              <a:ea typeface="Nunito Sans"/>
              <a:cs typeface="Nunito Sans"/>
              <a:sym typeface="Nunito Sans"/>
            </a:endParaRPr>
          </a:p>
        </p:txBody>
      </p:sp>
      <p:sp>
        <p:nvSpPr>
          <p:cNvPr id="375" name="Google Shape;375;p22"/>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Si llamamos primero a los de mejor nota, vendemos mucho más</a:t>
            </a:r>
            <a:endParaRPr sz="3600"/>
          </a:p>
        </p:txBody>
      </p:sp>
      <p:sp>
        <p:nvSpPr>
          <p:cNvPr id="376" name="Google Shape;376;p22"/>
          <p:cNvSpPr/>
          <p:nvPr/>
        </p:nvSpPr>
        <p:spPr>
          <a:xfrm>
            <a:off x="815895" y="2492139"/>
            <a:ext cx="3380389" cy="2109547"/>
          </a:xfrm>
          <a:prstGeom prst="roundRect">
            <a:avLst>
              <a:gd fmla="val 4666"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p:nvPr/>
        </p:nvSpPr>
        <p:spPr>
          <a:xfrm>
            <a:off x="1123298" y="2799544"/>
            <a:ext cx="2848551"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Llamando al azar</a:t>
            </a:r>
            <a:endParaRPr b="0" i="0" sz="1600" u="none" cap="none" strike="noStrike">
              <a:solidFill>
                <a:schemeClr val="dk1"/>
              </a:solidFill>
              <a:latin typeface="Nunito Sans"/>
              <a:ea typeface="Nunito Sans"/>
              <a:cs typeface="Nunito Sans"/>
              <a:sym typeface="Nunito Sans"/>
            </a:endParaRPr>
          </a:p>
        </p:txBody>
      </p:sp>
      <p:sp>
        <p:nvSpPr>
          <p:cNvPr id="378" name="Google Shape;378;p22"/>
          <p:cNvSpPr/>
          <p:nvPr/>
        </p:nvSpPr>
        <p:spPr>
          <a:xfrm>
            <a:off x="1123298" y="3160117"/>
            <a:ext cx="2848551"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8E9A92"/>
              </a:buClr>
              <a:buSzPts val="6000"/>
              <a:buFont typeface="Fraunces"/>
              <a:buNone/>
            </a:pPr>
            <a:r>
              <a:rPr b="1" i="0" lang="en-US" sz="6000" u="none" cap="none" strike="noStrike">
                <a:solidFill>
                  <a:srgbClr val="8E9A92"/>
                </a:solidFill>
                <a:latin typeface="Fraunces"/>
                <a:ea typeface="Fraunces"/>
                <a:cs typeface="Fraunces"/>
                <a:sym typeface="Fraunces"/>
              </a:rPr>
              <a:t>&lt; 1</a:t>
            </a:r>
            <a:endParaRPr b="0" i="0" sz="6000" u="none" cap="none" strike="noStrike">
              <a:solidFill>
                <a:schemeClr val="dk1"/>
              </a:solidFill>
              <a:latin typeface="Nunito Sans"/>
              <a:ea typeface="Nunito Sans"/>
              <a:cs typeface="Nunito Sans"/>
              <a:sym typeface="Nunito Sans"/>
            </a:endParaRPr>
          </a:p>
        </p:txBody>
      </p:sp>
      <p:sp>
        <p:nvSpPr>
          <p:cNvPr id="379" name="Google Shape;379;p22"/>
          <p:cNvSpPr/>
          <p:nvPr/>
        </p:nvSpPr>
        <p:spPr>
          <a:xfrm>
            <a:off x="1123298" y="3998292"/>
            <a:ext cx="2848551"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de cada 100 compra</a:t>
            </a:r>
            <a:endParaRPr b="0" i="0" sz="1600" u="none" cap="none" strike="noStrike">
              <a:solidFill>
                <a:schemeClr val="dk1"/>
              </a:solidFill>
              <a:latin typeface="Nunito Sans"/>
              <a:ea typeface="Nunito Sans"/>
              <a:cs typeface="Nunito Sans"/>
              <a:sym typeface="Nunito Sans"/>
            </a:endParaRPr>
          </a:p>
        </p:txBody>
      </p:sp>
      <p:sp>
        <p:nvSpPr>
          <p:cNvPr id="380" name="Google Shape;380;p22"/>
          <p:cNvSpPr/>
          <p:nvPr/>
        </p:nvSpPr>
        <p:spPr>
          <a:xfrm>
            <a:off x="4408967" y="2495314"/>
            <a:ext cx="3374039" cy="2103197"/>
          </a:xfrm>
          <a:prstGeom prst="roundRect">
            <a:avLst>
              <a:gd fmla="val 4529" name="adj"/>
            </a:avLst>
          </a:prstGeom>
          <a:solidFill>
            <a:srgbClr val="FFFFFF"/>
          </a:solidFill>
          <a:ln cap="flat" cmpd="sng" w="12700">
            <a:solidFill>
              <a:srgbClr val="7CC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4718991" y="2805348"/>
            <a:ext cx="283661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Al 10 % con mejor nota</a:t>
            </a:r>
            <a:endParaRPr b="0" i="0" sz="1600" u="none" cap="none" strike="noStrike">
              <a:solidFill>
                <a:schemeClr val="dk1"/>
              </a:solidFill>
              <a:latin typeface="Nunito Sans"/>
              <a:ea typeface="Nunito Sans"/>
              <a:cs typeface="Nunito Sans"/>
              <a:sym typeface="Nunito Sans"/>
            </a:endParaRPr>
          </a:p>
        </p:txBody>
      </p:sp>
      <p:sp>
        <p:nvSpPr>
          <p:cNvPr id="382" name="Google Shape;382;p22"/>
          <p:cNvSpPr/>
          <p:nvPr/>
        </p:nvSpPr>
        <p:spPr>
          <a:xfrm>
            <a:off x="4718991" y="3165921"/>
            <a:ext cx="2836610"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E62"/>
              </a:buClr>
              <a:buSzPts val="6000"/>
              <a:buFont typeface="Fraunces"/>
              <a:buNone/>
            </a:pPr>
            <a:r>
              <a:rPr b="1" i="0" lang="en-US" sz="6000" u="none" cap="none" strike="noStrike">
                <a:solidFill>
                  <a:srgbClr val="2F6E62"/>
                </a:solidFill>
                <a:latin typeface="Fraunces"/>
                <a:ea typeface="Fraunces"/>
                <a:cs typeface="Fraunces"/>
                <a:sym typeface="Fraunces"/>
              </a:rPr>
              <a:t>5</a:t>
            </a:r>
            <a:endParaRPr b="0" i="0" sz="6000" u="none" cap="none" strike="noStrike">
              <a:solidFill>
                <a:schemeClr val="dk1"/>
              </a:solidFill>
              <a:latin typeface="Nunito Sans"/>
              <a:ea typeface="Nunito Sans"/>
              <a:cs typeface="Nunito Sans"/>
              <a:sym typeface="Nunito Sans"/>
            </a:endParaRPr>
          </a:p>
        </p:txBody>
      </p:sp>
      <p:sp>
        <p:nvSpPr>
          <p:cNvPr id="383" name="Google Shape;383;p22"/>
          <p:cNvSpPr/>
          <p:nvPr/>
        </p:nvSpPr>
        <p:spPr>
          <a:xfrm>
            <a:off x="4718991" y="4004084"/>
            <a:ext cx="283661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de cada 100 compran</a:t>
            </a:r>
            <a:endParaRPr b="0" i="0" sz="1600" u="none" cap="none" strike="noStrike">
              <a:solidFill>
                <a:schemeClr val="dk1"/>
              </a:solidFill>
              <a:latin typeface="Nunito Sans"/>
              <a:ea typeface="Nunito Sans"/>
              <a:cs typeface="Nunito Sans"/>
              <a:sym typeface="Nunito Sans"/>
            </a:endParaRPr>
          </a:p>
        </p:txBody>
      </p:sp>
      <p:sp>
        <p:nvSpPr>
          <p:cNvPr id="384" name="Google Shape;384;p22"/>
          <p:cNvSpPr/>
          <p:nvPr/>
        </p:nvSpPr>
        <p:spPr>
          <a:xfrm>
            <a:off x="7992514" y="2488964"/>
            <a:ext cx="3386739" cy="2115897"/>
          </a:xfrm>
          <a:prstGeom prst="roundRect">
            <a:avLst>
              <a:gd fmla="val 4802"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p:nvPr/>
        </p:nvSpPr>
        <p:spPr>
          <a:xfrm>
            <a:off x="8297294" y="2793752"/>
            <a:ext cx="286049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Al 1 % con mejor nota</a:t>
            </a:r>
            <a:endParaRPr b="0" i="0" sz="1600" u="none" cap="none" strike="noStrike">
              <a:solidFill>
                <a:schemeClr val="dk1"/>
              </a:solidFill>
              <a:latin typeface="Nunito Sans"/>
              <a:ea typeface="Nunito Sans"/>
              <a:cs typeface="Nunito Sans"/>
              <a:sym typeface="Nunito Sans"/>
            </a:endParaRPr>
          </a:p>
        </p:txBody>
      </p:sp>
      <p:sp>
        <p:nvSpPr>
          <p:cNvPr id="386" name="Google Shape;386;p22"/>
          <p:cNvSpPr/>
          <p:nvPr/>
        </p:nvSpPr>
        <p:spPr>
          <a:xfrm>
            <a:off x="8297294" y="3154325"/>
            <a:ext cx="2860493"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CC242"/>
              </a:buClr>
              <a:buSzPts val="6000"/>
              <a:buFont typeface="Fraunces"/>
              <a:buNone/>
            </a:pPr>
            <a:r>
              <a:rPr b="1" i="0" lang="en-US" sz="6000" u="none" cap="none" strike="noStrike">
                <a:solidFill>
                  <a:srgbClr val="7CC242"/>
                </a:solidFill>
                <a:latin typeface="Fraunces"/>
                <a:ea typeface="Fraunces"/>
                <a:cs typeface="Fraunces"/>
                <a:sym typeface="Fraunces"/>
              </a:rPr>
              <a:t>16</a:t>
            </a:r>
            <a:endParaRPr b="0" i="0" sz="6000" u="none" cap="none" strike="noStrike">
              <a:solidFill>
                <a:schemeClr val="dk1"/>
              </a:solidFill>
              <a:latin typeface="Nunito Sans"/>
              <a:ea typeface="Nunito Sans"/>
              <a:cs typeface="Nunito Sans"/>
              <a:sym typeface="Nunito Sans"/>
            </a:endParaRPr>
          </a:p>
        </p:txBody>
      </p:sp>
      <p:sp>
        <p:nvSpPr>
          <p:cNvPr id="387" name="Google Shape;387;p22"/>
          <p:cNvSpPr/>
          <p:nvPr/>
        </p:nvSpPr>
        <p:spPr>
          <a:xfrm>
            <a:off x="8297294" y="3992500"/>
            <a:ext cx="286049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de cada 100 compran</a:t>
            </a:r>
            <a:endParaRPr b="0" i="0" sz="1600" u="none" cap="none" strike="noStrike">
              <a:solidFill>
                <a:schemeClr val="dk1"/>
              </a:solidFill>
              <a:latin typeface="Nunito Sans"/>
              <a:ea typeface="Nunito Sans"/>
              <a:cs typeface="Nunito Sans"/>
              <a:sym typeface="Nunito Sans"/>
            </a:endParaRPr>
          </a:p>
        </p:txBody>
      </p:sp>
      <p:sp>
        <p:nvSpPr>
          <p:cNvPr id="388" name="Google Shape;388;p22"/>
          <p:cNvSpPr/>
          <p:nvPr/>
        </p:nvSpPr>
        <p:spPr>
          <a:xfrm>
            <a:off x="812720" y="4960466"/>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Y ese 10 % con mejor nota reúne </a:t>
            </a:r>
            <a:r>
              <a:rPr b="1" i="0" lang="en-US" sz="1600" u="none" cap="none" strike="noStrike">
                <a:solidFill>
                  <a:srgbClr val="1F2A24"/>
                </a:solidFill>
                <a:latin typeface="Nunito Sans"/>
                <a:ea typeface="Nunito Sans"/>
                <a:cs typeface="Nunito Sans"/>
                <a:sym typeface="Nunito Sans"/>
              </a:rPr>
              <a:t>3 de cada 4 compradores</a:t>
            </a:r>
            <a:r>
              <a:rPr b="0" i="0" lang="en-US" sz="1600" u="none" cap="none" strike="noStrike">
                <a:solidFill>
                  <a:srgbClr val="1F2A24"/>
                </a:solidFill>
                <a:latin typeface="Nunito Sans"/>
                <a:ea typeface="Nunito Sans"/>
                <a:cs typeface="Nunito Sans"/>
                <a:sym typeface="Nunito Sans"/>
              </a:rPr>
              <a:t> del mes.</a:t>
            </a:r>
            <a:endParaRPr b="0" i="0" sz="1600" u="none" cap="none" strike="noStrike">
              <a:solidFill>
                <a:schemeClr val="dk1"/>
              </a:solidFill>
              <a:latin typeface="Nunito Sans"/>
              <a:ea typeface="Nunito Sans"/>
              <a:cs typeface="Nunito Sans"/>
              <a:sym typeface="Nunito Sans"/>
            </a:endParaRPr>
          </a:p>
        </p:txBody>
      </p:sp>
      <p:sp>
        <p:nvSpPr>
          <p:cNvPr id="389" name="Google Shape;389;p22"/>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11 · Comprobado con las compras reales de mayo de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394" name="Shape 394"/>
        <p:cNvGrpSpPr/>
        <p:nvPr/>
      </p:nvGrpSpPr>
      <p:grpSpPr>
        <a:xfrm>
          <a:off x="0" y="0"/>
          <a:ext cx="0" cy="0"/>
          <a:chOff x="0" y="0"/>
          <a:chExt cx="0" cy="0"/>
        </a:xfrm>
      </p:grpSpPr>
      <p:sp>
        <p:nvSpPr>
          <p:cNvPr id="395" name="Google Shape;395;p23"/>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¿FUNCIONA CON OTRO PRODUCTO?</a:t>
            </a:r>
            <a:endParaRPr b="0" i="0" sz="1200" u="none" cap="none" strike="noStrike">
              <a:solidFill>
                <a:schemeClr val="dk1"/>
              </a:solidFill>
              <a:latin typeface="Nunito Sans"/>
              <a:ea typeface="Nunito Sans"/>
              <a:cs typeface="Nunito Sans"/>
              <a:sym typeface="Nunito Sans"/>
            </a:endParaRPr>
          </a:p>
        </p:txBody>
      </p:sp>
      <p:sp>
        <p:nvSpPr>
          <p:cNvPr id="396" name="Google Shape;396;p23"/>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El mismo método funciona también con la cuenta easyMoney</a:t>
            </a:r>
            <a:endParaRPr sz="3600"/>
          </a:p>
        </p:txBody>
      </p:sp>
      <p:sp>
        <p:nvSpPr>
          <p:cNvPr id="397" name="Google Shape;397;p23"/>
          <p:cNvSpPr/>
          <p:nvPr/>
        </p:nvSpPr>
        <p:spPr>
          <a:xfrm>
            <a:off x="812720" y="2438152"/>
            <a:ext cx="5181643" cy="2793752"/>
          </a:xfrm>
          <a:prstGeom prst="roundRect">
            <a:avLst>
              <a:gd fmla="val 3637"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3"/>
          <p:cNvSpPr/>
          <p:nvPr/>
        </p:nvSpPr>
        <p:spPr>
          <a:xfrm>
            <a:off x="1117501" y="2742940"/>
            <a:ext cx="4709243"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Plan de pensiones</a:t>
            </a:r>
            <a:endParaRPr b="0" i="0" sz="2200" u="none" cap="none" strike="noStrike">
              <a:solidFill>
                <a:schemeClr val="dk1"/>
              </a:solidFill>
              <a:latin typeface="Nunito Sans"/>
              <a:ea typeface="Nunito Sans"/>
              <a:cs typeface="Nunito Sans"/>
              <a:sym typeface="Nunito Sans"/>
            </a:endParaRPr>
          </a:p>
        </p:txBody>
      </p:sp>
      <p:sp>
        <p:nvSpPr>
          <p:cNvPr id="399" name="Google Shape;399;p23"/>
          <p:cNvSpPr/>
          <p:nvPr/>
        </p:nvSpPr>
        <p:spPr>
          <a:xfrm>
            <a:off x="1117501" y="3154412"/>
            <a:ext cx="470924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Modelo elegido: árbol de decisión</a:t>
            </a:r>
            <a:endParaRPr b="0" i="0" sz="1200" u="none" cap="none" strike="noStrike">
              <a:solidFill>
                <a:schemeClr val="dk1"/>
              </a:solidFill>
              <a:latin typeface="Nunito Sans"/>
              <a:ea typeface="Nunito Sans"/>
              <a:cs typeface="Nunito Sans"/>
              <a:sym typeface="Nunito Sans"/>
            </a:endParaRPr>
          </a:p>
        </p:txBody>
      </p:sp>
      <p:sp>
        <p:nvSpPr>
          <p:cNvPr id="400" name="Google Shape;400;p23"/>
          <p:cNvSpPr/>
          <p:nvPr/>
        </p:nvSpPr>
        <p:spPr>
          <a:xfrm>
            <a:off x="1117501" y="3443982"/>
            <a:ext cx="4709243"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CC242"/>
              </a:buClr>
              <a:buSzPts val="6000"/>
              <a:buFont typeface="Fraunces"/>
              <a:buNone/>
            </a:pPr>
            <a:r>
              <a:rPr b="1" i="0" lang="en-US" sz="6000" u="none" cap="none" strike="noStrike">
                <a:solidFill>
                  <a:srgbClr val="7CC242"/>
                </a:solidFill>
                <a:latin typeface="Fraunces"/>
                <a:ea typeface="Fraunces"/>
                <a:cs typeface="Fraunces"/>
                <a:sym typeface="Fraunces"/>
              </a:rPr>
              <a:t>8,4</a:t>
            </a:r>
            <a:endParaRPr b="0" i="0" sz="6000" u="none" cap="none" strike="noStrike">
              <a:solidFill>
                <a:schemeClr val="dk1"/>
              </a:solidFill>
              <a:latin typeface="Nunito Sans"/>
              <a:ea typeface="Nunito Sans"/>
              <a:cs typeface="Nunito Sans"/>
              <a:sym typeface="Nunito Sans"/>
            </a:endParaRPr>
          </a:p>
        </p:txBody>
      </p:sp>
      <p:sp>
        <p:nvSpPr>
          <p:cNvPr id="401" name="Google Shape;401;p23"/>
          <p:cNvSpPr/>
          <p:nvPr/>
        </p:nvSpPr>
        <p:spPr>
          <a:xfrm>
            <a:off x="1117501" y="4282145"/>
            <a:ext cx="470924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de cada 100 compran en el 5 % con mejor nota</a:t>
            </a:r>
            <a:endParaRPr b="0" i="0" sz="1600" u="none" cap="none" strike="noStrike">
              <a:solidFill>
                <a:schemeClr val="dk1"/>
              </a:solidFill>
              <a:latin typeface="Nunito Sans"/>
              <a:ea typeface="Nunito Sans"/>
              <a:cs typeface="Nunito Sans"/>
              <a:sym typeface="Nunito Sans"/>
            </a:endParaRPr>
          </a:p>
        </p:txBody>
      </p:sp>
      <p:sp>
        <p:nvSpPr>
          <p:cNvPr id="402" name="Google Shape;402;p23"/>
          <p:cNvSpPr/>
          <p:nvPr/>
        </p:nvSpPr>
        <p:spPr>
          <a:xfrm>
            <a:off x="1117501" y="4642718"/>
            <a:ext cx="470924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Al azar, 0,66: 13 veces más</a:t>
            </a:r>
            <a:endParaRPr b="0" i="0" sz="1600" u="none" cap="none" strike="noStrike">
              <a:solidFill>
                <a:schemeClr val="dk1"/>
              </a:solidFill>
              <a:latin typeface="Nunito Sans"/>
              <a:ea typeface="Nunito Sans"/>
              <a:cs typeface="Nunito Sans"/>
              <a:sym typeface="Nunito Sans"/>
            </a:endParaRPr>
          </a:p>
        </p:txBody>
      </p:sp>
      <p:sp>
        <p:nvSpPr>
          <p:cNvPr id="403" name="Google Shape;403;p23"/>
          <p:cNvSpPr/>
          <p:nvPr/>
        </p:nvSpPr>
        <p:spPr>
          <a:xfrm>
            <a:off x="6197520" y="2438152"/>
            <a:ext cx="5181733" cy="2793752"/>
          </a:xfrm>
          <a:prstGeom prst="roundRect">
            <a:avLst>
              <a:gd fmla="val 363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3"/>
          <p:cNvSpPr/>
          <p:nvPr/>
        </p:nvSpPr>
        <p:spPr>
          <a:xfrm>
            <a:off x="6502301" y="2742940"/>
            <a:ext cx="4709336"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Cuenta easyMoney</a:t>
            </a:r>
            <a:endParaRPr b="0" i="0" sz="2200" u="none" cap="none" strike="noStrike">
              <a:solidFill>
                <a:schemeClr val="dk1"/>
              </a:solidFill>
              <a:latin typeface="Nunito Sans"/>
              <a:ea typeface="Nunito Sans"/>
              <a:cs typeface="Nunito Sans"/>
              <a:sym typeface="Nunito Sans"/>
            </a:endParaRPr>
          </a:p>
        </p:txBody>
      </p:sp>
      <p:sp>
        <p:nvSpPr>
          <p:cNvPr id="405" name="Google Shape;405;p23"/>
          <p:cNvSpPr/>
          <p:nvPr/>
        </p:nvSpPr>
        <p:spPr>
          <a:xfrm>
            <a:off x="6502301" y="3154412"/>
            <a:ext cx="470933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Modelo elegido: Gradient Boosting</a:t>
            </a:r>
            <a:endParaRPr b="0" i="0" sz="1200" u="none" cap="none" strike="noStrike">
              <a:solidFill>
                <a:schemeClr val="dk1"/>
              </a:solidFill>
              <a:latin typeface="Nunito Sans"/>
              <a:ea typeface="Nunito Sans"/>
              <a:cs typeface="Nunito Sans"/>
              <a:sym typeface="Nunito Sans"/>
            </a:endParaRPr>
          </a:p>
        </p:txBody>
      </p:sp>
      <p:sp>
        <p:nvSpPr>
          <p:cNvPr id="406" name="Google Shape;406;p23"/>
          <p:cNvSpPr/>
          <p:nvPr/>
        </p:nvSpPr>
        <p:spPr>
          <a:xfrm>
            <a:off x="6502301" y="3443982"/>
            <a:ext cx="4709336"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E62"/>
              </a:buClr>
              <a:buSzPts val="6000"/>
              <a:buFont typeface="Fraunces"/>
              <a:buNone/>
            </a:pPr>
            <a:r>
              <a:rPr b="1" i="0" lang="en-US" sz="6000" u="none" cap="none" strike="noStrike">
                <a:solidFill>
                  <a:srgbClr val="2F6E62"/>
                </a:solidFill>
                <a:latin typeface="Fraunces"/>
                <a:ea typeface="Fraunces"/>
                <a:cs typeface="Fraunces"/>
                <a:sym typeface="Fraunces"/>
              </a:rPr>
              <a:t>17,5</a:t>
            </a:r>
            <a:endParaRPr b="0" i="0" sz="6000" u="none" cap="none" strike="noStrike">
              <a:solidFill>
                <a:schemeClr val="dk1"/>
              </a:solidFill>
              <a:latin typeface="Nunito Sans"/>
              <a:ea typeface="Nunito Sans"/>
              <a:cs typeface="Nunito Sans"/>
              <a:sym typeface="Nunito Sans"/>
            </a:endParaRPr>
          </a:p>
        </p:txBody>
      </p:sp>
      <p:sp>
        <p:nvSpPr>
          <p:cNvPr id="407" name="Google Shape;407;p23"/>
          <p:cNvSpPr/>
          <p:nvPr/>
        </p:nvSpPr>
        <p:spPr>
          <a:xfrm>
            <a:off x="6502301" y="4282145"/>
            <a:ext cx="4709336"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de cada 100 compran en el 5 % con mejor nota</a:t>
            </a:r>
            <a:endParaRPr b="0" i="0" sz="1600" u="none" cap="none" strike="noStrike">
              <a:solidFill>
                <a:schemeClr val="dk1"/>
              </a:solidFill>
              <a:latin typeface="Nunito Sans"/>
              <a:ea typeface="Nunito Sans"/>
              <a:cs typeface="Nunito Sans"/>
              <a:sym typeface="Nunito Sans"/>
            </a:endParaRPr>
          </a:p>
        </p:txBody>
      </p:sp>
      <p:sp>
        <p:nvSpPr>
          <p:cNvPr id="408" name="Google Shape;408;p23"/>
          <p:cNvSpPr/>
          <p:nvPr/>
        </p:nvSpPr>
        <p:spPr>
          <a:xfrm>
            <a:off x="6502301" y="4642718"/>
            <a:ext cx="4709336"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Al azar, 1,7: 10 veces más</a:t>
            </a:r>
            <a:endParaRPr b="0" i="0" sz="1600" u="none" cap="none" strike="noStrike">
              <a:solidFill>
                <a:schemeClr val="dk1"/>
              </a:solidFill>
              <a:latin typeface="Nunito Sans"/>
              <a:ea typeface="Nunito Sans"/>
              <a:cs typeface="Nunito Sans"/>
              <a:sym typeface="Nunito Sans"/>
            </a:endParaRPr>
          </a:p>
        </p:txBody>
      </p:sp>
      <p:sp>
        <p:nvSpPr>
          <p:cNvPr id="409" name="Google Shape;409;p23"/>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11 · 2/2 · Comprobado con las compras reales de mayo de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414" name="Shape 414"/>
        <p:cNvGrpSpPr/>
        <p:nvPr/>
      </p:nvGrpSpPr>
      <p:grpSpPr>
        <a:xfrm>
          <a:off x="0" y="0"/>
          <a:ext cx="0" cy="0"/>
          <a:chOff x="0" y="0"/>
          <a:chExt cx="0" cy="0"/>
        </a:xfrm>
      </p:grpSpPr>
      <p:sp>
        <p:nvSpPr>
          <p:cNvPr id="415" name="Google Shape;415;p24"/>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5 · CÓMO HICIMOS LOS GRUPOS</a:t>
            </a:r>
            <a:endParaRPr b="0" i="0" sz="1200" u="none" cap="none" strike="noStrike">
              <a:solidFill>
                <a:schemeClr val="dk1"/>
              </a:solidFill>
              <a:latin typeface="Nunito Sans"/>
              <a:ea typeface="Nunito Sans"/>
              <a:cs typeface="Nunito Sans"/>
              <a:sym typeface="Nunito Sans"/>
            </a:endParaRPr>
          </a:p>
        </p:txBody>
      </p:sp>
      <p:sp>
        <p:nvSpPr>
          <p:cNvPr id="416" name="Google Shape;416;p24"/>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Juntar a los clientes que se parecen</a:t>
            </a:r>
            <a:endParaRPr sz="3600"/>
          </a:p>
        </p:txBody>
      </p:sp>
      <p:sp>
        <p:nvSpPr>
          <p:cNvPr id="417" name="Google Shape;417;p24"/>
          <p:cNvSpPr/>
          <p:nvPr/>
        </p:nvSpPr>
        <p:spPr>
          <a:xfrm>
            <a:off x="815895" y="1938474"/>
            <a:ext cx="5200744" cy="1279981"/>
          </a:xfrm>
          <a:prstGeom prst="roundRect">
            <a:avLst>
              <a:gd fmla="val 7690"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4"/>
          <p:cNvSpPr/>
          <p:nvPr/>
        </p:nvSpPr>
        <p:spPr>
          <a:xfrm>
            <a:off x="1047034" y="2169616"/>
            <a:ext cx="4880619"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Qué miramos</a:t>
            </a:r>
            <a:endParaRPr b="0" i="0" sz="1600" u="none" cap="none" strike="noStrike">
              <a:solidFill>
                <a:schemeClr val="dk1"/>
              </a:solidFill>
              <a:latin typeface="Nunito Sans"/>
              <a:ea typeface="Nunito Sans"/>
              <a:cs typeface="Nunito Sans"/>
              <a:sym typeface="Nunito Sans"/>
            </a:endParaRPr>
          </a:p>
        </p:txBody>
      </p:sp>
      <p:sp>
        <p:nvSpPr>
          <p:cNvPr id="419" name="Google Shape;419;p24"/>
          <p:cNvSpPr/>
          <p:nvPr/>
        </p:nvSpPr>
        <p:spPr>
          <a:xfrm>
            <a:off x="1047034" y="2489522"/>
            <a:ext cx="488061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Edad, ingresos, segmento, productos, antigüedad, compras y margen</a:t>
            </a:r>
            <a:endParaRPr b="0" i="0" sz="1400" u="none" cap="none" strike="noStrike">
              <a:solidFill>
                <a:schemeClr val="dk1"/>
              </a:solidFill>
              <a:latin typeface="Nunito Sans"/>
              <a:ea typeface="Nunito Sans"/>
              <a:cs typeface="Nunito Sans"/>
              <a:sym typeface="Nunito Sans"/>
            </a:endParaRPr>
          </a:p>
        </p:txBody>
      </p:sp>
      <p:sp>
        <p:nvSpPr>
          <p:cNvPr id="420" name="Google Shape;420;p24"/>
          <p:cNvSpPr/>
          <p:nvPr/>
        </p:nvSpPr>
        <p:spPr>
          <a:xfrm>
            <a:off x="6175334" y="1938474"/>
            <a:ext cx="5200744" cy="1279981"/>
          </a:xfrm>
          <a:prstGeom prst="roundRect">
            <a:avLst>
              <a:gd fmla="val 7690"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4"/>
          <p:cNvSpPr/>
          <p:nvPr/>
        </p:nvSpPr>
        <p:spPr>
          <a:xfrm>
            <a:off x="6406474" y="2169616"/>
            <a:ext cx="4880619"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Cuántos grupos</a:t>
            </a:r>
            <a:endParaRPr b="0" i="0" sz="1600" u="none" cap="none" strike="noStrike">
              <a:solidFill>
                <a:schemeClr val="dk1"/>
              </a:solidFill>
              <a:latin typeface="Nunito Sans"/>
              <a:ea typeface="Nunito Sans"/>
              <a:cs typeface="Nunito Sans"/>
              <a:sym typeface="Nunito Sans"/>
            </a:endParaRPr>
          </a:p>
        </p:txBody>
      </p:sp>
      <p:sp>
        <p:nvSpPr>
          <p:cNvPr id="422" name="Google Shape;422;p24"/>
          <p:cNvSpPr/>
          <p:nvPr/>
        </p:nvSpPr>
        <p:spPr>
          <a:xfrm>
            <a:off x="6406474" y="2489522"/>
            <a:ext cx="488061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La dirección pidió 7 u 8. Quien no tiene ningún producto va aparte</a:t>
            </a:r>
            <a:endParaRPr b="0" i="0" sz="1400" u="none" cap="none" strike="noStrike">
              <a:solidFill>
                <a:schemeClr val="dk1"/>
              </a:solidFill>
              <a:latin typeface="Nunito Sans"/>
              <a:ea typeface="Nunito Sans"/>
              <a:cs typeface="Nunito Sans"/>
              <a:sym typeface="Nunito Sans"/>
            </a:endParaRPr>
          </a:p>
        </p:txBody>
      </p:sp>
      <p:sp>
        <p:nvSpPr>
          <p:cNvPr id="423" name="Google Shape;423;p24"/>
          <p:cNvSpPr/>
          <p:nvPr/>
        </p:nvSpPr>
        <p:spPr>
          <a:xfrm>
            <a:off x="815895" y="3377146"/>
            <a:ext cx="5200744" cy="1279981"/>
          </a:xfrm>
          <a:prstGeom prst="roundRect">
            <a:avLst>
              <a:gd fmla="val 7690"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4"/>
          <p:cNvSpPr/>
          <p:nvPr/>
        </p:nvSpPr>
        <p:spPr>
          <a:xfrm>
            <a:off x="1047034" y="3608288"/>
            <a:ext cx="4880619"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Con qué foto</a:t>
            </a:r>
            <a:endParaRPr b="0" i="0" sz="1600" u="none" cap="none" strike="noStrike">
              <a:solidFill>
                <a:schemeClr val="dk1"/>
              </a:solidFill>
              <a:latin typeface="Nunito Sans"/>
              <a:ea typeface="Nunito Sans"/>
              <a:cs typeface="Nunito Sans"/>
              <a:sym typeface="Nunito Sans"/>
            </a:endParaRPr>
          </a:p>
        </p:txBody>
      </p:sp>
      <p:sp>
        <p:nvSpPr>
          <p:cNvPr id="425" name="Google Shape;425;p24"/>
          <p:cNvSpPr/>
          <p:nvPr/>
        </p:nvSpPr>
        <p:spPr>
          <a:xfrm>
            <a:off x="1047034" y="3928194"/>
            <a:ext cx="488061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Abril de 2019, para poder comprobar con las compras de mayo</a:t>
            </a:r>
            <a:endParaRPr b="0" i="0" sz="1400" u="none" cap="none" strike="noStrike">
              <a:solidFill>
                <a:schemeClr val="dk1"/>
              </a:solidFill>
              <a:latin typeface="Nunito Sans"/>
              <a:ea typeface="Nunito Sans"/>
              <a:cs typeface="Nunito Sans"/>
              <a:sym typeface="Nunito Sans"/>
            </a:endParaRPr>
          </a:p>
        </p:txBody>
      </p:sp>
      <p:sp>
        <p:nvSpPr>
          <p:cNvPr id="426" name="Google Shape;426;p24"/>
          <p:cNvSpPr/>
          <p:nvPr/>
        </p:nvSpPr>
        <p:spPr>
          <a:xfrm>
            <a:off x="6175334" y="3377146"/>
            <a:ext cx="5200744" cy="1279981"/>
          </a:xfrm>
          <a:prstGeom prst="roundRect">
            <a:avLst>
              <a:gd fmla="val 7690"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4"/>
          <p:cNvSpPr/>
          <p:nvPr/>
        </p:nvSpPr>
        <p:spPr>
          <a:xfrm>
            <a:off x="6406474" y="3608288"/>
            <a:ext cx="4880619"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Cómo los nombramos</a:t>
            </a:r>
            <a:endParaRPr b="0" i="0" sz="1600" u="none" cap="none" strike="noStrike">
              <a:solidFill>
                <a:schemeClr val="dk1"/>
              </a:solidFill>
              <a:latin typeface="Nunito Sans"/>
              <a:ea typeface="Nunito Sans"/>
              <a:cs typeface="Nunito Sans"/>
              <a:sym typeface="Nunito Sans"/>
            </a:endParaRPr>
          </a:p>
        </p:txBody>
      </p:sp>
      <p:sp>
        <p:nvSpPr>
          <p:cNvPr id="428" name="Google Shape;428;p24"/>
          <p:cNvSpPr/>
          <p:nvPr/>
        </p:nvSpPr>
        <p:spPr>
          <a:xfrm>
            <a:off x="6406474" y="3928194"/>
            <a:ext cx="4966429"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Mirando el perfil de cada grupo: edad, productos, ingresos</a:t>
            </a:r>
            <a:endParaRPr b="0" i="0" sz="1400" u="none" cap="none" strike="noStrike">
              <a:solidFill>
                <a:schemeClr val="dk1"/>
              </a:solidFill>
              <a:latin typeface="Nunito Sans"/>
              <a:ea typeface="Nunito Sans"/>
              <a:cs typeface="Nunito Sans"/>
              <a:sym typeface="Nunito Sans"/>
            </a:endParaRPr>
          </a:p>
        </p:txBody>
      </p:sp>
      <p:sp>
        <p:nvSpPr>
          <p:cNvPr id="429" name="Google Shape;429;p24"/>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12</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434" name="Shape 434"/>
        <p:cNvGrpSpPr/>
        <p:nvPr/>
      </p:nvGrpSpPr>
      <p:grpSpPr>
        <a:xfrm>
          <a:off x="0" y="0"/>
          <a:ext cx="0" cy="0"/>
          <a:chOff x="0" y="0"/>
          <a:chExt cx="0" cy="0"/>
        </a:xfrm>
      </p:grpSpPr>
      <p:sp>
        <p:nvSpPr>
          <p:cNvPr id="435" name="Google Shape;435;p25"/>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13 · Clientes en abril de 2019 · % sobre unos 440.000 clientes</a:t>
            </a:r>
            <a:endParaRPr b="0" i="0" sz="1200" u="none" cap="none" strike="noStrike">
              <a:solidFill>
                <a:schemeClr val="dk1"/>
              </a:solidFill>
              <a:latin typeface="Nunito Sans"/>
              <a:ea typeface="Nunito Sans"/>
              <a:cs typeface="Nunito Sans"/>
              <a:sym typeface="Nunito Sans"/>
            </a:endParaRPr>
          </a:p>
        </p:txBody>
      </p:sp>
      <p:sp>
        <p:nvSpPr>
          <p:cNvPr id="436" name="Google Shape;436;p25"/>
          <p:cNvSpPr/>
          <p:nvPr/>
        </p:nvSpPr>
        <p:spPr>
          <a:xfrm>
            <a:off x="812720" y="812726"/>
            <a:ext cx="1088987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5 · OCHO TIPOS DE CLIENTE</a:t>
            </a:r>
            <a:endParaRPr b="0" i="0" sz="1200" u="none" cap="none" strike="noStrike">
              <a:solidFill>
                <a:schemeClr val="dk1"/>
              </a:solidFill>
              <a:latin typeface="Nunito Sans"/>
              <a:ea typeface="Nunito Sans"/>
              <a:cs typeface="Nunito Sans"/>
              <a:sym typeface="Nunito Sans"/>
            </a:endParaRPr>
          </a:p>
        </p:txBody>
      </p:sp>
      <p:sp>
        <p:nvSpPr>
          <p:cNvPr id="437" name="Google Shape;437;p25"/>
          <p:cNvSpPr txBox="1"/>
          <p:nvPr>
            <p:ph type="title"/>
          </p:nvPr>
        </p:nvSpPr>
        <p:spPr>
          <a:xfrm>
            <a:off x="812720" y="1127646"/>
            <a:ext cx="10889873"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Cada cliente, en el grupo de los que se le parecen</a:t>
            </a:r>
            <a:endParaRPr sz="3600"/>
          </a:p>
        </p:txBody>
      </p:sp>
      <p:sp>
        <p:nvSpPr>
          <p:cNvPr id="438" name="Google Shape;438;p25"/>
          <p:cNvSpPr/>
          <p:nvPr/>
        </p:nvSpPr>
        <p:spPr>
          <a:xfrm>
            <a:off x="812720" y="2438338"/>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5"/>
          <p:cNvSpPr/>
          <p:nvPr/>
        </p:nvSpPr>
        <p:spPr>
          <a:xfrm>
            <a:off x="990516" y="2616138"/>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Universitarios inactivos</a:t>
            </a:r>
            <a:endParaRPr b="0" i="0" sz="1600" u="none" cap="none" strike="noStrike">
              <a:solidFill>
                <a:schemeClr val="dk1"/>
              </a:solidFill>
              <a:latin typeface="Nunito Sans"/>
              <a:ea typeface="Nunito Sans"/>
              <a:cs typeface="Nunito Sans"/>
              <a:sym typeface="Nunito Sans"/>
            </a:endParaRPr>
          </a:p>
        </p:txBody>
      </p:sp>
      <p:sp>
        <p:nvSpPr>
          <p:cNvPr id="440" name="Google Shape;440;p25"/>
          <p:cNvSpPr/>
          <p:nvPr/>
        </p:nvSpPr>
        <p:spPr>
          <a:xfrm>
            <a:off x="990516" y="3154325"/>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151.000 clientes · 34 %</a:t>
            </a:r>
            <a:endParaRPr b="0" i="0" sz="1200" u="none" cap="none" strike="noStrike">
              <a:solidFill>
                <a:schemeClr val="dk1"/>
              </a:solidFill>
              <a:latin typeface="Nunito Sans"/>
              <a:ea typeface="Nunito Sans"/>
              <a:cs typeface="Nunito Sans"/>
              <a:sym typeface="Nunito Sans"/>
            </a:endParaRPr>
          </a:p>
        </p:txBody>
      </p:sp>
      <p:sp>
        <p:nvSpPr>
          <p:cNvPr id="441" name="Google Shape;441;p25"/>
          <p:cNvSpPr/>
          <p:nvPr/>
        </p:nvSpPr>
        <p:spPr>
          <a:xfrm>
            <a:off x="990516" y="3418446"/>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Tienen la cuenta, pero casi no la usan</a:t>
            </a:r>
            <a:endParaRPr b="0" i="0" sz="1200" u="none" cap="none" strike="noStrike">
              <a:solidFill>
                <a:schemeClr val="dk1"/>
              </a:solidFill>
              <a:latin typeface="Nunito Sans"/>
              <a:ea typeface="Nunito Sans"/>
              <a:cs typeface="Nunito Sans"/>
              <a:sym typeface="Nunito Sans"/>
            </a:endParaRPr>
          </a:p>
        </p:txBody>
      </p:sp>
      <p:sp>
        <p:nvSpPr>
          <p:cNvPr id="442" name="Google Shape;442;p25"/>
          <p:cNvSpPr/>
          <p:nvPr/>
        </p:nvSpPr>
        <p:spPr>
          <a:xfrm>
            <a:off x="3487639" y="2438338"/>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5"/>
          <p:cNvSpPr/>
          <p:nvPr/>
        </p:nvSpPr>
        <p:spPr>
          <a:xfrm>
            <a:off x="3665436" y="2616138"/>
            <a:ext cx="2258112"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Sin producto</a:t>
            </a:r>
            <a:endParaRPr b="0" i="0" sz="1600" u="none" cap="none" strike="noStrike">
              <a:solidFill>
                <a:schemeClr val="dk1"/>
              </a:solidFill>
              <a:latin typeface="Nunito Sans"/>
              <a:ea typeface="Nunito Sans"/>
              <a:cs typeface="Nunito Sans"/>
              <a:sym typeface="Nunito Sans"/>
            </a:endParaRPr>
          </a:p>
        </p:txBody>
      </p:sp>
      <p:sp>
        <p:nvSpPr>
          <p:cNvPr id="444" name="Google Shape;444;p25"/>
          <p:cNvSpPr/>
          <p:nvPr/>
        </p:nvSpPr>
        <p:spPr>
          <a:xfrm>
            <a:off x="3665436" y="2910594"/>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110.000 clientes · 25 %</a:t>
            </a:r>
            <a:endParaRPr b="0" i="0" sz="1200" u="none" cap="none" strike="noStrike">
              <a:solidFill>
                <a:schemeClr val="dk1"/>
              </a:solidFill>
              <a:latin typeface="Nunito Sans"/>
              <a:ea typeface="Nunito Sans"/>
              <a:cs typeface="Nunito Sans"/>
              <a:sym typeface="Nunito Sans"/>
            </a:endParaRPr>
          </a:p>
        </p:txBody>
      </p:sp>
      <p:sp>
        <p:nvSpPr>
          <p:cNvPr id="445" name="Google Shape;445;p25"/>
          <p:cNvSpPr/>
          <p:nvPr/>
        </p:nvSpPr>
        <p:spPr>
          <a:xfrm>
            <a:off x="3665436" y="3174702"/>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Se dieron de alta y no tienen nada contratado</a:t>
            </a:r>
            <a:endParaRPr b="0" i="0" sz="1200" u="none" cap="none" strike="noStrike">
              <a:solidFill>
                <a:schemeClr val="dk1"/>
              </a:solidFill>
              <a:latin typeface="Nunito Sans"/>
              <a:ea typeface="Nunito Sans"/>
              <a:cs typeface="Nunito Sans"/>
              <a:sym typeface="Nunito Sans"/>
            </a:endParaRPr>
          </a:p>
        </p:txBody>
      </p:sp>
      <p:sp>
        <p:nvSpPr>
          <p:cNvPr id="446" name="Google Shape;446;p25"/>
          <p:cNvSpPr/>
          <p:nvPr/>
        </p:nvSpPr>
        <p:spPr>
          <a:xfrm>
            <a:off x="6162558" y="2438338"/>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5"/>
          <p:cNvSpPr/>
          <p:nvPr/>
        </p:nvSpPr>
        <p:spPr>
          <a:xfrm>
            <a:off x="6340355" y="2616138"/>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Universitarios recién llegados</a:t>
            </a:r>
            <a:endParaRPr b="0" i="0" sz="1600" u="none" cap="none" strike="noStrike">
              <a:solidFill>
                <a:schemeClr val="dk1"/>
              </a:solidFill>
              <a:latin typeface="Nunito Sans"/>
              <a:ea typeface="Nunito Sans"/>
              <a:cs typeface="Nunito Sans"/>
              <a:sym typeface="Nunito Sans"/>
            </a:endParaRPr>
          </a:p>
        </p:txBody>
      </p:sp>
      <p:sp>
        <p:nvSpPr>
          <p:cNvPr id="448" name="Google Shape;448;p25"/>
          <p:cNvSpPr/>
          <p:nvPr/>
        </p:nvSpPr>
        <p:spPr>
          <a:xfrm>
            <a:off x="6340355" y="3154325"/>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65.000 clientes · 15 %</a:t>
            </a:r>
            <a:endParaRPr b="0" i="0" sz="1200" u="none" cap="none" strike="noStrike">
              <a:solidFill>
                <a:schemeClr val="dk1"/>
              </a:solidFill>
              <a:latin typeface="Nunito Sans"/>
              <a:ea typeface="Nunito Sans"/>
              <a:cs typeface="Nunito Sans"/>
              <a:sym typeface="Nunito Sans"/>
            </a:endParaRPr>
          </a:p>
        </p:txBody>
      </p:sp>
      <p:sp>
        <p:nvSpPr>
          <p:cNvPr id="449" name="Google Shape;449;p25"/>
          <p:cNvSpPr/>
          <p:nvPr/>
        </p:nvSpPr>
        <p:spPr>
          <a:xfrm>
            <a:off x="6340355" y="3418446"/>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Jóvenes con pocos meses en el banco</a:t>
            </a:r>
            <a:endParaRPr b="0" i="0" sz="1200" u="none" cap="none" strike="noStrike">
              <a:solidFill>
                <a:schemeClr val="dk1"/>
              </a:solidFill>
              <a:latin typeface="Nunito Sans"/>
              <a:ea typeface="Nunito Sans"/>
              <a:cs typeface="Nunito Sans"/>
              <a:sym typeface="Nunito Sans"/>
            </a:endParaRPr>
          </a:p>
        </p:txBody>
      </p:sp>
      <p:sp>
        <p:nvSpPr>
          <p:cNvPr id="450" name="Google Shape;450;p25"/>
          <p:cNvSpPr/>
          <p:nvPr/>
        </p:nvSpPr>
        <p:spPr>
          <a:xfrm>
            <a:off x="8837478" y="2438338"/>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5"/>
          <p:cNvSpPr/>
          <p:nvPr/>
        </p:nvSpPr>
        <p:spPr>
          <a:xfrm>
            <a:off x="9015274" y="2616138"/>
            <a:ext cx="2258112"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Particulares básicos</a:t>
            </a:r>
            <a:endParaRPr b="0" i="0" sz="1600" u="none" cap="none" strike="noStrike">
              <a:solidFill>
                <a:schemeClr val="dk1"/>
              </a:solidFill>
              <a:latin typeface="Nunito Sans"/>
              <a:ea typeface="Nunito Sans"/>
              <a:cs typeface="Nunito Sans"/>
              <a:sym typeface="Nunito Sans"/>
            </a:endParaRPr>
          </a:p>
        </p:txBody>
      </p:sp>
      <p:sp>
        <p:nvSpPr>
          <p:cNvPr id="452" name="Google Shape;452;p25"/>
          <p:cNvSpPr/>
          <p:nvPr/>
        </p:nvSpPr>
        <p:spPr>
          <a:xfrm>
            <a:off x="9015274" y="2910594"/>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52.000 clientes · 12 %</a:t>
            </a:r>
            <a:endParaRPr b="0" i="0" sz="1200" u="none" cap="none" strike="noStrike">
              <a:solidFill>
                <a:schemeClr val="dk1"/>
              </a:solidFill>
              <a:latin typeface="Nunito Sans"/>
              <a:ea typeface="Nunito Sans"/>
              <a:cs typeface="Nunito Sans"/>
              <a:sym typeface="Nunito Sans"/>
            </a:endParaRPr>
          </a:p>
        </p:txBody>
      </p:sp>
      <p:sp>
        <p:nvSpPr>
          <p:cNvPr id="453" name="Google Shape;453;p25"/>
          <p:cNvSpPr/>
          <p:nvPr/>
        </p:nvSpPr>
        <p:spPr>
          <a:xfrm>
            <a:off x="9015274" y="3174702"/>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40-45 años, solo la cuenta</a:t>
            </a:r>
            <a:endParaRPr b="0" i="0" sz="1200" u="none" cap="none" strike="noStrike">
              <a:solidFill>
                <a:schemeClr val="dk1"/>
              </a:solidFill>
              <a:latin typeface="Nunito Sans"/>
              <a:ea typeface="Nunito Sans"/>
              <a:cs typeface="Nunito Sans"/>
              <a:sym typeface="Nunito Sans"/>
            </a:endParaRPr>
          </a:p>
        </p:txBody>
      </p:sp>
      <p:sp>
        <p:nvSpPr>
          <p:cNvPr id="454" name="Google Shape;454;p25"/>
          <p:cNvSpPr/>
          <p:nvPr/>
        </p:nvSpPr>
        <p:spPr>
          <a:xfrm>
            <a:off x="812720" y="4152813"/>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5"/>
          <p:cNvSpPr/>
          <p:nvPr/>
        </p:nvSpPr>
        <p:spPr>
          <a:xfrm>
            <a:off x="990516" y="4330613"/>
            <a:ext cx="2258112"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TOP ahorradores</a:t>
            </a:r>
            <a:endParaRPr b="0" i="0" sz="1600" u="none" cap="none" strike="noStrike">
              <a:solidFill>
                <a:schemeClr val="dk1"/>
              </a:solidFill>
              <a:latin typeface="Nunito Sans"/>
              <a:ea typeface="Nunito Sans"/>
              <a:cs typeface="Nunito Sans"/>
              <a:sym typeface="Nunito Sans"/>
            </a:endParaRPr>
          </a:p>
        </p:txBody>
      </p:sp>
      <p:sp>
        <p:nvSpPr>
          <p:cNvPr id="456" name="Google Shape;456;p25"/>
          <p:cNvSpPr/>
          <p:nvPr/>
        </p:nvSpPr>
        <p:spPr>
          <a:xfrm>
            <a:off x="990516" y="4625070"/>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17.500 clientes · 4 %</a:t>
            </a:r>
            <a:endParaRPr b="0" i="0" sz="1200" u="none" cap="none" strike="noStrike">
              <a:solidFill>
                <a:schemeClr val="dk1"/>
              </a:solidFill>
              <a:latin typeface="Nunito Sans"/>
              <a:ea typeface="Nunito Sans"/>
              <a:cs typeface="Nunito Sans"/>
              <a:sym typeface="Nunito Sans"/>
            </a:endParaRPr>
          </a:p>
        </p:txBody>
      </p:sp>
      <p:sp>
        <p:nvSpPr>
          <p:cNvPr id="457" name="Google Shape;457;p25"/>
          <p:cNvSpPr/>
          <p:nvPr/>
        </p:nvSpPr>
        <p:spPr>
          <a:xfrm>
            <a:off x="990516" y="4889178"/>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Los de más edad y más ingresos</a:t>
            </a:r>
            <a:endParaRPr b="0" i="0" sz="1200" u="none" cap="none" strike="noStrike">
              <a:solidFill>
                <a:schemeClr val="dk1"/>
              </a:solidFill>
              <a:latin typeface="Nunito Sans"/>
              <a:ea typeface="Nunito Sans"/>
              <a:cs typeface="Nunito Sans"/>
              <a:sym typeface="Nunito Sans"/>
            </a:endParaRPr>
          </a:p>
        </p:txBody>
      </p:sp>
      <p:sp>
        <p:nvSpPr>
          <p:cNvPr id="458" name="Google Shape;458;p25"/>
          <p:cNvSpPr/>
          <p:nvPr/>
        </p:nvSpPr>
        <p:spPr>
          <a:xfrm>
            <a:off x="3487639" y="4152813"/>
            <a:ext cx="2547935" cy="1587489"/>
          </a:xfrm>
          <a:prstGeom prst="roundRect">
            <a:avLst>
              <a:gd fmla="val 4800"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5"/>
          <p:cNvSpPr/>
          <p:nvPr/>
        </p:nvSpPr>
        <p:spPr>
          <a:xfrm>
            <a:off x="3665436" y="4330613"/>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600"/>
              <a:buFont typeface="Nunito Sans"/>
              <a:buNone/>
            </a:pPr>
            <a:r>
              <a:rPr b="1" i="0" lang="en-US" sz="1600" u="none" cap="none" strike="noStrike">
                <a:solidFill>
                  <a:srgbClr val="FFFFFF"/>
                </a:solidFill>
                <a:latin typeface="Nunito Sans"/>
                <a:ea typeface="Nunito Sans"/>
                <a:cs typeface="Nunito Sans"/>
                <a:sym typeface="Nunito Sans"/>
              </a:rPr>
              <a:t>Particulares con tarjeta</a:t>
            </a:r>
            <a:endParaRPr b="0" i="0" sz="1600" u="none" cap="none" strike="noStrike">
              <a:solidFill>
                <a:schemeClr val="dk1"/>
              </a:solidFill>
              <a:latin typeface="Nunito Sans"/>
              <a:ea typeface="Nunito Sans"/>
              <a:cs typeface="Nunito Sans"/>
              <a:sym typeface="Nunito Sans"/>
            </a:endParaRPr>
          </a:p>
        </p:txBody>
      </p:sp>
      <p:sp>
        <p:nvSpPr>
          <p:cNvPr id="460" name="Google Shape;460;p25"/>
          <p:cNvSpPr/>
          <p:nvPr/>
        </p:nvSpPr>
        <p:spPr>
          <a:xfrm>
            <a:off x="3665436" y="4868800"/>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18.800 clientes · 4 %</a:t>
            </a:r>
            <a:endParaRPr b="0" i="0" sz="1200" u="none" cap="none" strike="noStrike">
              <a:solidFill>
                <a:schemeClr val="dk1"/>
              </a:solidFill>
              <a:latin typeface="Nunito Sans"/>
              <a:ea typeface="Nunito Sans"/>
              <a:cs typeface="Nunito Sans"/>
              <a:sym typeface="Nunito Sans"/>
            </a:endParaRPr>
          </a:p>
        </p:txBody>
      </p:sp>
      <p:sp>
        <p:nvSpPr>
          <p:cNvPr id="461" name="Google Shape;461;p25"/>
          <p:cNvSpPr/>
          <p:nvPr/>
        </p:nvSpPr>
        <p:spPr>
          <a:xfrm>
            <a:off x="3665436" y="5132921"/>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Usan el banco a diario</a:t>
            </a:r>
            <a:endParaRPr b="0" i="0" sz="1200" u="none" cap="none" strike="noStrike">
              <a:solidFill>
                <a:schemeClr val="dk1"/>
              </a:solidFill>
              <a:latin typeface="Nunito Sans"/>
              <a:ea typeface="Nunito Sans"/>
              <a:cs typeface="Nunito Sans"/>
              <a:sym typeface="Nunito Sans"/>
            </a:endParaRPr>
          </a:p>
        </p:txBody>
      </p:sp>
      <p:sp>
        <p:nvSpPr>
          <p:cNvPr id="462" name="Google Shape;462;p25"/>
          <p:cNvSpPr/>
          <p:nvPr/>
        </p:nvSpPr>
        <p:spPr>
          <a:xfrm>
            <a:off x="6162558" y="4152813"/>
            <a:ext cx="2547935" cy="1587489"/>
          </a:xfrm>
          <a:prstGeom prst="roundRect">
            <a:avLst>
              <a:gd fmla="val 4800"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5"/>
          <p:cNvSpPr/>
          <p:nvPr/>
        </p:nvSpPr>
        <p:spPr>
          <a:xfrm>
            <a:off x="6340355" y="4330613"/>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Particulares con nómina</a:t>
            </a:r>
            <a:endParaRPr b="0" i="0" sz="1600" u="none" cap="none" strike="noStrike">
              <a:solidFill>
                <a:schemeClr val="dk1"/>
              </a:solidFill>
              <a:latin typeface="Nunito Sans"/>
              <a:ea typeface="Nunito Sans"/>
              <a:cs typeface="Nunito Sans"/>
              <a:sym typeface="Nunito Sans"/>
            </a:endParaRPr>
          </a:p>
        </p:txBody>
      </p:sp>
      <p:sp>
        <p:nvSpPr>
          <p:cNvPr id="464" name="Google Shape;464;p25"/>
          <p:cNvSpPr/>
          <p:nvPr/>
        </p:nvSpPr>
        <p:spPr>
          <a:xfrm>
            <a:off x="6340355" y="4868800"/>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16.700 clientes · 4 %</a:t>
            </a:r>
            <a:endParaRPr b="0" i="0" sz="1200" u="none" cap="none" strike="noStrike">
              <a:solidFill>
                <a:schemeClr val="dk1"/>
              </a:solidFill>
              <a:latin typeface="Nunito Sans"/>
              <a:ea typeface="Nunito Sans"/>
              <a:cs typeface="Nunito Sans"/>
              <a:sym typeface="Nunito Sans"/>
            </a:endParaRPr>
          </a:p>
        </p:txBody>
      </p:sp>
      <p:sp>
        <p:nvSpPr>
          <p:cNvPr id="465" name="Google Shape;465;p25"/>
          <p:cNvSpPr/>
          <p:nvPr/>
        </p:nvSpPr>
        <p:spPr>
          <a:xfrm>
            <a:off x="6340355" y="5132921"/>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Nómina con nosotros; 1 de cada 3, aún sin plan</a:t>
            </a:r>
            <a:endParaRPr b="0" i="0" sz="1200" u="none" cap="none" strike="noStrike">
              <a:solidFill>
                <a:schemeClr val="dk1"/>
              </a:solidFill>
              <a:latin typeface="Nunito Sans"/>
              <a:ea typeface="Nunito Sans"/>
              <a:cs typeface="Nunito Sans"/>
              <a:sym typeface="Nunito Sans"/>
            </a:endParaRPr>
          </a:p>
        </p:txBody>
      </p:sp>
      <p:sp>
        <p:nvSpPr>
          <p:cNvPr id="466" name="Google Shape;466;p25"/>
          <p:cNvSpPr/>
          <p:nvPr/>
        </p:nvSpPr>
        <p:spPr>
          <a:xfrm>
            <a:off x="8837478" y="4152813"/>
            <a:ext cx="2547935" cy="1587489"/>
          </a:xfrm>
          <a:prstGeom prst="roundRect">
            <a:avLst>
              <a:gd fmla="val 4800"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5"/>
          <p:cNvSpPr/>
          <p:nvPr/>
        </p:nvSpPr>
        <p:spPr>
          <a:xfrm>
            <a:off x="9015274" y="4330613"/>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Universitarios con nómina</a:t>
            </a:r>
            <a:endParaRPr b="0" i="0" sz="1600" u="none" cap="none" strike="noStrike">
              <a:solidFill>
                <a:schemeClr val="dk1"/>
              </a:solidFill>
              <a:latin typeface="Nunito Sans"/>
              <a:ea typeface="Nunito Sans"/>
              <a:cs typeface="Nunito Sans"/>
              <a:sym typeface="Nunito Sans"/>
            </a:endParaRPr>
          </a:p>
        </p:txBody>
      </p:sp>
      <p:sp>
        <p:nvSpPr>
          <p:cNvPr id="468" name="Google Shape;468;p25"/>
          <p:cNvSpPr/>
          <p:nvPr/>
        </p:nvSpPr>
        <p:spPr>
          <a:xfrm>
            <a:off x="9015274" y="4868800"/>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8.500 clientes · 2 %</a:t>
            </a:r>
            <a:endParaRPr b="0" i="0" sz="1200" u="none" cap="none" strike="noStrike">
              <a:solidFill>
                <a:schemeClr val="dk1"/>
              </a:solidFill>
              <a:latin typeface="Nunito Sans"/>
              <a:ea typeface="Nunito Sans"/>
              <a:cs typeface="Nunito Sans"/>
              <a:sym typeface="Nunito Sans"/>
            </a:endParaRPr>
          </a:p>
        </p:txBody>
      </p:sp>
      <p:sp>
        <p:nvSpPr>
          <p:cNvPr id="469" name="Google Shape;469;p25"/>
          <p:cNvSpPr/>
          <p:nvPr/>
        </p:nvSpPr>
        <p:spPr>
          <a:xfrm>
            <a:off x="9015274" y="5132921"/>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Su primer sueldo, ya con nosotros; casi la mitad sin plan</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474" name="Shape 474"/>
        <p:cNvGrpSpPr/>
        <p:nvPr/>
      </p:nvGrpSpPr>
      <p:grpSpPr>
        <a:xfrm>
          <a:off x="0" y="0"/>
          <a:ext cx="0" cy="0"/>
          <a:chOff x="0" y="0"/>
          <a:chExt cx="0" cy="0"/>
        </a:xfrm>
      </p:grpSpPr>
      <p:sp>
        <p:nvSpPr>
          <p:cNvPr id="475" name="Google Shape;475;p26"/>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JUNTANDO LAS DOS HERRAMIENTAS</a:t>
            </a:r>
            <a:endParaRPr b="0" i="0" sz="1200" u="none" cap="none" strike="noStrike">
              <a:solidFill>
                <a:schemeClr val="dk1"/>
              </a:solidFill>
              <a:latin typeface="Nunito Sans"/>
              <a:ea typeface="Nunito Sans"/>
              <a:cs typeface="Nunito Sans"/>
              <a:sym typeface="Nunito Sans"/>
            </a:endParaRPr>
          </a:p>
        </p:txBody>
      </p:sp>
      <p:sp>
        <p:nvSpPr>
          <p:cNvPr id="476" name="Google Shape;476;p26"/>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Quien tiene la nómina con nosotros compra 20 veces más</a:t>
            </a:r>
            <a:endParaRPr sz="3600"/>
          </a:p>
        </p:txBody>
      </p:sp>
      <p:sp>
        <p:nvSpPr>
          <p:cNvPr id="477" name="Google Shape;477;p26"/>
          <p:cNvSpPr/>
          <p:nvPr/>
        </p:nvSpPr>
        <p:spPr>
          <a:xfrm>
            <a:off x="812720" y="2438164"/>
            <a:ext cx="10883529"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De cada 100 clientes de cada grupo, cuántos contrataron un plan de pensiones en mayo. Media: menos de 1</a:t>
            </a:r>
            <a:endParaRPr b="0" i="0" sz="1400" u="none" cap="none" strike="noStrike">
              <a:solidFill>
                <a:schemeClr val="dk1"/>
              </a:solidFill>
              <a:latin typeface="Nunito Sans"/>
              <a:ea typeface="Nunito Sans"/>
              <a:cs typeface="Nunito Sans"/>
              <a:sym typeface="Nunito Sans"/>
            </a:endParaRPr>
          </a:p>
        </p:txBody>
      </p:sp>
      <p:sp>
        <p:nvSpPr>
          <p:cNvPr id="478" name="Google Shape;478;p26"/>
          <p:cNvSpPr/>
          <p:nvPr/>
        </p:nvSpPr>
        <p:spPr>
          <a:xfrm>
            <a:off x="812720" y="2814042"/>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Particulares con nómina</a:t>
            </a:r>
            <a:endParaRPr b="0" i="0" sz="1600" u="none" cap="none" strike="noStrike">
              <a:solidFill>
                <a:schemeClr val="dk1"/>
              </a:solidFill>
              <a:latin typeface="Nunito Sans"/>
              <a:ea typeface="Nunito Sans"/>
              <a:cs typeface="Nunito Sans"/>
              <a:sym typeface="Nunito Sans"/>
            </a:endParaRPr>
          </a:p>
        </p:txBody>
      </p:sp>
      <p:sp>
        <p:nvSpPr>
          <p:cNvPr id="479" name="Google Shape;479;p26"/>
          <p:cNvSpPr/>
          <p:nvPr/>
        </p:nvSpPr>
        <p:spPr>
          <a:xfrm>
            <a:off x="4013058" y="2816572"/>
            <a:ext cx="6349955" cy="279330"/>
          </a:xfrm>
          <a:custGeom>
            <a:rect b="b" l="l" r="r" t="t"/>
            <a:pathLst>
              <a:path extrusionOk="0" h="279330" w="6349955">
                <a:moveTo>
                  <a:pt x="0" y="0"/>
                </a:moveTo>
                <a:lnTo>
                  <a:pt x="6299155" y="0"/>
                </a:lnTo>
                <a:cubicBezTo>
                  <a:pt x="6312628" y="0"/>
                  <a:pt x="6325549" y="5352"/>
                  <a:pt x="6335076" y="14879"/>
                </a:cubicBezTo>
                <a:cubicBezTo>
                  <a:pt x="6344603" y="24406"/>
                  <a:pt x="6349955" y="37327"/>
                  <a:pt x="6349955" y="50800"/>
                </a:cubicBezTo>
                <a:lnTo>
                  <a:pt x="6349955" y="228530"/>
                </a:lnTo>
                <a:cubicBezTo>
                  <a:pt x="6349955" y="256586"/>
                  <a:pt x="6327211" y="279330"/>
                  <a:pt x="6299155" y="279330"/>
                </a:cubicBezTo>
                <a:lnTo>
                  <a:pt x="0" y="279330"/>
                </a:lnTo>
                <a:lnTo>
                  <a:pt x="0" y="0"/>
                </a:lnTo>
                <a:close/>
              </a:path>
            </a:pathLst>
          </a:cu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6"/>
          <p:cNvSpPr/>
          <p:nvPr/>
        </p:nvSpPr>
        <p:spPr>
          <a:xfrm>
            <a:off x="10515359" y="2814042"/>
            <a:ext cx="294625"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17</a:t>
            </a:r>
            <a:endParaRPr b="0" i="0" sz="1600" u="none" cap="none" strike="noStrike">
              <a:solidFill>
                <a:schemeClr val="dk1"/>
              </a:solidFill>
              <a:latin typeface="Nunito Sans"/>
              <a:ea typeface="Nunito Sans"/>
              <a:cs typeface="Nunito Sans"/>
              <a:sym typeface="Nunito Sans"/>
            </a:endParaRPr>
          </a:p>
        </p:txBody>
      </p:sp>
      <p:sp>
        <p:nvSpPr>
          <p:cNvPr id="481" name="Google Shape;481;p26"/>
          <p:cNvSpPr/>
          <p:nvPr/>
        </p:nvSpPr>
        <p:spPr>
          <a:xfrm>
            <a:off x="812720" y="3225428"/>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Universitarios con nómina</a:t>
            </a:r>
            <a:endParaRPr b="0" i="0" sz="1600" u="none" cap="none" strike="noStrike">
              <a:solidFill>
                <a:schemeClr val="dk1"/>
              </a:solidFill>
              <a:latin typeface="Nunito Sans"/>
              <a:ea typeface="Nunito Sans"/>
              <a:cs typeface="Nunito Sans"/>
              <a:sym typeface="Nunito Sans"/>
            </a:endParaRPr>
          </a:p>
        </p:txBody>
      </p:sp>
      <p:sp>
        <p:nvSpPr>
          <p:cNvPr id="482" name="Google Shape;482;p26"/>
          <p:cNvSpPr/>
          <p:nvPr/>
        </p:nvSpPr>
        <p:spPr>
          <a:xfrm>
            <a:off x="4013058" y="3227958"/>
            <a:ext cx="4902132" cy="279330"/>
          </a:xfrm>
          <a:custGeom>
            <a:rect b="b" l="l" r="r" t="t"/>
            <a:pathLst>
              <a:path extrusionOk="0" h="279330" w="4902132">
                <a:moveTo>
                  <a:pt x="0" y="0"/>
                </a:moveTo>
                <a:lnTo>
                  <a:pt x="4851332" y="0"/>
                </a:lnTo>
                <a:cubicBezTo>
                  <a:pt x="4864805" y="0"/>
                  <a:pt x="4877726" y="5352"/>
                  <a:pt x="4887253" y="14879"/>
                </a:cubicBezTo>
                <a:cubicBezTo>
                  <a:pt x="4896780" y="24406"/>
                  <a:pt x="4902132" y="37327"/>
                  <a:pt x="4902132" y="50800"/>
                </a:cubicBezTo>
                <a:lnTo>
                  <a:pt x="4902132" y="228530"/>
                </a:lnTo>
                <a:cubicBezTo>
                  <a:pt x="4902132" y="256586"/>
                  <a:pt x="4879388" y="279330"/>
                  <a:pt x="4851332" y="279330"/>
                </a:cubicBezTo>
                <a:lnTo>
                  <a:pt x="0" y="279330"/>
                </a:lnTo>
                <a:lnTo>
                  <a:pt x="0" y="0"/>
                </a:lnTo>
                <a:close/>
              </a:path>
            </a:pathLst>
          </a:cu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6"/>
          <p:cNvSpPr/>
          <p:nvPr/>
        </p:nvSpPr>
        <p:spPr>
          <a:xfrm>
            <a:off x="9067535" y="3225428"/>
            <a:ext cx="294625"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13</a:t>
            </a:r>
            <a:endParaRPr b="0" i="0" sz="1600" u="none" cap="none" strike="noStrike">
              <a:solidFill>
                <a:schemeClr val="dk1"/>
              </a:solidFill>
              <a:latin typeface="Nunito Sans"/>
              <a:ea typeface="Nunito Sans"/>
              <a:cs typeface="Nunito Sans"/>
              <a:sym typeface="Nunito Sans"/>
            </a:endParaRPr>
          </a:p>
        </p:txBody>
      </p:sp>
      <p:sp>
        <p:nvSpPr>
          <p:cNvPr id="484" name="Google Shape;484;p26"/>
          <p:cNvSpPr/>
          <p:nvPr/>
        </p:nvSpPr>
        <p:spPr>
          <a:xfrm>
            <a:off x="812720" y="3636814"/>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Particulares con tarjeta</a:t>
            </a:r>
            <a:endParaRPr b="0" i="0" sz="1600" u="none" cap="none" strike="noStrike">
              <a:solidFill>
                <a:schemeClr val="dk1"/>
              </a:solidFill>
              <a:latin typeface="Nunito Sans"/>
              <a:ea typeface="Nunito Sans"/>
              <a:cs typeface="Nunito Sans"/>
              <a:sym typeface="Nunito Sans"/>
            </a:endParaRPr>
          </a:p>
        </p:txBody>
      </p:sp>
      <p:sp>
        <p:nvSpPr>
          <p:cNvPr id="485" name="Google Shape;485;p26"/>
          <p:cNvSpPr/>
          <p:nvPr/>
        </p:nvSpPr>
        <p:spPr>
          <a:xfrm>
            <a:off x="4013058" y="3639344"/>
            <a:ext cx="654034" cy="279330"/>
          </a:xfrm>
          <a:custGeom>
            <a:rect b="b" l="l" r="r" t="t"/>
            <a:pathLst>
              <a:path extrusionOk="0" h="279330" w="654034">
                <a:moveTo>
                  <a:pt x="0" y="0"/>
                </a:moveTo>
                <a:lnTo>
                  <a:pt x="603234" y="0"/>
                </a:lnTo>
                <a:cubicBezTo>
                  <a:pt x="616707" y="0"/>
                  <a:pt x="629628" y="5352"/>
                  <a:pt x="639155" y="14879"/>
                </a:cubicBezTo>
                <a:cubicBezTo>
                  <a:pt x="648682" y="24406"/>
                  <a:pt x="654034" y="37327"/>
                  <a:pt x="654034" y="50800"/>
                </a:cubicBezTo>
                <a:lnTo>
                  <a:pt x="654034" y="228530"/>
                </a:lnTo>
                <a:cubicBezTo>
                  <a:pt x="654034" y="256586"/>
                  <a:pt x="631290" y="279330"/>
                  <a:pt x="603234" y="279330"/>
                </a:cubicBezTo>
                <a:lnTo>
                  <a:pt x="0" y="279330"/>
                </a:lnTo>
                <a:lnTo>
                  <a:pt x="0" y="0"/>
                </a:lnTo>
                <a:close/>
              </a:path>
            </a:pathLst>
          </a:cu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6"/>
          <p:cNvSpPr/>
          <p:nvPr/>
        </p:nvSpPr>
        <p:spPr>
          <a:xfrm>
            <a:off x="4819438" y="3636814"/>
            <a:ext cx="570785"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casi 2</a:t>
            </a:r>
            <a:endParaRPr b="0" i="0" sz="1600" u="none" cap="none" strike="noStrike">
              <a:solidFill>
                <a:schemeClr val="dk1"/>
              </a:solidFill>
              <a:latin typeface="Nunito Sans"/>
              <a:ea typeface="Nunito Sans"/>
              <a:cs typeface="Nunito Sans"/>
              <a:sym typeface="Nunito Sans"/>
            </a:endParaRPr>
          </a:p>
        </p:txBody>
      </p:sp>
      <p:sp>
        <p:nvSpPr>
          <p:cNvPr id="487" name="Google Shape;487;p26"/>
          <p:cNvSpPr/>
          <p:nvPr/>
        </p:nvSpPr>
        <p:spPr>
          <a:xfrm>
            <a:off x="812720" y="4048199"/>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Básicos y TOP ahorradores</a:t>
            </a:r>
            <a:endParaRPr b="0" i="0" sz="1600" u="none" cap="none" strike="noStrike">
              <a:solidFill>
                <a:schemeClr val="dk1"/>
              </a:solidFill>
              <a:latin typeface="Nunito Sans"/>
              <a:ea typeface="Nunito Sans"/>
              <a:cs typeface="Nunito Sans"/>
              <a:sym typeface="Nunito Sans"/>
            </a:endParaRPr>
          </a:p>
        </p:txBody>
      </p:sp>
      <p:sp>
        <p:nvSpPr>
          <p:cNvPr id="488" name="Google Shape;488;p26"/>
          <p:cNvSpPr/>
          <p:nvPr/>
        </p:nvSpPr>
        <p:spPr>
          <a:xfrm>
            <a:off x="4013058" y="4050742"/>
            <a:ext cx="266650" cy="279330"/>
          </a:xfrm>
          <a:custGeom>
            <a:rect b="b" l="l" r="r" t="t"/>
            <a:pathLst>
              <a:path extrusionOk="0" h="279330" w="266650">
                <a:moveTo>
                  <a:pt x="0" y="0"/>
                </a:moveTo>
                <a:lnTo>
                  <a:pt x="215850" y="0"/>
                </a:lnTo>
                <a:cubicBezTo>
                  <a:pt x="229323" y="0"/>
                  <a:pt x="242244" y="5352"/>
                  <a:pt x="251771" y="14879"/>
                </a:cubicBezTo>
                <a:cubicBezTo>
                  <a:pt x="261298" y="24406"/>
                  <a:pt x="266650" y="37327"/>
                  <a:pt x="266650" y="50800"/>
                </a:cubicBezTo>
                <a:lnTo>
                  <a:pt x="266650" y="228530"/>
                </a:lnTo>
                <a:cubicBezTo>
                  <a:pt x="266650" y="256586"/>
                  <a:pt x="243906" y="279330"/>
                  <a:pt x="215850" y="279330"/>
                </a:cubicBezTo>
                <a:lnTo>
                  <a:pt x="0" y="279330"/>
                </a:lnTo>
                <a:lnTo>
                  <a:pt x="0" y="0"/>
                </a:lnTo>
                <a:close/>
              </a:path>
            </a:pathLst>
          </a:custGeom>
          <a:solidFill>
            <a:srgbClr val="8FC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6"/>
          <p:cNvSpPr/>
          <p:nvPr/>
        </p:nvSpPr>
        <p:spPr>
          <a:xfrm>
            <a:off x="4432053" y="4048199"/>
            <a:ext cx="111196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menos de 1</a:t>
            </a:r>
            <a:endParaRPr b="0" i="0" sz="1600" u="none" cap="none" strike="noStrike">
              <a:solidFill>
                <a:schemeClr val="dk1"/>
              </a:solidFill>
              <a:latin typeface="Nunito Sans"/>
              <a:ea typeface="Nunito Sans"/>
              <a:cs typeface="Nunito Sans"/>
              <a:sym typeface="Nunito Sans"/>
            </a:endParaRPr>
          </a:p>
        </p:txBody>
      </p:sp>
      <p:sp>
        <p:nvSpPr>
          <p:cNvPr id="490" name="Google Shape;490;p26"/>
          <p:cNvSpPr/>
          <p:nvPr/>
        </p:nvSpPr>
        <p:spPr>
          <a:xfrm>
            <a:off x="812720" y="4459585"/>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600"/>
              <a:buFont typeface="Nunito Sans"/>
              <a:buNone/>
            </a:pPr>
            <a:r>
              <a:rPr b="0" i="0" lang="en-US" sz="1600" u="none" cap="none" strike="noStrike">
                <a:solidFill>
                  <a:srgbClr val="7A847E"/>
                </a:solidFill>
                <a:latin typeface="Nunito Sans"/>
                <a:ea typeface="Nunito Sans"/>
                <a:cs typeface="Nunito Sans"/>
                <a:sym typeface="Nunito Sans"/>
              </a:rPr>
              <a:t>Universitarios recién llegados</a:t>
            </a:r>
            <a:endParaRPr b="0" i="0" sz="1600" u="none" cap="none" strike="noStrike">
              <a:solidFill>
                <a:schemeClr val="dk1"/>
              </a:solidFill>
              <a:latin typeface="Nunito Sans"/>
              <a:ea typeface="Nunito Sans"/>
              <a:cs typeface="Nunito Sans"/>
              <a:sym typeface="Nunito Sans"/>
            </a:endParaRPr>
          </a:p>
        </p:txBody>
      </p:sp>
      <p:sp>
        <p:nvSpPr>
          <p:cNvPr id="491" name="Google Shape;491;p26"/>
          <p:cNvSpPr/>
          <p:nvPr/>
        </p:nvSpPr>
        <p:spPr>
          <a:xfrm>
            <a:off x="4013058" y="4462128"/>
            <a:ext cx="126985" cy="279330"/>
          </a:xfrm>
          <a:custGeom>
            <a:rect b="b" l="l" r="r" t="t"/>
            <a:pathLst>
              <a:path extrusionOk="0" h="279330" w="126985">
                <a:moveTo>
                  <a:pt x="0" y="0"/>
                </a:moveTo>
                <a:lnTo>
                  <a:pt x="76185" y="0"/>
                </a:lnTo>
                <a:cubicBezTo>
                  <a:pt x="89658" y="0"/>
                  <a:pt x="102579" y="5352"/>
                  <a:pt x="112106" y="14879"/>
                </a:cubicBezTo>
                <a:cubicBezTo>
                  <a:pt x="121633" y="24406"/>
                  <a:pt x="126985" y="37327"/>
                  <a:pt x="126985" y="50800"/>
                </a:cubicBezTo>
                <a:lnTo>
                  <a:pt x="126985" y="228530"/>
                </a:lnTo>
                <a:cubicBezTo>
                  <a:pt x="126985" y="256586"/>
                  <a:pt x="104241" y="279330"/>
                  <a:pt x="76185" y="279330"/>
                </a:cubicBezTo>
                <a:lnTo>
                  <a:pt x="0" y="279330"/>
                </a:lnTo>
                <a:lnTo>
                  <a:pt x="0" y="0"/>
                </a:lnTo>
                <a:close/>
              </a:path>
            </a:pathLst>
          </a:custGeom>
          <a:solidFill>
            <a:srgbClr val="C2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6"/>
          <p:cNvSpPr/>
          <p:nvPr/>
        </p:nvSpPr>
        <p:spPr>
          <a:xfrm>
            <a:off x="4292388" y="4459585"/>
            <a:ext cx="134872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600"/>
              <a:buFont typeface="Nunito Sans"/>
              <a:buNone/>
            </a:pPr>
            <a:r>
              <a:rPr b="0" i="0" lang="en-US" sz="1600" u="none" cap="none" strike="noStrike">
                <a:solidFill>
                  <a:srgbClr val="7A847E"/>
                </a:solidFill>
                <a:latin typeface="Nunito Sans"/>
                <a:ea typeface="Nunito Sans"/>
                <a:cs typeface="Nunito Sans"/>
                <a:sym typeface="Nunito Sans"/>
              </a:rPr>
              <a:t>1 de cada 300</a:t>
            </a:r>
            <a:endParaRPr b="0" i="0" sz="1600" u="none" cap="none" strike="noStrike">
              <a:solidFill>
                <a:schemeClr val="dk1"/>
              </a:solidFill>
              <a:latin typeface="Nunito Sans"/>
              <a:ea typeface="Nunito Sans"/>
              <a:cs typeface="Nunito Sans"/>
              <a:sym typeface="Nunito Sans"/>
            </a:endParaRPr>
          </a:p>
        </p:txBody>
      </p:sp>
      <p:sp>
        <p:nvSpPr>
          <p:cNvPr id="493" name="Google Shape;493;p26"/>
          <p:cNvSpPr/>
          <p:nvPr/>
        </p:nvSpPr>
        <p:spPr>
          <a:xfrm>
            <a:off x="812720" y="4870971"/>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600"/>
              <a:buFont typeface="Nunito Sans"/>
              <a:buNone/>
            </a:pPr>
            <a:r>
              <a:rPr b="0" i="0" lang="en-US" sz="1600" u="none" cap="none" strike="noStrike">
                <a:solidFill>
                  <a:srgbClr val="7A847E"/>
                </a:solidFill>
                <a:latin typeface="Nunito Sans"/>
                <a:ea typeface="Nunito Sans"/>
                <a:cs typeface="Nunito Sans"/>
                <a:sym typeface="Nunito Sans"/>
              </a:rPr>
              <a:t>Inactivos y sin producto</a:t>
            </a:r>
            <a:endParaRPr b="0" i="0" sz="1600" u="none" cap="none" strike="noStrike">
              <a:solidFill>
                <a:schemeClr val="dk1"/>
              </a:solidFill>
              <a:latin typeface="Nunito Sans"/>
              <a:ea typeface="Nunito Sans"/>
              <a:cs typeface="Nunito Sans"/>
              <a:sym typeface="Nunito Sans"/>
            </a:endParaRPr>
          </a:p>
        </p:txBody>
      </p:sp>
      <p:sp>
        <p:nvSpPr>
          <p:cNvPr id="494" name="Google Shape;494;p26"/>
          <p:cNvSpPr/>
          <p:nvPr/>
        </p:nvSpPr>
        <p:spPr>
          <a:xfrm>
            <a:off x="4013058" y="4873513"/>
            <a:ext cx="50721" cy="279330"/>
          </a:xfrm>
          <a:custGeom>
            <a:rect b="b" l="l" r="r" t="t"/>
            <a:pathLst>
              <a:path extrusionOk="0" h="279330" w="50721">
                <a:moveTo>
                  <a:pt x="0" y="0"/>
                </a:moveTo>
                <a:lnTo>
                  <a:pt x="0" y="0"/>
                </a:lnTo>
                <a:cubicBezTo>
                  <a:pt x="13452" y="0"/>
                  <a:pt x="26353" y="5344"/>
                  <a:pt x="35865" y="14856"/>
                </a:cubicBezTo>
                <a:cubicBezTo>
                  <a:pt x="45377" y="24368"/>
                  <a:pt x="50721" y="37269"/>
                  <a:pt x="50721" y="50721"/>
                </a:cubicBezTo>
                <a:lnTo>
                  <a:pt x="50721" y="228609"/>
                </a:lnTo>
                <a:cubicBezTo>
                  <a:pt x="50721" y="256621"/>
                  <a:pt x="28012" y="279330"/>
                  <a:pt x="0" y="279330"/>
                </a:cubicBezTo>
                <a:lnTo>
                  <a:pt x="0" y="279330"/>
                </a:lnTo>
                <a:lnTo>
                  <a:pt x="0" y="0"/>
                </a:lnTo>
                <a:close/>
              </a:path>
            </a:pathLst>
          </a:custGeom>
          <a:solidFill>
            <a:srgbClr val="C2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6"/>
          <p:cNvSpPr/>
          <p:nvPr/>
        </p:nvSpPr>
        <p:spPr>
          <a:xfrm>
            <a:off x="4216125" y="4870971"/>
            <a:ext cx="151701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600"/>
              <a:buFont typeface="Nunito Sans"/>
              <a:buNone/>
            </a:pPr>
            <a:r>
              <a:rPr b="0" i="0" lang="en-US" sz="1600" u="none" cap="none" strike="noStrike">
                <a:solidFill>
                  <a:srgbClr val="7A847E"/>
                </a:solidFill>
                <a:latin typeface="Nunito Sans"/>
                <a:ea typeface="Nunito Sans"/>
                <a:cs typeface="Nunito Sans"/>
                <a:sym typeface="Nunito Sans"/>
              </a:rPr>
              <a:t>1 de cada 1.000</a:t>
            </a:r>
            <a:endParaRPr b="0" i="0" sz="1600" u="none" cap="none" strike="noStrike">
              <a:solidFill>
                <a:schemeClr val="dk1"/>
              </a:solidFill>
              <a:latin typeface="Nunito Sans"/>
              <a:ea typeface="Nunito Sans"/>
              <a:cs typeface="Nunito Sans"/>
              <a:sym typeface="Nunito Sans"/>
            </a:endParaRPr>
          </a:p>
        </p:txBody>
      </p:sp>
      <p:sp>
        <p:nvSpPr>
          <p:cNvPr id="496" name="Google Shape;496;p26"/>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14 · Grupo de cada cliente en abril y compra real en mayo de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501" name="Shape 501"/>
        <p:cNvGrpSpPr/>
        <p:nvPr/>
      </p:nvGrpSpPr>
      <p:grpSpPr>
        <a:xfrm>
          <a:off x="0" y="0"/>
          <a:ext cx="0" cy="0"/>
          <a:chOff x="0" y="0"/>
          <a:chExt cx="0" cy="0"/>
        </a:xfrm>
      </p:grpSpPr>
      <p:sp>
        <p:nvSpPr>
          <p:cNvPr id="502" name="Google Shape;502;p27"/>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LA CAMPAÑA QUE PROPONEMOS</a:t>
            </a:r>
            <a:endParaRPr b="0" i="0" sz="1200" u="none" cap="none" strike="noStrike">
              <a:solidFill>
                <a:schemeClr val="dk1"/>
              </a:solidFill>
              <a:latin typeface="Nunito Sans"/>
              <a:ea typeface="Nunito Sans"/>
              <a:cs typeface="Nunito Sans"/>
              <a:sym typeface="Nunito Sans"/>
            </a:endParaRPr>
          </a:p>
        </p:txBody>
      </p:sp>
      <p:sp>
        <p:nvSpPr>
          <p:cNvPr id="503" name="Google Shape;503;p27"/>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Tres decisiones sencillas, grupo a grupo</a:t>
            </a:r>
            <a:endParaRPr sz="3600"/>
          </a:p>
        </p:txBody>
      </p:sp>
      <p:sp>
        <p:nvSpPr>
          <p:cNvPr id="504" name="Google Shape;504;p27"/>
          <p:cNvSpPr/>
          <p:nvPr/>
        </p:nvSpPr>
        <p:spPr>
          <a:xfrm>
            <a:off x="812720" y="1986099"/>
            <a:ext cx="3386739" cy="2987128"/>
          </a:xfrm>
          <a:prstGeom prst="roundRect">
            <a:avLst>
              <a:gd fmla="val 3401"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505" name="Google Shape;505;p27"/>
          <p:cNvPicPr preferRelativeResize="0"/>
          <p:nvPr/>
        </p:nvPicPr>
        <p:blipFill rotWithShape="1">
          <a:blip r:embed="rId3">
            <a:alphaModFix/>
          </a:blip>
          <a:srcRect b="0" l="0" r="0" t="0"/>
          <a:stretch/>
        </p:blipFill>
        <p:spPr>
          <a:xfrm>
            <a:off x="1117501" y="2290887"/>
            <a:ext cx="406315" cy="406315"/>
          </a:xfrm>
          <a:prstGeom prst="rect">
            <a:avLst/>
          </a:prstGeom>
          <a:noFill/>
          <a:ln>
            <a:noFill/>
          </a:ln>
        </p:spPr>
      </p:pic>
      <p:sp>
        <p:nvSpPr>
          <p:cNvPr id="506" name="Google Shape;506;p27"/>
          <p:cNvSpPr/>
          <p:nvPr/>
        </p:nvSpPr>
        <p:spPr>
          <a:xfrm>
            <a:off x="1117501" y="2824187"/>
            <a:ext cx="2860493" cy="346666"/>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Llamamos a todos</a:t>
            </a:r>
            <a:endParaRPr b="0" i="0" sz="2200" u="none" cap="none" strike="noStrike">
              <a:solidFill>
                <a:schemeClr val="dk1"/>
              </a:solidFill>
              <a:latin typeface="Nunito Sans"/>
              <a:ea typeface="Nunito Sans"/>
              <a:cs typeface="Nunito Sans"/>
              <a:sym typeface="Nunito Sans"/>
            </a:endParaRPr>
          </a:p>
        </p:txBody>
      </p:sp>
      <p:sp>
        <p:nvSpPr>
          <p:cNvPr id="507" name="Google Shape;507;p27"/>
          <p:cNvSpPr/>
          <p:nvPr/>
        </p:nvSpPr>
        <p:spPr>
          <a:xfrm>
            <a:off x="1117501" y="3272433"/>
            <a:ext cx="2860493"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400"/>
              <a:buFont typeface="Nunito Sans"/>
              <a:buNone/>
            </a:pPr>
            <a:r>
              <a:rPr b="0" i="0" lang="en-US" sz="1400" u="none" cap="none" strike="noStrike">
                <a:solidFill>
                  <a:srgbClr val="C9D4CC"/>
                </a:solidFill>
                <a:latin typeface="Nunito Sans"/>
                <a:ea typeface="Nunito Sans"/>
                <a:cs typeface="Nunito Sans"/>
                <a:sym typeface="Nunito Sans"/>
              </a:rPr>
              <a:t>Particulares con nómina</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C9D4CC"/>
              </a:buClr>
              <a:buSzPts val="1400"/>
              <a:buFont typeface="Nunito Sans"/>
              <a:buNone/>
            </a:pPr>
            <a:r>
              <a:rPr b="0" i="0" lang="en-US" sz="1400" u="none" cap="none" strike="noStrike">
                <a:solidFill>
                  <a:srgbClr val="C9D4CC"/>
                </a:solidFill>
                <a:latin typeface="Nunito Sans"/>
                <a:ea typeface="Nunito Sans"/>
                <a:cs typeface="Nunito Sans"/>
                <a:sym typeface="Nunito Sans"/>
              </a:rPr>
              <a:t>Universitarios con nómina</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C9D4CC"/>
              </a:buClr>
              <a:buSzPts val="1400"/>
              <a:buFont typeface="Nunito Sans"/>
              <a:buNone/>
            </a:pPr>
            <a:r>
              <a:rPr b="0" i="0" lang="en-US" sz="1400" u="none" cap="none" strike="noStrike">
                <a:solidFill>
                  <a:srgbClr val="C9D4CC"/>
                </a:solidFill>
                <a:latin typeface="Nunito Sans"/>
                <a:ea typeface="Nunito Sans"/>
                <a:cs typeface="Nunito Sans"/>
                <a:sym typeface="Nunito Sans"/>
              </a:rPr>
              <a:t>Particulares con tarjeta</a:t>
            </a:r>
            <a:endParaRPr b="0" i="0" sz="1400" u="none" cap="none" strike="noStrike">
              <a:solidFill>
                <a:schemeClr val="dk1"/>
              </a:solidFill>
              <a:latin typeface="Nunito Sans"/>
              <a:ea typeface="Nunito Sans"/>
              <a:cs typeface="Nunito Sans"/>
              <a:sym typeface="Nunito Sans"/>
            </a:endParaRPr>
          </a:p>
        </p:txBody>
      </p:sp>
      <p:sp>
        <p:nvSpPr>
          <p:cNvPr id="508" name="Google Shape;508;p27"/>
          <p:cNvSpPr/>
          <p:nvPr/>
        </p:nvSpPr>
        <p:spPr>
          <a:xfrm>
            <a:off x="1117501" y="4146104"/>
            <a:ext cx="2860493"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9A92"/>
              </a:buClr>
              <a:buSzPts val="1200"/>
              <a:buFont typeface="Nunito Sans"/>
              <a:buNone/>
            </a:pPr>
            <a:r>
              <a:rPr b="0" i="0" lang="en-US" sz="1200" u="none" cap="none" strike="noStrike">
                <a:solidFill>
                  <a:srgbClr val="8E9A92"/>
                </a:solidFill>
                <a:latin typeface="Nunito Sans"/>
                <a:ea typeface="Nunito Sans"/>
                <a:cs typeface="Nunito Sans"/>
                <a:sym typeface="Nunito Sans"/>
              </a:rPr>
              <a:t>10 % de los clientes. Compran tanto que merece la pena</a:t>
            </a:r>
            <a:endParaRPr b="0" i="0" sz="1200" u="none" cap="none" strike="noStrike">
              <a:solidFill>
                <a:schemeClr val="dk1"/>
              </a:solidFill>
              <a:latin typeface="Nunito Sans"/>
              <a:ea typeface="Nunito Sans"/>
              <a:cs typeface="Nunito Sans"/>
              <a:sym typeface="Nunito Sans"/>
            </a:endParaRPr>
          </a:p>
        </p:txBody>
      </p:sp>
      <p:sp>
        <p:nvSpPr>
          <p:cNvPr id="509" name="Google Shape;509;p27"/>
          <p:cNvSpPr/>
          <p:nvPr/>
        </p:nvSpPr>
        <p:spPr>
          <a:xfrm>
            <a:off x="4408967" y="1992449"/>
            <a:ext cx="3374039" cy="2974428"/>
          </a:xfrm>
          <a:prstGeom prst="roundRect">
            <a:avLst>
              <a:gd fmla="val 3202" name="adj"/>
            </a:avLst>
          </a:prstGeom>
          <a:solidFill>
            <a:srgbClr val="FFFFFF"/>
          </a:solidFill>
          <a:ln cap="flat" cmpd="sng" w="12700">
            <a:solidFill>
              <a:srgbClr val="7CC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ar" id="510" name="Google Shape;510;p27"/>
          <p:cNvPicPr preferRelativeResize="0"/>
          <p:nvPr/>
        </p:nvPicPr>
        <p:blipFill rotWithShape="1">
          <a:blip r:embed="rId4">
            <a:alphaModFix/>
          </a:blip>
          <a:srcRect b="0" l="0" r="0" t="0"/>
          <a:stretch/>
        </p:blipFill>
        <p:spPr>
          <a:xfrm>
            <a:off x="4718991" y="2302470"/>
            <a:ext cx="406315" cy="406315"/>
          </a:xfrm>
          <a:prstGeom prst="rect">
            <a:avLst/>
          </a:prstGeom>
          <a:noFill/>
          <a:ln>
            <a:noFill/>
          </a:ln>
        </p:spPr>
      </p:pic>
      <p:sp>
        <p:nvSpPr>
          <p:cNvPr id="511" name="Google Shape;511;p27"/>
          <p:cNvSpPr/>
          <p:nvPr/>
        </p:nvSpPr>
        <p:spPr>
          <a:xfrm>
            <a:off x="4718991" y="2835771"/>
            <a:ext cx="2836610" cy="667931"/>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Solo a los de mejor nota</a:t>
            </a:r>
            <a:endParaRPr b="0" i="0" sz="2200" u="none" cap="none" strike="noStrike">
              <a:solidFill>
                <a:schemeClr val="dk1"/>
              </a:solidFill>
              <a:latin typeface="Nunito Sans"/>
              <a:ea typeface="Nunito Sans"/>
              <a:cs typeface="Nunito Sans"/>
              <a:sym typeface="Nunito Sans"/>
            </a:endParaRPr>
          </a:p>
        </p:txBody>
      </p:sp>
      <p:sp>
        <p:nvSpPr>
          <p:cNvPr id="512" name="Google Shape;512;p27"/>
          <p:cNvSpPr/>
          <p:nvPr/>
        </p:nvSpPr>
        <p:spPr>
          <a:xfrm>
            <a:off x="4718991" y="3605287"/>
            <a:ext cx="2836610"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Particulares básicos</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TOP ahorradores</a:t>
            </a:r>
            <a:endParaRPr b="0" i="0" sz="1400" u="none" cap="none" strike="noStrike">
              <a:solidFill>
                <a:schemeClr val="dk1"/>
              </a:solidFill>
              <a:latin typeface="Nunito Sans"/>
              <a:ea typeface="Nunito Sans"/>
              <a:cs typeface="Nunito Sans"/>
              <a:sym typeface="Nunito Sans"/>
            </a:endParaRPr>
          </a:p>
        </p:txBody>
      </p:sp>
      <p:sp>
        <p:nvSpPr>
          <p:cNvPr id="513" name="Google Shape;513;p27"/>
          <p:cNvSpPr/>
          <p:nvPr/>
        </p:nvSpPr>
        <p:spPr>
          <a:xfrm>
            <a:off x="4718991" y="4230067"/>
            <a:ext cx="2836610"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16 % de los clientes. Solo si están en el 20 % con mejor nota de todo el banco</a:t>
            </a:r>
            <a:endParaRPr b="0" i="0" sz="1200" u="none" cap="none" strike="noStrike">
              <a:solidFill>
                <a:schemeClr val="dk1"/>
              </a:solidFill>
              <a:latin typeface="Nunito Sans"/>
              <a:ea typeface="Nunito Sans"/>
              <a:cs typeface="Nunito Sans"/>
              <a:sym typeface="Nunito Sans"/>
            </a:endParaRPr>
          </a:p>
        </p:txBody>
      </p:sp>
      <p:sp>
        <p:nvSpPr>
          <p:cNvPr id="514" name="Google Shape;514;p27"/>
          <p:cNvSpPr/>
          <p:nvPr/>
        </p:nvSpPr>
        <p:spPr>
          <a:xfrm>
            <a:off x="7995689" y="1989274"/>
            <a:ext cx="3380389" cy="2980778"/>
          </a:xfrm>
          <a:prstGeom prst="roundRect">
            <a:avLst>
              <a:gd fmla="val 3302" name="adj"/>
            </a:avLst>
          </a:prstGeom>
          <a:solidFill>
            <a:srgbClr val="F4F1E8"/>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515" name="Google Shape;515;p27"/>
          <p:cNvPicPr preferRelativeResize="0"/>
          <p:nvPr/>
        </p:nvPicPr>
        <p:blipFill rotWithShape="1">
          <a:blip r:embed="rId5">
            <a:alphaModFix/>
          </a:blip>
          <a:srcRect b="0" l="0" r="0" t="0"/>
          <a:stretch/>
        </p:blipFill>
        <p:spPr>
          <a:xfrm>
            <a:off x="8303092" y="2296678"/>
            <a:ext cx="406315" cy="406315"/>
          </a:xfrm>
          <a:prstGeom prst="rect">
            <a:avLst/>
          </a:prstGeom>
          <a:noFill/>
          <a:ln>
            <a:noFill/>
          </a:ln>
        </p:spPr>
      </p:pic>
      <p:sp>
        <p:nvSpPr>
          <p:cNvPr id="516" name="Google Shape;516;p27"/>
          <p:cNvSpPr/>
          <p:nvPr/>
        </p:nvSpPr>
        <p:spPr>
          <a:xfrm>
            <a:off x="8303092" y="2829979"/>
            <a:ext cx="2848551" cy="346666"/>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No llamamos</a:t>
            </a:r>
            <a:endParaRPr b="0" i="0" sz="2200" u="none" cap="none" strike="noStrike">
              <a:solidFill>
                <a:schemeClr val="dk1"/>
              </a:solidFill>
              <a:latin typeface="Nunito Sans"/>
              <a:ea typeface="Nunito Sans"/>
              <a:cs typeface="Nunito Sans"/>
              <a:sym typeface="Nunito Sans"/>
            </a:endParaRPr>
          </a:p>
        </p:txBody>
      </p:sp>
      <p:sp>
        <p:nvSpPr>
          <p:cNvPr id="517" name="Google Shape;517;p27"/>
          <p:cNvSpPr/>
          <p:nvPr/>
        </p:nvSpPr>
        <p:spPr>
          <a:xfrm>
            <a:off x="8303092" y="3278225"/>
            <a:ext cx="2848551"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Universitarios inactivos</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Universitarios recién llegados</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Sin producto</a:t>
            </a:r>
            <a:endParaRPr b="0" i="0" sz="1400" u="none" cap="none" strike="noStrike">
              <a:solidFill>
                <a:schemeClr val="dk1"/>
              </a:solidFill>
              <a:latin typeface="Nunito Sans"/>
              <a:ea typeface="Nunito Sans"/>
              <a:cs typeface="Nunito Sans"/>
              <a:sym typeface="Nunito Sans"/>
            </a:endParaRPr>
          </a:p>
        </p:txBody>
      </p:sp>
      <p:sp>
        <p:nvSpPr>
          <p:cNvPr id="518" name="Google Shape;518;p27"/>
          <p:cNvSpPr/>
          <p:nvPr/>
        </p:nvSpPr>
        <p:spPr>
          <a:xfrm>
            <a:off x="8303092" y="4151908"/>
            <a:ext cx="2848551"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74 % de los clientes. Casi no compran</a:t>
            </a:r>
            <a:endParaRPr b="0" i="0" sz="1200" u="none" cap="none" strike="noStrike">
              <a:solidFill>
                <a:schemeClr val="dk1"/>
              </a:solidFill>
              <a:latin typeface="Nunito Sans"/>
              <a:ea typeface="Nunito Sans"/>
              <a:cs typeface="Nunito Sans"/>
              <a:sym typeface="Nunito Sans"/>
            </a:endParaRPr>
          </a:p>
        </p:txBody>
      </p:sp>
      <p:sp>
        <p:nvSpPr>
          <p:cNvPr id="519" name="Google Shape;519;p27"/>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15 · Paso 6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24"/>
        </a:solidFill>
      </p:bgPr>
    </p:bg>
    <p:spTree>
      <p:nvGrpSpPr>
        <p:cNvPr id="524" name="Shape 524"/>
        <p:cNvGrpSpPr/>
        <p:nvPr/>
      </p:nvGrpSpPr>
      <p:grpSpPr>
        <a:xfrm>
          <a:off x="0" y="0"/>
          <a:ext cx="0" cy="0"/>
          <a:chOff x="0" y="0"/>
          <a:chExt cx="0" cy="0"/>
        </a:xfrm>
      </p:grpSpPr>
      <p:sp>
        <p:nvSpPr>
          <p:cNvPr id="525" name="Google Shape;525;p28"/>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9A92"/>
              </a:buClr>
              <a:buSzPts val="1200"/>
              <a:buFont typeface="Nunito Sans"/>
              <a:buNone/>
            </a:pPr>
            <a:r>
              <a:rPr b="0" i="0" lang="en-US" sz="1200" u="none" cap="none" strike="noStrike">
                <a:solidFill>
                  <a:srgbClr val="8E9A92"/>
                </a:solidFill>
                <a:latin typeface="Nunito Sans"/>
                <a:ea typeface="Nunito Sans"/>
                <a:cs typeface="Nunito Sans"/>
                <a:sym typeface="Nunito Sans"/>
              </a:rPr>
              <a:t>easyMoney · 16</a:t>
            </a:r>
            <a:endParaRPr b="0" i="0" sz="1200" u="none" cap="none" strike="noStrike">
              <a:solidFill>
                <a:schemeClr val="dk1"/>
              </a:solidFill>
              <a:latin typeface="Nunito Sans"/>
              <a:ea typeface="Nunito Sans"/>
              <a:cs typeface="Nunito Sans"/>
              <a:sym typeface="Nunito Sans"/>
            </a:endParaRPr>
          </a:p>
        </p:txBody>
      </p:sp>
      <p:sp>
        <p:nvSpPr>
          <p:cNvPr id="526" name="Google Shape;526;p28"/>
          <p:cNvSpPr/>
          <p:nvPr/>
        </p:nvSpPr>
        <p:spPr>
          <a:xfrm>
            <a:off x="812720" y="812726"/>
            <a:ext cx="1088987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pc="150" sz="1200" u="none" cap="none" strike="noStrike">
                <a:solidFill>
                  <a:srgbClr val="7CC242"/>
                </a:solidFill>
                <a:latin typeface="Nunito Sans"/>
                <a:ea typeface="Nunito Sans"/>
                <a:cs typeface="Nunito Sans"/>
                <a:sym typeface="Nunito Sans"/>
              </a:rPr>
              <a:t>PASO 6 · QUÉ PODEMOS ESPERAR</a:t>
            </a:r>
            <a:endParaRPr b="0" i="0" sz="1200" u="none" cap="none" strike="noStrike">
              <a:solidFill>
                <a:schemeClr val="dk1"/>
              </a:solidFill>
              <a:latin typeface="Nunito Sans"/>
              <a:ea typeface="Nunito Sans"/>
              <a:cs typeface="Nunito Sans"/>
              <a:sym typeface="Nunito Sans"/>
            </a:endParaRPr>
          </a:p>
        </p:txBody>
      </p:sp>
      <p:sp>
        <p:nvSpPr>
          <p:cNvPr id="527" name="Google Shape;527;p28"/>
          <p:cNvSpPr txBox="1"/>
          <p:nvPr>
            <p:ph type="title"/>
          </p:nvPr>
        </p:nvSpPr>
        <p:spPr>
          <a:xfrm>
            <a:off x="812720" y="1127646"/>
            <a:ext cx="10889873"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1E8"/>
              </a:buClr>
              <a:buSzPts val="3600"/>
              <a:buFont typeface="Fraunces"/>
              <a:buNone/>
            </a:pPr>
            <a:r>
              <a:rPr b="1" i="0" lang="en-US" sz="3600">
                <a:solidFill>
                  <a:srgbClr val="F4F1E8"/>
                </a:solidFill>
                <a:latin typeface="Fraunces"/>
                <a:ea typeface="Fraunces"/>
                <a:cs typeface="Fraunces"/>
                <a:sym typeface="Fraunces"/>
              </a:rPr>
              <a:t>Más de cinco veces más ventas por llamada</a:t>
            </a:r>
            <a:endParaRPr sz="3600"/>
          </a:p>
        </p:txBody>
      </p:sp>
      <p:cxnSp>
        <p:nvCxnSpPr>
          <p:cNvPr id="528" name="Google Shape;528;p28"/>
          <p:cNvCxnSpPr/>
          <p:nvPr/>
        </p:nvCxnSpPr>
        <p:spPr>
          <a:xfrm>
            <a:off x="812720" y="2001341"/>
            <a:ext cx="2982418" cy="0"/>
          </a:xfrm>
          <a:prstGeom prst="straightConnector1">
            <a:avLst/>
          </a:prstGeom>
          <a:noFill/>
          <a:ln cap="flat" cmpd="sng" w="25400">
            <a:solidFill>
              <a:srgbClr val="7CC242"/>
            </a:solidFill>
            <a:prstDash val="solid"/>
            <a:round/>
            <a:headEnd len="sm" w="sm" type="none"/>
            <a:tailEnd len="sm" w="sm" type="none"/>
          </a:ln>
        </p:spPr>
      </p:cxnSp>
      <p:sp>
        <p:nvSpPr>
          <p:cNvPr id="529" name="Google Shape;529;p28"/>
          <p:cNvSpPr/>
          <p:nvPr/>
        </p:nvSpPr>
        <p:spPr>
          <a:xfrm>
            <a:off x="812720" y="2214997"/>
            <a:ext cx="3071890" cy="52826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4F1E8"/>
              </a:buClr>
              <a:buSzPts val="3600"/>
              <a:buFont typeface="Fraunces"/>
              <a:buNone/>
            </a:pPr>
            <a:r>
              <a:rPr b="1" i="0" lang="en-US" sz="3600" u="none" cap="none" strike="noStrike">
                <a:solidFill>
                  <a:srgbClr val="F4F1E8"/>
                </a:solidFill>
                <a:latin typeface="Fraunces"/>
                <a:ea typeface="Fraunces"/>
                <a:cs typeface="Fraunces"/>
                <a:sym typeface="Fraunces"/>
              </a:rPr>
              <a:t>62.200</a:t>
            </a:r>
            <a:endParaRPr b="0" i="0" sz="3600" u="none" cap="none" strike="noStrike">
              <a:solidFill>
                <a:schemeClr val="dk1"/>
              </a:solidFill>
              <a:latin typeface="Nunito Sans"/>
              <a:ea typeface="Nunito Sans"/>
              <a:cs typeface="Nunito Sans"/>
              <a:sym typeface="Nunito Sans"/>
            </a:endParaRPr>
          </a:p>
        </p:txBody>
      </p:sp>
      <p:sp>
        <p:nvSpPr>
          <p:cNvPr id="530" name="Google Shape;530;p28"/>
          <p:cNvSpPr/>
          <p:nvPr/>
        </p:nvSpPr>
        <p:spPr>
          <a:xfrm>
            <a:off x="812720" y="2768575"/>
            <a:ext cx="307189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clientes a contactar</a:t>
            </a:r>
            <a:endParaRPr b="0" i="0" sz="1600" u="none" cap="none" strike="noStrike">
              <a:solidFill>
                <a:schemeClr val="dk1"/>
              </a:solidFill>
              <a:latin typeface="Nunito Sans"/>
              <a:ea typeface="Nunito Sans"/>
              <a:cs typeface="Nunito Sans"/>
              <a:sym typeface="Nunito Sans"/>
            </a:endParaRPr>
          </a:p>
        </p:txBody>
      </p:sp>
      <p:pic>
        <p:nvPicPr>
          <p:cNvPr descr="arrow-right" id="531" name="Google Shape;531;p28"/>
          <p:cNvPicPr preferRelativeResize="0"/>
          <p:nvPr/>
        </p:nvPicPr>
        <p:blipFill rotWithShape="1">
          <a:blip r:embed="rId3">
            <a:alphaModFix/>
          </a:blip>
          <a:srcRect b="0" l="0" r="0" t="0"/>
          <a:stretch/>
        </p:blipFill>
        <p:spPr>
          <a:xfrm>
            <a:off x="3998295" y="2419238"/>
            <a:ext cx="406315" cy="203157"/>
          </a:xfrm>
          <a:prstGeom prst="rect">
            <a:avLst/>
          </a:prstGeom>
          <a:noFill/>
          <a:ln>
            <a:noFill/>
          </a:ln>
        </p:spPr>
      </p:pic>
      <p:cxnSp>
        <p:nvCxnSpPr>
          <p:cNvPr id="532" name="Google Shape;532;p28"/>
          <p:cNvCxnSpPr/>
          <p:nvPr/>
        </p:nvCxnSpPr>
        <p:spPr>
          <a:xfrm>
            <a:off x="4607766" y="2001341"/>
            <a:ext cx="2982508" cy="0"/>
          </a:xfrm>
          <a:prstGeom prst="straightConnector1">
            <a:avLst/>
          </a:prstGeom>
          <a:noFill/>
          <a:ln cap="flat" cmpd="sng" w="25400">
            <a:solidFill>
              <a:srgbClr val="7CC242"/>
            </a:solidFill>
            <a:prstDash val="solid"/>
            <a:round/>
            <a:headEnd len="sm" w="sm" type="none"/>
            <a:tailEnd len="sm" w="sm" type="none"/>
          </a:ln>
        </p:spPr>
      </p:cxnSp>
      <p:sp>
        <p:nvSpPr>
          <p:cNvPr id="533" name="Google Shape;533;p28"/>
          <p:cNvSpPr/>
          <p:nvPr/>
        </p:nvSpPr>
        <p:spPr>
          <a:xfrm>
            <a:off x="4607766" y="2214997"/>
            <a:ext cx="3071984" cy="52826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4F1E8"/>
              </a:buClr>
              <a:buSzPts val="3600"/>
              <a:buFont typeface="Fraunces"/>
              <a:buNone/>
            </a:pPr>
            <a:r>
              <a:rPr b="1" i="0" lang="en-US" sz="3600" u="none" cap="none" strike="noStrike">
                <a:solidFill>
                  <a:srgbClr val="F4F1E8"/>
                </a:solidFill>
                <a:latin typeface="Fraunces"/>
                <a:ea typeface="Fraunces"/>
                <a:cs typeface="Fraunces"/>
                <a:sym typeface="Fraunces"/>
              </a:rPr>
              <a:t>≈ 2.300</a:t>
            </a:r>
            <a:endParaRPr b="0" i="0" sz="3600" u="none" cap="none" strike="noStrike">
              <a:solidFill>
                <a:schemeClr val="dk1"/>
              </a:solidFill>
              <a:latin typeface="Nunito Sans"/>
              <a:ea typeface="Nunito Sans"/>
              <a:cs typeface="Nunito Sans"/>
              <a:sym typeface="Nunito Sans"/>
            </a:endParaRPr>
          </a:p>
        </p:txBody>
      </p:sp>
      <p:sp>
        <p:nvSpPr>
          <p:cNvPr id="534" name="Google Shape;534;p28"/>
          <p:cNvSpPr/>
          <p:nvPr/>
        </p:nvSpPr>
        <p:spPr>
          <a:xfrm>
            <a:off x="4607766" y="2768575"/>
            <a:ext cx="307198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planes de pensiones</a:t>
            </a:r>
            <a:endParaRPr b="0" i="0" sz="1600" u="none" cap="none" strike="noStrike">
              <a:solidFill>
                <a:schemeClr val="dk1"/>
              </a:solidFill>
              <a:latin typeface="Nunito Sans"/>
              <a:ea typeface="Nunito Sans"/>
              <a:cs typeface="Nunito Sans"/>
              <a:sym typeface="Nunito Sans"/>
            </a:endParaRPr>
          </a:p>
        </p:txBody>
      </p:sp>
      <p:pic>
        <p:nvPicPr>
          <p:cNvPr descr="arrow-right" id="535" name="Google Shape;535;p28"/>
          <p:cNvPicPr preferRelativeResize="0"/>
          <p:nvPr/>
        </p:nvPicPr>
        <p:blipFill rotWithShape="1">
          <a:blip r:embed="rId3">
            <a:alphaModFix/>
          </a:blip>
          <a:srcRect b="0" l="0" r="0" t="0"/>
          <a:stretch/>
        </p:blipFill>
        <p:spPr>
          <a:xfrm>
            <a:off x="7793432" y="2419238"/>
            <a:ext cx="406315" cy="203157"/>
          </a:xfrm>
          <a:prstGeom prst="rect">
            <a:avLst/>
          </a:prstGeom>
          <a:noFill/>
          <a:ln>
            <a:noFill/>
          </a:ln>
        </p:spPr>
      </p:pic>
      <p:cxnSp>
        <p:nvCxnSpPr>
          <p:cNvPr id="536" name="Google Shape;536;p28"/>
          <p:cNvCxnSpPr/>
          <p:nvPr/>
        </p:nvCxnSpPr>
        <p:spPr>
          <a:xfrm>
            <a:off x="8402903" y="2001341"/>
            <a:ext cx="2982508" cy="0"/>
          </a:xfrm>
          <a:prstGeom prst="straightConnector1">
            <a:avLst/>
          </a:prstGeom>
          <a:noFill/>
          <a:ln cap="flat" cmpd="sng" w="25400">
            <a:solidFill>
              <a:srgbClr val="7CC242"/>
            </a:solidFill>
            <a:prstDash val="solid"/>
            <a:round/>
            <a:headEnd len="sm" w="sm" type="none"/>
            <a:tailEnd len="sm" w="sm" type="none"/>
          </a:ln>
        </p:spPr>
      </p:cxnSp>
      <p:sp>
        <p:nvSpPr>
          <p:cNvPr id="537" name="Google Shape;537;p28"/>
          <p:cNvSpPr/>
          <p:nvPr/>
        </p:nvSpPr>
        <p:spPr>
          <a:xfrm>
            <a:off x="8402903" y="2214997"/>
            <a:ext cx="3071984" cy="52826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7CC242"/>
              </a:buClr>
              <a:buSzPts val="3600"/>
              <a:buFont typeface="Fraunces"/>
              <a:buNone/>
            </a:pPr>
            <a:r>
              <a:rPr b="1" i="0" lang="en-US" sz="3600" u="none" cap="none" strike="noStrike">
                <a:solidFill>
                  <a:srgbClr val="7CC242"/>
                </a:solidFill>
                <a:latin typeface="Fraunces"/>
                <a:ea typeface="Fraunces"/>
                <a:cs typeface="Fraunces"/>
                <a:sym typeface="Fraunces"/>
              </a:rPr>
              <a:t>3,7 %</a:t>
            </a:r>
            <a:endParaRPr b="0" i="0" sz="3600" u="none" cap="none" strike="noStrike">
              <a:solidFill>
                <a:schemeClr val="dk1"/>
              </a:solidFill>
              <a:latin typeface="Nunito Sans"/>
              <a:ea typeface="Nunito Sans"/>
              <a:cs typeface="Nunito Sans"/>
              <a:sym typeface="Nunito Sans"/>
            </a:endParaRPr>
          </a:p>
        </p:txBody>
      </p:sp>
      <p:sp>
        <p:nvSpPr>
          <p:cNvPr id="538" name="Google Shape;538;p28"/>
          <p:cNvSpPr/>
          <p:nvPr/>
        </p:nvSpPr>
        <p:spPr>
          <a:xfrm>
            <a:off x="8402903" y="2768575"/>
            <a:ext cx="307198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compran, frente a 0,66 % al azar</a:t>
            </a:r>
            <a:endParaRPr b="0" i="0" sz="1600" u="none" cap="none" strike="noStrike">
              <a:solidFill>
                <a:schemeClr val="dk1"/>
              </a:solidFill>
              <a:latin typeface="Nunito Sans"/>
              <a:ea typeface="Nunito Sans"/>
              <a:cs typeface="Nunito Sans"/>
              <a:sym typeface="Nunito Sans"/>
            </a:endParaRPr>
          </a:p>
        </p:txBody>
      </p:sp>
      <p:sp>
        <p:nvSpPr>
          <p:cNvPr id="539" name="Google Shape;539;p28"/>
          <p:cNvSpPr/>
          <p:nvPr/>
        </p:nvSpPr>
        <p:spPr>
          <a:xfrm>
            <a:off x="812720" y="3403588"/>
            <a:ext cx="6495961" cy="571431"/>
          </a:xfrm>
          <a:prstGeom prst="roundRect">
            <a:avLst>
              <a:gd fmla="val 13335" name="adj"/>
            </a:avLst>
          </a:prstGeom>
          <a:solidFill>
            <a:srgbClr val="2B3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8"/>
          <p:cNvSpPr/>
          <p:nvPr/>
        </p:nvSpPr>
        <p:spPr>
          <a:xfrm>
            <a:off x="1015920" y="3606788"/>
            <a:ext cx="6272248" cy="19043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1600"/>
              <a:buFont typeface="Nunito Sans"/>
              <a:buNone/>
            </a:pPr>
            <a:r>
              <a:rPr b="0" i="0" lang="en-US" sz="1600" u="none" cap="none" strike="noStrike">
                <a:solidFill>
                  <a:srgbClr val="F4F1E8"/>
                </a:solidFill>
                <a:latin typeface="Nunito Sans"/>
                <a:ea typeface="Nunito Sans"/>
                <a:cs typeface="Nunito Sans"/>
                <a:sym typeface="Nunito Sans"/>
              </a:rPr>
              <a:t>Medido con lo que pasó de verdad en mayo de 2019, no supuesto</a:t>
            </a:r>
            <a:endParaRPr b="0" i="0" sz="1600" u="none" cap="none" strike="noStrike">
              <a:solidFill>
                <a:schemeClr val="dk1"/>
              </a:solidFill>
              <a:latin typeface="Nunito Sans"/>
              <a:ea typeface="Nunito Sans"/>
              <a:cs typeface="Nunito Sans"/>
              <a:sym typeface="Nunito Sans"/>
            </a:endParaRPr>
          </a:p>
        </p:txBody>
      </p:sp>
      <p:sp>
        <p:nvSpPr>
          <p:cNvPr id="541" name="Google Shape;541;p28"/>
          <p:cNvSpPr/>
          <p:nvPr/>
        </p:nvSpPr>
        <p:spPr>
          <a:xfrm>
            <a:off x="806561" y="4121386"/>
            <a:ext cx="10889873"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9A92"/>
              </a:buClr>
              <a:buSzPts val="1200"/>
              <a:buFont typeface="Nunito Sans"/>
              <a:buNone/>
            </a:pPr>
            <a:r>
              <a:rPr b="0" i="0" lang="en-US" sz="1200" u="none" cap="none" strike="noStrike">
                <a:solidFill>
                  <a:srgbClr val="8E9A92"/>
                </a:solidFill>
                <a:latin typeface="Nunito Sans"/>
                <a:ea typeface="Nunito Sans"/>
                <a:cs typeface="Nunito Sans"/>
                <a:sym typeface="Nunito Sans"/>
              </a:rPr>
              <a:t>Orientativo: si se repitiera lo de mayo, el margen estaría entre 13 y 14 M€ en el mes. Es una estimación con supuestos de coste, no un compromiso: por eso proponemos medirlo primero.</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546" name="Shape 546"/>
        <p:cNvGrpSpPr/>
        <p:nvPr/>
      </p:nvGrpSpPr>
      <p:grpSpPr>
        <a:xfrm>
          <a:off x="0" y="0"/>
          <a:ext cx="0" cy="0"/>
          <a:chOff x="0" y="0"/>
          <a:chExt cx="0" cy="0"/>
        </a:xfrm>
      </p:grpSpPr>
      <p:sp>
        <p:nvSpPr>
          <p:cNvPr id="547" name="Google Shape;547;p29"/>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¿POR QUÉ NO LLAMAR A MÁS GENTE?</a:t>
            </a:r>
            <a:endParaRPr b="0" i="0" sz="1200" u="none" cap="none" strike="noStrike">
              <a:solidFill>
                <a:schemeClr val="dk1"/>
              </a:solidFill>
              <a:latin typeface="Nunito Sans"/>
              <a:ea typeface="Nunito Sans"/>
              <a:cs typeface="Nunito Sans"/>
              <a:sym typeface="Nunito Sans"/>
            </a:endParaRPr>
          </a:p>
        </p:txBody>
      </p:sp>
      <p:sp>
        <p:nvSpPr>
          <p:cNvPr id="548" name="Google Shape;548;p29"/>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Casi todas las ventas, con la mitad de llamadas</a:t>
            </a:r>
            <a:endParaRPr sz="3600"/>
          </a:p>
        </p:txBody>
      </p:sp>
      <p:sp>
        <p:nvSpPr>
          <p:cNvPr id="549" name="Google Shape;549;p29"/>
          <p:cNvSpPr/>
          <p:nvPr/>
        </p:nvSpPr>
        <p:spPr>
          <a:xfrm>
            <a:off x="812720" y="1884487"/>
            <a:ext cx="2932856"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Llamar solo según la nota</a:t>
            </a:r>
            <a:endParaRPr b="0" i="0" sz="1600" u="none" cap="none" strike="noStrike">
              <a:solidFill>
                <a:schemeClr val="dk1"/>
              </a:solidFill>
              <a:latin typeface="Nunito Sans"/>
              <a:ea typeface="Nunito Sans"/>
              <a:cs typeface="Nunito Sans"/>
              <a:sym typeface="Nunito Sans"/>
            </a:endParaRPr>
          </a:p>
        </p:txBody>
      </p:sp>
      <p:sp>
        <p:nvSpPr>
          <p:cNvPr id="550" name="Google Shape;550;p29"/>
          <p:cNvSpPr/>
          <p:nvPr/>
        </p:nvSpPr>
        <p:spPr>
          <a:xfrm>
            <a:off x="9755444" y="1884487"/>
            <a:ext cx="1623809" cy="309802"/>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 2.480 ventas</a:t>
            </a:r>
            <a:endParaRPr b="0" i="0" sz="1600" u="none" cap="none" strike="noStrike">
              <a:solidFill>
                <a:schemeClr val="dk1"/>
              </a:solidFill>
              <a:latin typeface="Nunito Sans"/>
              <a:ea typeface="Nunito Sans"/>
              <a:cs typeface="Nunito Sans"/>
              <a:sym typeface="Nunito Sans"/>
            </a:endParaRPr>
          </a:p>
        </p:txBody>
      </p:sp>
      <p:sp>
        <p:nvSpPr>
          <p:cNvPr id="551" name="Google Shape;551;p29"/>
          <p:cNvSpPr/>
          <p:nvPr/>
        </p:nvSpPr>
        <p:spPr>
          <a:xfrm>
            <a:off x="812720" y="2245060"/>
            <a:ext cx="8889919" cy="304781"/>
          </a:xfrm>
          <a:prstGeom prst="roundRect">
            <a:avLst>
              <a:gd fmla="val 16668" name="adj"/>
            </a:avLst>
          </a:prstGeom>
          <a:solidFill>
            <a:srgbClr val="C2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9"/>
          <p:cNvSpPr/>
          <p:nvPr/>
        </p:nvSpPr>
        <p:spPr>
          <a:xfrm>
            <a:off x="9854985" y="2255205"/>
            <a:ext cx="82864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127.700</a:t>
            </a:r>
            <a:endParaRPr b="0" i="0" sz="1600" u="none" cap="none" strike="noStrike">
              <a:solidFill>
                <a:schemeClr val="dk1"/>
              </a:solidFill>
              <a:latin typeface="Nunito Sans"/>
              <a:ea typeface="Nunito Sans"/>
              <a:cs typeface="Nunito Sans"/>
              <a:sym typeface="Nunito Sans"/>
            </a:endParaRPr>
          </a:p>
        </p:txBody>
      </p:sp>
      <p:sp>
        <p:nvSpPr>
          <p:cNvPr id="553" name="Google Shape;553;p29"/>
          <p:cNvSpPr/>
          <p:nvPr/>
        </p:nvSpPr>
        <p:spPr>
          <a:xfrm>
            <a:off x="812720" y="2752998"/>
            <a:ext cx="3689112"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600"/>
              <a:buFont typeface="Nunito Sans"/>
              <a:buNone/>
            </a:pPr>
            <a:r>
              <a:rPr b="1" i="0" lang="en-US" sz="1600" u="none" cap="none" strike="noStrike">
                <a:solidFill>
                  <a:srgbClr val="2F6E62"/>
                </a:solidFill>
                <a:latin typeface="Nunito Sans"/>
                <a:ea typeface="Nunito Sans"/>
                <a:cs typeface="Nunito Sans"/>
                <a:sym typeface="Nunito Sans"/>
              </a:rPr>
              <a:t>Nuestra propuesta: nota + grupo</a:t>
            </a:r>
            <a:endParaRPr b="0" i="0" sz="1600" u="none" cap="none" strike="noStrike">
              <a:solidFill>
                <a:schemeClr val="dk1"/>
              </a:solidFill>
              <a:latin typeface="Nunito Sans"/>
              <a:ea typeface="Nunito Sans"/>
              <a:cs typeface="Nunito Sans"/>
              <a:sym typeface="Nunito Sans"/>
            </a:endParaRPr>
          </a:p>
        </p:txBody>
      </p:sp>
      <p:sp>
        <p:nvSpPr>
          <p:cNvPr id="554" name="Google Shape;554;p29"/>
          <p:cNvSpPr/>
          <p:nvPr/>
        </p:nvSpPr>
        <p:spPr>
          <a:xfrm>
            <a:off x="9721316" y="2752998"/>
            <a:ext cx="1657937" cy="309802"/>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2F6E62"/>
              </a:buClr>
              <a:buSzPts val="1600"/>
              <a:buFont typeface="Nunito Sans"/>
              <a:buNone/>
            </a:pPr>
            <a:r>
              <a:rPr b="1" i="0" lang="en-US" sz="1600" u="none" cap="none" strike="noStrike">
                <a:solidFill>
                  <a:srgbClr val="2F6E62"/>
                </a:solidFill>
                <a:latin typeface="Nunito Sans"/>
                <a:ea typeface="Nunito Sans"/>
                <a:cs typeface="Nunito Sans"/>
                <a:sym typeface="Nunito Sans"/>
              </a:rPr>
              <a:t>≈ 2.300 ventas</a:t>
            </a:r>
            <a:endParaRPr b="0" i="0" sz="1600" u="none" cap="none" strike="noStrike">
              <a:solidFill>
                <a:schemeClr val="dk1"/>
              </a:solidFill>
              <a:latin typeface="Nunito Sans"/>
              <a:ea typeface="Nunito Sans"/>
              <a:cs typeface="Nunito Sans"/>
              <a:sym typeface="Nunito Sans"/>
            </a:endParaRPr>
          </a:p>
        </p:txBody>
      </p:sp>
      <p:sp>
        <p:nvSpPr>
          <p:cNvPr id="555" name="Google Shape;555;p29"/>
          <p:cNvSpPr/>
          <p:nvPr/>
        </p:nvSpPr>
        <p:spPr>
          <a:xfrm>
            <a:off x="812720" y="3113571"/>
            <a:ext cx="4330610" cy="304781"/>
          </a:xfrm>
          <a:prstGeom prst="roundRect">
            <a:avLst>
              <a:gd fmla="val 16668" name="adj"/>
            </a:avLst>
          </a:pr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9"/>
          <p:cNvSpPr/>
          <p:nvPr/>
        </p:nvSpPr>
        <p:spPr>
          <a:xfrm>
            <a:off x="5295675" y="3123716"/>
            <a:ext cx="710721"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62.200</a:t>
            </a:r>
            <a:endParaRPr b="0" i="0" sz="1600" u="none" cap="none" strike="noStrike">
              <a:solidFill>
                <a:schemeClr val="dk1"/>
              </a:solidFill>
              <a:latin typeface="Nunito Sans"/>
              <a:ea typeface="Nunito Sans"/>
              <a:cs typeface="Nunito Sans"/>
              <a:sym typeface="Nunito Sans"/>
            </a:endParaRPr>
          </a:p>
        </p:txBody>
      </p:sp>
      <p:sp>
        <p:nvSpPr>
          <p:cNvPr id="557" name="Google Shape;557;p29"/>
          <p:cNvSpPr/>
          <p:nvPr/>
        </p:nvSpPr>
        <p:spPr>
          <a:xfrm>
            <a:off x="812720" y="3672322"/>
            <a:ext cx="3109583" cy="1168222"/>
          </a:xfrm>
          <a:prstGeom prst="roundRect">
            <a:avLst>
              <a:gd fmla="val 652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9"/>
          <p:cNvSpPr/>
          <p:nvPr/>
        </p:nvSpPr>
        <p:spPr>
          <a:xfrm>
            <a:off x="990516" y="3850122"/>
            <a:ext cx="283661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Las primeras 62.200 llamadas</a:t>
            </a:r>
            <a:endParaRPr b="0" i="0" sz="1200" u="none" cap="none" strike="noStrike">
              <a:solidFill>
                <a:schemeClr val="dk1"/>
              </a:solidFill>
              <a:latin typeface="Nunito Sans"/>
              <a:ea typeface="Nunito Sans"/>
              <a:cs typeface="Nunito Sans"/>
              <a:sym typeface="Nunito Sans"/>
            </a:endParaRPr>
          </a:p>
        </p:txBody>
      </p:sp>
      <p:sp>
        <p:nvSpPr>
          <p:cNvPr id="559" name="Google Shape;559;p29"/>
          <p:cNvSpPr/>
          <p:nvPr/>
        </p:nvSpPr>
        <p:spPr>
          <a:xfrm>
            <a:off x="990516" y="4114229"/>
            <a:ext cx="283661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600"/>
              <a:buFont typeface="Nunito Sans"/>
              <a:buNone/>
            </a:pPr>
            <a:r>
              <a:rPr b="1" i="0" lang="en-US" sz="1600" u="none" cap="none" strike="noStrike">
                <a:solidFill>
                  <a:srgbClr val="2F6E62"/>
                </a:solidFill>
                <a:latin typeface="Nunito Sans"/>
                <a:ea typeface="Nunito Sans"/>
                <a:cs typeface="Nunito Sans"/>
                <a:sym typeface="Nunito Sans"/>
              </a:rPr>
              <a:t>2.300 ventas</a:t>
            </a:r>
            <a:endParaRPr b="0" i="0" sz="1600" u="none" cap="none" strike="noStrike">
              <a:solidFill>
                <a:schemeClr val="dk1"/>
              </a:solidFill>
              <a:latin typeface="Nunito Sans"/>
              <a:ea typeface="Nunito Sans"/>
              <a:cs typeface="Nunito Sans"/>
              <a:sym typeface="Nunito Sans"/>
            </a:endParaRPr>
          </a:p>
        </p:txBody>
      </p:sp>
      <p:sp>
        <p:nvSpPr>
          <p:cNvPr id="560" name="Google Shape;560;p29"/>
          <p:cNvSpPr/>
          <p:nvPr/>
        </p:nvSpPr>
        <p:spPr>
          <a:xfrm>
            <a:off x="990516" y="4449353"/>
            <a:ext cx="283661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compra 1 de cada 27</a:t>
            </a:r>
            <a:endParaRPr b="0" i="0" sz="1200" u="none" cap="none" strike="noStrike">
              <a:solidFill>
                <a:schemeClr val="dk1"/>
              </a:solidFill>
              <a:latin typeface="Nunito Sans"/>
              <a:ea typeface="Nunito Sans"/>
              <a:cs typeface="Nunito Sans"/>
              <a:sym typeface="Nunito Sans"/>
            </a:endParaRPr>
          </a:p>
        </p:txBody>
      </p:sp>
      <p:sp>
        <p:nvSpPr>
          <p:cNvPr id="561" name="Google Shape;561;p29"/>
          <p:cNvSpPr/>
          <p:nvPr/>
        </p:nvSpPr>
        <p:spPr>
          <a:xfrm>
            <a:off x="4074649" y="3672322"/>
            <a:ext cx="3109674" cy="1168222"/>
          </a:xfrm>
          <a:prstGeom prst="roundRect">
            <a:avLst>
              <a:gd fmla="val 652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9"/>
          <p:cNvSpPr/>
          <p:nvPr/>
        </p:nvSpPr>
        <p:spPr>
          <a:xfrm>
            <a:off x="4252445" y="3850122"/>
            <a:ext cx="283670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Las 65.000 llamadas de más</a:t>
            </a:r>
            <a:endParaRPr b="0" i="0" sz="1200" u="none" cap="none" strike="noStrike">
              <a:solidFill>
                <a:schemeClr val="dk1"/>
              </a:solidFill>
              <a:latin typeface="Nunito Sans"/>
              <a:ea typeface="Nunito Sans"/>
              <a:cs typeface="Nunito Sans"/>
              <a:sym typeface="Nunito Sans"/>
            </a:endParaRPr>
          </a:p>
        </p:txBody>
      </p:sp>
      <p:sp>
        <p:nvSpPr>
          <p:cNvPr id="563" name="Google Shape;563;p29"/>
          <p:cNvSpPr/>
          <p:nvPr/>
        </p:nvSpPr>
        <p:spPr>
          <a:xfrm>
            <a:off x="4252445" y="4114229"/>
            <a:ext cx="283670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41C"/>
              </a:buClr>
              <a:buSzPts val="1600"/>
              <a:buFont typeface="Nunito Sans"/>
              <a:buNone/>
            </a:pPr>
            <a:r>
              <a:rPr b="1" i="0" lang="en-US" sz="1600" u="none" cap="none" strike="noStrike">
                <a:solidFill>
                  <a:srgbClr val="B5541C"/>
                </a:solidFill>
                <a:latin typeface="Nunito Sans"/>
                <a:ea typeface="Nunito Sans"/>
                <a:cs typeface="Nunito Sans"/>
                <a:sym typeface="Nunito Sans"/>
              </a:rPr>
              <a:t>solo 180 ventas</a:t>
            </a:r>
            <a:endParaRPr b="0" i="0" sz="1600" u="none" cap="none" strike="noStrike">
              <a:solidFill>
                <a:schemeClr val="dk1"/>
              </a:solidFill>
              <a:latin typeface="Nunito Sans"/>
              <a:ea typeface="Nunito Sans"/>
              <a:cs typeface="Nunito Sans"/>
              <a:sym typeface="Nunito Sans"/>
            </a:endParaRPr>
          </a:p>
        </p:txBody>
      </p:sp>
      <p:sp>
        <p:nvSpPr>
          <p:cNvPr id="564" name="Google Shape;564;p29"/>
          <p:cNvSpPr/>
          <p:nvPr/>
        </p:nvSpPr>
        <p:spPr>
          <a:xfrm>
            <a:off x="4252445" y="4449353"/>
            <a:ext cx="283670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compra 1 de cada 370</a:t>
            </a:r>
            <a:endParaRPr b="0" i="0" sz="1200" u="none" cap="none" strike="noStrike">
              <a:solidFill>
                <a:schemeClr val="dk1"/>
              </a:solidFill>
              <a:latin typeface="Nunito Sans"/>
              <a:ea typeface="Nunito Sans"/>
              <a:cs typeface="Nunito Sans"/>
              <a:sym typeface="Nunito Sans"/>
            </a:endParaRPr>
          </a:p>
        </p:txBody>
      </p:sp>
      <p:sp>
        <p:nvSpPr>
          <p:cNvPr id="565" name="Google Shape;565;p29"/>
          <p:cNvSpPr/>
          <p:nvPr/>
        </p:nvSpPr>
        <p:spPr>
          <a:xfrm>
            <a:off x="7336668" y="3672322"/>
            <a:ext cx="4042495" cy="1168222"/>
          </a:xfrm>
          <a:prstGeom prst="roundRect">
            <a:avLst>
              <a:gd fmla="val 6523"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9"/>
          <p:cNvSpPr/>
          <p:nvPr/>
        </p:nvSpPr>
        <p:spPr>
          <a:xfrm>
            <a:off x="7514465" y="3850122"/>
            <a:ext cx="3797508"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¿Por qué pasa?</a:t>
            </a:r>
            <a:endParaRPr b="0" i="0" sz="1200" u="none" cap="none" strike="noStrike">
              <a:solidFill>
                <a:schemeClr val="dk1"/>
              </a:solidFill>
              <a:latin typeface="Nunito Sans"/>
              <a:ea typeface="Nunito Sans"/>
              <a:cs typeface="Nunito Sans"/>
              <a:sym typeface="Nunito Sans"/>
            </a:endParaRPr>
          </a:p>
        </p:txBody>
      </p:sp>
      <p:sp>
        <p:nvSpPr>
          <p:cNvPr id="567" name="Google Shape;567;p29"/>
          <p:cNvSpPr/>
          <p:nvPr/>
        </p:nvSpPr>
        <p:spPr>
          <a:xfrm>
            <a:off x="7514465" y="4114229"/>
            <a:ext cx="3797508"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1200"/>
              <a:buFont typeface="Nunito Sans"/>
              <a:buNone/>
            </a:pPr>
            <a:r>
              <a:rPr b="0" i="0" lang="en-US" sz="1200" u="none" cap="none" strike="noStrike">
                <a:solidFill>
                  <a:srgbClr val="F4F1E8"/>
                </a:solidFill>
                <a:latin typeface="Nunito Sans"/>
                <a:ea typeface="Nunito Sans"/>
                <a:cs typeface="Nunito Sans"/>
                <a:sym typeface="Nunito Sans"/>
              </a:rPr>
              <a:t>Cuanto más bajas en la lista de la nota, menos compra la gente. Los grupos nos dicen dónde parar.</a:t>
            </a:r>
            <a:endParaRPr b="0" i="0" sz="1200" u="none" cap="none" strike="noStrike">
              <a:solidFill>
                <a:schemeClr val="dk1"/>
              </a:solidFill>
              <a:latin typeface="Nunito Sans"/>
              <a:ea typeface="Nunito Sans"/>
              <a:cs typeface="Nunito Sans"/>
              <a:sym typeface="Nunito Sans"/>
            </a:endParaRPr>
          </a:p>
        </p:txBody>
      </p:sp>
      <p:sp>
        <p:nvSpPr>
          <p:cNvPr id="568" name="Google Shape;568;p29"/>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17 · Barras: clientes contactados · Ventas medidas en mayo de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573" name="Shape 573"/>
        <p:cNvGrpSpPr/>
        <p:nvPr/>
      </p:nvGrpSpPr>
      <p:grpSpPr>
        <a:xfrm>
          <a:off x="0" y="0"/>
          <a:ext cx="0" cy="0"/>
          <a:chOff x="0" y="0"/>
          <a:chExt cx="0" cy="0"/>
        </a:xfrm>
      </p:grpSpPr>
      <p:sp>
        <p:nvSpPr>
          <p:cNvPr id="574" name="Google Shape;574;p30"/>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DEMO · SIMULADOR DE CAMPAÑA</a:t>
            </a:r>
            <a:endParaRPr b="0" i="0" sz="1200" u="none" cap="none" strike="noStrike">
              <a:solidFill>
                <a:schemeClr val="dk1"/>
              </a:solidFill>
              <a:latin typeface="Nunito Sans"/>
              <a:ea typeface="Nunito Sans"/>
              <a:cs typeface="Nunito Sans"/>
              <a:sym typeface="Nunito Sans"/>
            </a:endParaRPr>
          </a:p>
        </p:txBody>
      </p:sp>
      <p:sp>
        <p:nvSpPr>
          <p:cNvPr id="575" name="Google Shape;575;p30"/>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Una herramienta para que decidáis vosotros</a:t>
            </a:r>
            <a:endParaRPr sz="3600"/>
          </a:p>
        </p:txBody>
      </p:sp>
      <p:sp>
        <p:nvSpPr>
          <p:cNvPr id="576" name="Google Shape;576;p30"/>
          <p:cNvSpPr/>
          <p:nvPr/>
        </p:nvSpPr>
        <p:spPr>
          <a:xfrm>
            <a:off x="812720" y="1986099"/>
            <a:ext cx="4826140" cy="2011284"/>
          </a:xfrm>
          <a:prstGeom prst="roundRect">
            <a:avLst>
              <a:gd fmla="val 505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0"/>
          <p:cNvSpPr/>
          <p:nvPr/>
        </p:nvSpPr>
        <p:spPr>
          <a:xfrm>
            <a:off x="1117501" y="2290887"/>
            <a:ext cx="4343075"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Vosotros elegís</a:t>
            </a:r>
            <a:endParaRPr b="0" i="0" sz="2200" u="none" cap="none" strike="noStrike">
              <a:solidFill>
                <a:schemeClr val="dk1"/>
              </a:solidFill>
              <a:latin typeface="Nunito Sans"/>
              <a:ea typeface="Nunito Sans"/>
              <a:cs typeface="Nunito Sans"/>
              <a:sym typeface="Nunito Sans"/>
            </a:endParaRPr>
          </a:p>
        </p:txBody>
      </p:sp>
      <p:sp>
        <p:nvSpPr>
          <p:cNvPr id="578" name="Google Shape;578;p30"/>
          <p:cNvSpPr/>
          <p:nvPr/>
        </p:nvSpPr>
        <p:spPr>
          <a:xfrm>
            <a:off x="1181509" y="2778534"/>
            <a:ext cx="4271447" cy="939472"/>
          </a:xfrm>
          <a:prstGeom prst="rect">
            <a:avLst/>
          </a:prstGeom>
          <a:noFill/>
          <a:ln>
            <a:noFill/>
          </a:ln>
        </p:spPr>
        <p:txBody>
          <a:bodyPr anchorCtr="0" anchor="t" bIns="0" lIns="0" spcFirstLastPara="1" rIns="0" wrap="square" tIns="0">
            <a:normAutofit/>
          </a:bodyPr>
          <a:lstStyle/>
          <a:p>
            <a:pPr indent="-189992" lvl="0" marL="189992" marR="0" rtl="0" algn="l">
              <a:lnSpc>
                <a:spcPct val="150000"/>
              </a:lnSpc>
              <a:spcBef>
                <a:spcPts val="0"/>
              </a:spcBef>
              <a:spcAft>
                <a:spcPts val="0"/>
              </a:spcAft>
              <a:buClr>
                <a:srgbClr val="55605A"/>
              </a:buClr>
              <a:buSzPts val="1600"/>
              <a:buFont typeface="Nunito Sans"/>
              <a:buChar char="•"/>
            </a:pPr>
            <a:r>
              <a:rPr b="0" i="0" lang="en-US" sz="1600" u="none" cap="none" strike="noStrike">
                <a:solidFill>
                  <a:srgbClr val="55605A"/>
                </a:solidFill>
                <a:latin typeface="Nunito Sans"/>
                <a:ea typeface="Nunito Sans"/>
                <a:cs typeface="Nunito Sans"/>
                <a:sym typeface="Nunito Sans"/>
              </a:rPr>
              <a:t>Qué producto ofrecer</a:t>
            </a:r>
            <a:endParaRPr b="0" i="0" sz="1600" u="none" cap="none" strike="noStrike">
              <a:solidFill>
                <a:schemeClr val="dk1"/>
              </a:solidFill>
              <a:latin typeface="Nunito Sans"/>
              <a:ea typeface="Nunito Sans"/>
              <a:cs typeface="Nunito Sans"/>
              <a:sym typeface="Nunito Sans"/>
            </a:endParaRPr>
          </a:p>
          <a:p>
            <a:pPr indent="-189992" lvl="0" marL="189992" marR="0" rtl="0" algn="l">
              <a:lnSpc>
                <a:spcPct val="150000"/>
              </a:lnSpc>
              <a:spcBef>
                <a:spcPts val="0"/>
              </a:spcBef>
              <a:spcAft>
                <a:spcPts val="0"/>
              </a:spcAft>
              <a:buClr>
                <a:srgbClr val="55605A"/>
              </a:buClr>
              <a:buSzPts val="1600"/>
              <a:buFont typeface="Nunito Sans"/>
              <a:buChar char="•"/>
            </a:pPr>
            <a:r>
              <a:rPr b="0" i="0" lang="en-US" sz="1600" u="none" cap="none" strike="noStrike">
                <a:solidFill>
                  <a:srgbClr val="55605A"/>
                </a:solidFill>
                <a:latin typeface="Nunito Sans"/>
                <a:ea typeface="Nunito Sans"/>
                <a:cs typeface="Nunito Sans"/>
                <a:sym typeface="Nunito Sans"/>
              </a:rPr>
              <a:t>Por qué canal: email, carta, llamada…</a:t>
            </a:r>
            <a:endParaRPr b="0" i="0" sz="1600" u="none" cap="none" strike="noStrike">
              <a:solidFill>
                <a:schemeClr val="dk1"/>
              </a:solidFill>
              <a:latin typeface="Nunito Sans"/>
              <a:ea typeface="Nunito Sans"/>
              <a:cs typeface="Nunito Sans"/>
              <a:sym typeface="Nunito Sans"/>
            </a:endParaRPr>
          </a:p>
          <a:p>
            <a:pPr indent="-189992" lvl="0" marL="189992" marR="0" rtl="0" algn="l">
              <a:lnSpc>
                <a:spcPct val="150000"/>
              </a:lnSpc>
              <a:spcBef>
                <a:spcPts val="0"/>
              </a:spcBef>
              <a:spcAft>
                <a:spcPts val="0"/>
              </a:spcAft>
              <a:buClr>
                <a:srgbClr val="55605A"/>
              </a:buClr>
              <a:buSzPts val="1600"/>
              <a:buFont typeface="Nunito Sans"/>
              <a:buChar char="•"/>
            </a:pPr>
            <a:r>
              <a:rPr b="0" i="0" lang="en-US" sz="1600" u="none" cap="none" strike="noStrike">
                <a:solidFill>
                  <a:srgbClr val="55605A"/>
                </a:solidFill>
                <a:latin typeface="Nunito Sans"/>
                <a:ea typeface="Nunito Sans"/>
                <a:cs typeface="Nunito Sans"/>
                <a:sym typeface="Nunito Sans"/>
              </a:rPr>
              <a:t>Qué hacer con cada grupo</a:t>
            </a:r>
            <a:endParaRPr b="0" i="0" sz="1600" u="none" cap="none" strike="noStrike">
              <a:solidFill>
                <a:schemeClr val="dk1"/>
              </a:solidFill>
              <a:latin typeface="Nunito Sans"/>
              <a:ea typeface="Nunito Sans"/>
              <a:cs typeface="Nunito Sans"/>
              <a:sym typeface="Nunito Sans"/>
            </a:endParaRPr>
          </a:p>
        </p:txBody>
      </p:sp>
      <p:pic>
        <p:nvPicPr>
          <p:cNvPr descr="arrow-right" id="579" name="Google Shape;579;p30"/>
          <p:cNvPicPr preferRelativeResize="0"/>
          <p:nvPr/>
        </p:nvPicPr>
        <p:blipFill rotWithShape="1">
          <a:blip r:embed="rId3">
            <a:alphaModFix/>
          </a:blip>
          <a:srcRect b="0" l="0" r="0" t="0"/>
          <a:stretch/>
        </p:blipFill>
        <p:spPr>
          <a:xfrm>
            <a:off x="5842017" y="2864768"/>
            <a:ext cx="507938" cy="253969"/>
          </a:xfrm>
          <a:prstGeom prst="rect">
            <a:avLst/>
          </a:prstGeom>
          <a:noFill/>
          <a:ln>
            <a:noFill/>
          </a:ln>
        </p:spPr>
      </p:pic>
      <p:sp>
        <p:nvSpPr>
          <p:cNvPr id="580" name="Google Shape;580;p30"/>
          <p:cNvSpPr/>
          <p:nvPr/>
        </p:nvSpPr>
        <p:spPr>
          <a:xfrm>
            <a:off x="6553113" y="1986099"/>
            <a:ext cx="4826140" cy="2011284"/>
          </a:xfrm>
          <a:prstGeom prst="roundRect">
            <a:avLst>
              <a:gd fmla="val 5051"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0"/>
          <p:cNvSpPr/>
          <p:nvPr/>
        </p:nvSpPr>
        <p:spPr>
          <a:xfrm>
            <a:off x="6857894" y="2290887"/>
            <a:ext cx="4343075"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Y veis al momento</a:t>
            </a:r>
            <a:endParaRPr b="0" i="0" sz="2200" u="none" cap="none" strike="noStrike">
              <a:solidFill>
                <a:schemeClr val="dk1"/>
              </a:solidFill>
              <a:latin typeface="Nunito Sans"/>
              <a:ea typeface="Nunito Sans"/>
              <a:cs typeface="Nunito Sans"/>
              <a:sym typeface="Nunito Sans"/>
            </a:endParaRPr>
          </a:p>
        </p:txBody>
      </p:sp>
      <p:sp>
        <p:nvSpPr>
          <p:cNvPr id="582" name="Google Shape;582;p30"/>
          <p:cNvSpPr/>
          <p:nvPr/>
        </p:nvSpPr>
        <p:spPr>
          <a:xfrm>
            <a:off x="6921902" y="2778534"/>
            <a:ext cx="4271447" cy="939472"/>
          </a:xfrm>
          <a:prstGeom prst="rect">
            <a:avLst/>
          </a:prstGeom>
          <a:noFill/>
          <a:ln>
            <a:noFill/>
          </a:ln>
        </p:spPr>
        <p:txBody>
          <a:bodyPr anchorCtr="0" anchor="t" bIns="0" lIns="0" spcFirstLastPara="1" rIns="0" wrap="square" tIns="0">
            <a:normAutofit/>
          </a:bodyPr>
          <a:lstStyle/>
          <a:p>
            <a:pPr indent="-189992" lvl="0" marL="189992" marR="0" rtl="0" algn="l">
              <a:lnSpc>
                <a:spcPct val="150000"/>
              </a:lnSpc>
              <a:spcBef>
                <a:spcPts val="0"/>
              </a:spcBef>
              <a:spcAft>
                <a:spcPts val="0"/>
              </a:spcAft>
              <a:buClr>
                <a:srgbClr val="C9D4CC"/>
              </a:buClr>
              <a:buSzPts val="1600"/>
              <a:buFont typeface="Nunito Sans"/>
              <a:buChar char="•"/>
            </a:pPr>
            <a:r>
              <a:rPr b="0" i="0" lang="en-US" sz="1600" u="none" cap="none" strike="noStrike">
                <a:solidFill>
                  <a:srgbClr val="C9D4CC"/>
                </a:solidFill>
                <a:latin typeface="Nunito Sans"/>
                <a:ea typeface="Nunito Sans"/>
                <a:cs typeface="Nunito Sans"/>
                <a:sym typeface="Nunito Sans"/>
              </a:rPr>
              <a:t>A cuántos clientes llamáis</a:t>
            </a:r>
            <a:endParaRPr b="0" i="0" sz="1600" u="none" cap="none" strike="noStrike">
              <a:solidFill>
                <a:schemeClr val="dk1"/>
              </a:solidFill>
              <a:latin typeface="Nunito Sans"/>
              <a:ea typeface="Nunito Sans"/>
              <a:cs typeface="Nunito Sans"/>
              <a:sym typeface="Nunito Sans"/>
            </a:endParaRPr>
          </a:p>
          <a:p>
            <a:pPr indent="-189992" lvl="0" marL="189992" marR="0" rtl="0" algn="l">
              <a:lnSpc>
                <a:spcPct val="150000"/>
              </a:lnSpc>
              <a:spcBef>
                <a:spcPts val="0"/>
              </a:spcBef>
              <a:spcAft>
                <a:spcPts val="0"/>
              </a:spcAft>
              <a:buClr>
                <a:srgbClr val="C9D4CC"/>
              </a:buClr>
              <a:buSzPts val="1600"/>
              <a:buFont typeface="Nunito Sans"/>
              <a:buChar char="•"/>
            </a:pPr>
            <a:r>
              <a:rPr b="0" i="0" lang="en-US" sz="1600" u="none" cap="none" strike="noStrike">
                <a:solidFill>
                  <a:srgbClr val="C9D4CC"/>
                </a:solidFill>
                <a:latin typeface="Nunito Sans"/>
                <a:ea typeface="Nunito Sans"/>
                <a:cs typeface="Nunito Sans"/>
                <a:sym typeface="Nunito Sans"/>
              </a:rPr>
              <a:t>Cuántas ventas y cuánto beneficio</a:t>
            </a:r>
            <a:endParaRPr b="0" i="0" sz="1600" u="none" cap="none" strike="noStrike">
              <a:solidFill>
                <a:schemeClr val="dk1"/>
              </a:solidFill>
              <a:latin typeface="Nunito Sans"/>
              <a:ea typeface="Nunito Sans"/>
              <a:cs typeface="Nunito Sans"/>
              <a:sym typeface="Nunito Sans"/>
            </a:endParaRPr>
          </a:p>
          <a:p>
            <a:pPr indent="-189992" lvl="0" marL="189992" marR="0" rtl="0" algn="l">
              <a:lnSpc>
                <a:spcPct val="150000"/>
              </a:lnSpc>
              <a:spcBef>
                <a:spcPts val="0"/>
              </a:spcBef>
              <a:spcAft>
                <a:spcPts val="0"/>
              </a:spcAft>
              <a:buClr>
                <a:srgbClr val="C9D4CC"/>
              </a:buClr>
              <a:buSzPts val="1600"/>
              <a:buFont typeface="Nunito Sans"/>
              <a:buChar char="•"/>
            </a:pPr>
            <a:r>
              <a:rPr b="0" i="0" lang="en-US" sz="1600" u="none" cap="none" strike="noStrike">
                <a:solidFill>
                  <a:srgbClr val="C9D4CC"/>
                </a:solidFill>
                <a:latin typeface="Nunito Sans"/>
                <a:ea typeface="Nunito Sans"/>
                <a:cs typeface="Nunito Sans"/>
                <a:sym typeface="Nunito Sans"/>
              </a:rPr>
              <a:t>El peor y el mejor caso</a:t>
            </a:r>
            <a:endParaRPr b="0" i="0" sz="1600" u="none" cap="none" strike="noStrike">
              <a:solidFill>
                <a:schemeClr val="dk1"/>
              </a:solidFill>
              <a:latin typeface="Nunito Sans"/>
              <a:ea typeface="Nunito Sans"/>
              <a:cs typeface="Nunito Sans"/>
              <a:sym typeface="Nunito Sans"/>
            </a:endParaRPr>
          </a:p>
        </p:txBody>
      </p:sp>
      <p:sp>
        <p:nvSpPr>
          <p:cNvPr id="583" name="Google Shape;583;p30"/>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18</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588" name="Shape 588"/>
        <p:cNvGrpSpPr/>
        <p:nvPr/>
      </p:nvGrpSpPr>
      <p:grpSpPr>
        <a:xfrm>
          <a:off x="0" y="0"/>
          <a:ext cx="0" cy="0"/>
          <a:chOff x="0" y="0"/>
          <a:chExt cx="0" cy="0"/>
        </a:xfrm>
      </p:grpSpPr>
      <p:sp>
        <p:nvSpPr>
          <p:cNvPr id="589" name="Google Shape;589;p31"/>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CÓMO SEGUIR</a:t>
            </a:r>
            <a:endParaRPr b="0" i="0" sz="1200" u="none" cap="none" strike="noStrike">
              <a:solidFill>
                <a:schemeClr val="dk1"/>
              </a:solidFill>
              <a:latin typeface="Nunito Sans"/>
              <a:ea typeface="Nunito Sans"/>
              <a:cs typeface="Nunito Sans"/>
              <a:sym typeface="Nunito Sans"/>
            </a:endParaRPr>
          </a:p>
        </p:txBody>
      </p:sp>
      <p:sp>
        <p:nvSpPr>
          <p:cNvPr id="590" name="Google Shape;590;p31"/>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Antes de lanzarlo a lo grande, una prueba de un mes</a:t>
            </a:r>
            <a:endParaRPr sz="3600"/>
          </a:p>
        </p:txBody>
      </p:sp>
      <p:sp>
        <p:nvSpPr>
          <p:cNvPr id="591" name="Google Shape;591;p31"/>
          <p:cNvSpPr/>
          <p:nvPr/>
        </p:nvSpPr>
        <p:spPr>
          <a:xfrm>
            <a:off x="815895" y="2492139"/>
            <a:ext cx="3079503" cy="2118152"/>
          </a:xfrm>
          <a:prstGeom prst="roundRect">
            <a:avLst>
              <a:gd fmla="val 4647"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1"/>
          <p:cNvSpPr/>
          <p:nvPr/>
        </p:nvSpPr>
        <p:spPr>
          <a:xfrm>
            <a:off x="1072486" y="2748744"/>
            <a:ext cx="2643311"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MES 1</a:t>
            </a:r>
            <a:endParaRPr b="0" i="0" sz="1200" u="none" cap="none" strike="noStrike">
              <a:solidFill>
                <a:schemeClr val="dk1"/>
              </a:solidFill>
              <a:latin typeface="Nunito Sans"/>
              <a:ea typeface="Nunito Sans"/>
              <a:cs typeface="Nunito Sans"/>
              <a:sym typeface="Nunito Sans"/>
            </a:endParaRPr>
          </a:p>
        </p:txBody>
      </p:sp>
      <p:sp>
        <p:nvSpPr>
          <p:cNvPr id="593" name="Google Shape;593;p31"/>
          <p:cNvSpPr/>
          <p:nvPr/>
        </p:nvSpPr>
        <p:spPr>
          <a:xfrm>
            <a:off x="1072486" y="3063664"/>
            <a:ext cx="2643311"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Probar</a:t>
            </a:r>
            <a:endParaRPr b="0" i="0" sz="2200" u="none" cap="none" strike="noStrike">
              <a:solidFill>
                <a:schemeClr val="dk1"/>
              </a:solidFill>
              <a:latin typeface="Nunito Sans"/>
              <a:ea typeface="Nunito Sans"/>
              <a:cs typeface="Nunito Sans"/>
              <a:sym typeface="Nunito Sans"/>
            </a:endParaRPr>
          </a:p>
        </p:txBody>
      </p:sp>
      <p:sp>
        <p:nvSpPr>
          <p:cNvPr id="594" name="Google Shape;594;p31"/>
          <p:cNvSpPr/>
          <p:nvPr/>
        </p:nvSpPr>
        <p:spPr>
          <a:xfrm>
            <a:off x="1072486" y="3500500"/>
            <a:ext cx="2643311" cy="87860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Llamamos a una parte de los elegidos y dejamos otra sin llamar</a:t>
            </a:r>
            <a:endParaRPr b="0" i="0" sz="1600" u="none" cap="none" strike="noStrike">
              <a:solidFill>
                <a:schemeClr val="dk1"/>
              </a:solidFill>
              <a:latin typeface="Nunito Sans"/>
              <a:ea typeface="Nunito Sans"/>
              <a:cs typeface="Nunito Sans"/>
              <a:sym typeface="Nunito Sans"/>
            </a:endParaRPr>
          </a:p>
        </p:txBody>
      </p:sp>
      <p:pic>
        <p:nvPicPr>
          <p:cNvPr descr="arrow-right" id="595" name="Google Shape;595;p31"/>
          <p:cNvPicPr preferRelativeResize="0"/>
          <p:nvPr/>
        </p:nvPicPr>
        <p:blipFill rotWithShape="1">
          <a:blip r:embed="rId3">
            <a:alphaModFix/>
          </a:blip>
          <a:srcRect b="0" l="0" r="0" t="0"/>
          <a:stretch/>
        </p:blipFill>
        <p:spPr>
          <a:xfrm>
            <a:off x="4050918" y="3462275"/>
            <a:ext cx="355593" cy="177797"/>
          </a:xfrm>
          <a:prstGeom prst="rect">
            <a:avLst/>
          </a:prstGeom>
          <a:noFill/>
          <a:ln>
            <a:noFill/>
          </a:ln>
        </p:spPr>
      </p:pic>
      <p:sp>
        <p:nvSpPr>
          <p:cNvPr id="596" name="Google Shape;596;p31"/>
          <p:cNvSpPr/>
          <p:nvPr/>
        </p:nvSpPr>
        <p:spPr>
          <a:xfrm>
            <a:off x="4562032" y="2492139"/>
            <a:ext cx="3079503" cy="2118152"/>
          </a:xfrm>
          <a:prstGeom prst="roundRect">
            <a:avLst>
              <a:gd fmla="val 4647"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1"/>
          <p:cNvSpPr/>
          <p:nvPr/>
        </p:nvSpPr>
        <p:spPr>
          <a:xfrm>
            <a:off x="4818623" y="2748744"/>
            <a:ext cx="2643311"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MES 2</a:t>
            </a:r>
            <a:endParaRPr b="0" i="0" sz="1200" u="none" cap="none" strike="noStrike">
              <a:solidFill>
                <a:schemeClr val="dk1"/>
              </a:solidFill>
              <a:latin typeface="Nunito Sans"/>
              <a:ea typeface="Nunito Sans"/>
              <a:cs typeface="Nunito Sans"/>
              <a:sym typeface="Nunito Sans"/>
            </a:endParaRPr>
          </a:p>
        </p:txBody>
      </p:sp>
      <p:sp>
        <p:nvSpPr>
          <p:cNvPr id="598" name="Google Shape;598;p31"/>
          <p:cNvSpPr/>
          <p:nvPr/>
        </p:nvSpPr>
        <p:spPr>
          <a:xfrm>
            <a:off x="4818623" y="3063664"/>
            <a:ext cx="2643311"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Medir</a:t>
            </a:r>
            <a:endParaRPr b="0" i="0" sz="2200" u="none" cap="none" strike="noStrike">
              <a:solidFill>
                <a:schemeClr val="dk1"/>
              </a:solidFill>
              <a:latin typeface="Nunito Sans"/>
              <a:ea typeface="Nunito Sans"/>
              <a:cs typeface="Nunito Sans"/>
              <a:sym typeface="Nunito Sans"/>
            </a:endParaRPr>
          </a:p>
        </p:txBody>
      </p:sp>
      <p:sp>
        <p:nvSpPr>
          <p:cNvPr id="599" name="Google Shape;599;p31"/>
          <p:cNvSpPr/>
          <p:nvPr/>
        </p:nvSpPr>
        <p:spPr>
          <a:xfrm>
            <a:off x="4818623" y="3500500"/>
            <a:ext cx="2643311" cy="87860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La diferencia entre los dos es lo que gana de verdad la campaña</a:t>
            </a:r>
            <a:endParaRPr b="0" i="0" sz="1600" u="none" cap="none" strike="noStrike">
              <a:solidFill>
                <a:schemeClr val="dk1"/>
              </a:solidFill>
              <a:latin typeface="Nunito Sans"/>
              <a:ea typeface="Nunito Sans"/>
              <a:cs typeface="Nunito Sans"/>
              <a:sym typeface="Nunito Sans"/>
            </a:endParaRPr>
          </a:p>
        </p:txBody>
      </p:sp>
      <p:pic>
        <p:nvPicPr>
          <p:cNvPr descr="arrow-right" id="600" name="Google Shape;600;p31"/>
          <p:cNvPicPr preferRelativeResize="0"/>
          <p:nvPr/>
        </p:nvPicPr>
        <p:blipFill rotWithShape="1">
          <a:blip r:embed="rId3">
            <a:alphaModFix/>
          </a:blip>
          <a:srcRect b="0" l="0" r="0" t="0"/>
          <a:stretch/>
        </p:blipFill>
        <p:spPr>
          <a:xfrm>
            <a:off x="7797055" y="3462275"/>
            <a:ext cx="355593" cy="177797"/>
          </a:xfrm>
          <a:prstGeom prst="rect">
            <a:avLst/>
          </a:prstGeom>
          <a:noFill/>
          <a:ln>
            <a:noFill/>
          </a:ln>
        </p:spPr>
      </p:pic>
      <p:sp>
        <p:nvSpPr>
          <p:cNvPr id="601" name="Google Shape;601;p31"/>
          <p:cNvSpPr/>
          <p:nvPr/>
        </p:nvSpPr>
        <p:spPr>
          <a:xfrm>
            <a:off x="8304993" y="2636974"/>
            <a:ext cx="3074260" cy="1828506"/>
          </a:xfrm>
          <a:prstGeom prst="roundRect">
            <a:avLst>
              <a:gd fmla="val 5556"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1"/>
          <p:cNvSpPr/>
          <p:nvPr/>
        </p:nvSpPr>
        <p:spPr>
          <a:xfrm>
            <a:off x="8558963" y="2890924"/>
            <a:ext cx="2643311"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DESPUÉS</a:t>
            </a:r>
            <a:endParaRPr b="0" i="0" sz="1200" u="none" cap="none" strike="noStrike">
              <a:solidFill>
                <a:schemeClr val="dk1"/>
              </a:solidFill>
              <a:latin typeface="Nunito Sans"/>
              <a:ea typeface="Nunito Sans"/>
              <a:cs typeface="Nunito Sans"/>
              <a:sym typeface="Nunito Sans"/>
            </a:endParaRPr>
          </a:p>
        </p:txBody>
      </p:sp>
      <p:sp>
        <p:nvSpPr>
          <p:cNvPr id="603" name="Google Shape;603;p31"/>
          <p:cNvSpPr/>
          <p:nvPr/>
        </p:nvSpPr>
        <p:spPr>
          <a:xfrm>
            <a:off x="8558963" y="3205869"/>
            <a:ext cx="2643311"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Ampliar</a:t>
            </a:r>
            <a:endParaRPr b="0" i="0" sz="2200" u="none" cap="none" strike="noStrike">
              <a:solidFill>
                <a:schemeClr val="dk1"/>
              </a:solidFill>
              <a:latin typeface="Nunito Sans"/>
              <a:ea typeface="Nunito Sans"/>
              <a:cs typeface="Nunito Sans"/>
              <a:sym typeface="Nunito Sans"/>
            </a:endParaRPr>
          </a:p>
        </p:txBody>
      </p:sp>
      <p:sp>
        <p:nvSpPr>
          <p:cNvPr id="604" name="Google Shape;604;p31"/>
          <p:cNvSpPr/>
          <p:nvPr/>
        </p:nvSpPr>
        <p:spPr>
          <a:xfrm>
            <a:off x="8558963" y="3642705"/>
            <a:ext cx="2643311" cy="5942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A todos los elegidos, con la nota actualizada cada mes</a:t>
            </a:r>
            <a:endParaRPr b="0" i="0" sz="1600" u="none" cap="none" strike="noStrike">
              <a:solidFill>
                <a:schemeClr val="dk1"/>
              </a:solidFill>
              <a:latin typeface="Nunito Sans"/>
              <a:ea typeface="Nunito Sans"/>
              <a:cs typeface="Nunito Sans"/>
              <a:sym typeface="Nunito Sans"/>
            </a:endParaRPr>
          </a:p>
        </p:txBody>
      </p:sp>
      <p:sp>
        <p:nvSpPr>
          <p:cNvPr id="605" name="Google Shape;605;p31"/>
          <p:cNvSpPr/>
          <p:nvPr/>
        </p:nvSpPr>
        <p:spPr>
          <a:xfrm>
            <a:off x="812720" y="4969061"/>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Por qué: el resultado es de un mes, y algunos clientes habrían comprado igualmente sin llamarles.</a:t>
            </a:r>
            <a:endParaRPr b="0" i="0" sz="1600" u="none" cap="none" strike="noStrike">
              <a:solidFill>
                <a:schemeClr val="dk1"/>
              </a:solidFill>
              <a:latin typeface="Nunito Sans"/>
              <a:ea typeface="Nunito Sans"/>
              <a:cs typeface="Nunito Sans"/>
              <a:sym typeface="Nunito Sans"/>
            </a:endParaRPr>
          </a:p>
        </p:txBody>
      </p:sp>
      <p:sp>
        <p:nvSpPr>
          <p:cNvPr id="606" name="Google Shape;606;p31"/>
          <p:cNvSpPr/>
          <p:nvPr/>
        </p:nvSpPr>
        <p:spPr>
          <a:xfrm>
            <a:off x="812720" y="6238267"/>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F6E62"/>
        </a:solidFill>
      </p:bgPr>
    </p:bg>
    <p:spTree>
      <p:nvGrpSpPr>
        <p:cNvPr id="611" name="Shape 611"/>
        <p:cNvGrpSpPr/>
        <p:nvPr/>
      </p:nvGrpSpPr>
      <p:grpSpPr>
        <a:xfrm>
          <a:off x="0" y="0"/>
          <a:ext cx="0" cy="0"/>
          <a:chOff x="0" y="0"/>
          <a:chExt cx="0" cy="0"/>
        </a:xfrm>
      </p:grpSpPr>
      <p:sp>
        <p:nvSpPr>
          <p:cNvPr id="612" name="Google Shape;612;p32"/>
          <p:cNvSpPr/>
          <p:nvPr/>
        </p:nvSpPr>
        <p:spPr>
          <a:xfrm>
            <a:off x="812720" y="812726"/>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1" i="0" lang="en-US" spc="150" sz="1600" u="none" cap="none" strike="noStrike">
                <a:solidFill>
                  <a:srgbClr val="D6EFC0"/>
                </a:solidFill>
                <a:latin typeface="Nunito Sans"/>
                <a:ea typeface="Nunito Sans"/>
                <a:cs typeface="Nunito Sans"/>
                <a:sym typeface="Nunito Sans"/>
              </a:rPr>
              <a:t>LAS CUATRO RESPUESTAS</a:t>
            </a:r>
            <a:endParaRPr b="0" i="0" sz="1600" u="none" cap="none" strike="noStrike">
              <a:solidFill>
                <a:schemeClr val="dk1"/>
              </a:solidFill>
              <a:latin typeface="Nunito Sans"/>
              <a:ea typeface="Nunito Sans"/>
              <a:cs typeface="Nunito Sans"/>
              <a:sym typeface="Nunito Sans"/>
            </a:endParaRPr>
          </a:p>
        </p:txBody>
      </p:sp>
      <p:sp>
        <p:nvSpPr>
          <p:cNvPr id="613" name="Google Shape;613;p32"/>
          <p:cNvSpPr txBox="1"/>
          <p:nvPr>
            <p:ph type="title"/>
          </p:nvPr>
        </p:nvSpPr>
        <p:spPr>
          <a:xfrm>
            <a:off x="812720" y="1734840"/>
            <a:ext cx="10883529" cy="1366437"/>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1E8"/>
              </a:buClr>
              <a:buSzPts val="4800"/>
              <a:buFont typeface="Fraunces"/>
              <a:buNone/>
            </a:pPr>
            <a:r>
              <a:rPr b="1" i="0" lang="en-US" sz="4800">
                <a:solidFill>
                  <a:srgbClr val="F4F1E8"/>
                </a:solidFill>
                <a:latin typeface="Fraunces"/>
                <a:ea typeface="Fraunces"/>
                <a:cs typeface="Fraunces"/>
                <a:sym typeface="Fraunces"/>
              </a:rPr>
              <a:t>Proponemos empezar con una prueba de un mes</a:t>
            </a:r>
            <a:endParaRPr sz="4800"/>
          </a:p>
        </p:txBody>
      </p:sp>
      <p:cxnSp>
        <p:nvCxnSpPr>
          <p:cNvPr id="614" name="Google Shape;614;p32"/>
          <p:cNvCxnSpPr/>
          <p:nvPr/>
        </p:nvCxnSpPr>
        <p:spPr>
          <a:xfrm>
            <a:off x="812720" y="3726309"/>
            <a:ext cx="2451111" cy="0"/>
          </a:xfrm>
          <a:prstGeom prst="straightConnector1">
            <a:avLst/>
          </a:prstGeom>
          <a:noFill/>
          <a:ln cap="flat" cmpd="sng" w="25400">
            <a:solidFill>
              <a:srgbClr val="D6EFC0"/>
            </a:solidFill>
            <a:prstDash val="solid"/>
            <a:round/>
            <a:headEnd len="sm" w="sm" type="none"/>
            <a:tailEnd len="sm" w="sm" type="none"/>
          </a:ln>
        </p:spPr>
      </p:cxnSp>
      <p:sp>
        <p:nvSpPr>
          <p:cNvPr id="615" name="Google Shape;615;p32"/>
          <p:cNvSpPr/>
          <p:nvPr/>
        </p:nvSpPr>
        <p:spPr>
          <a:xfrm>
            <a:off x="812720" y="3889152"/>
            <a:ext cx="252464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0" i="0" lang="en-US" sz="1600" u="none" cap="none" strike="noStrike">
                <a:solidFill>
                  <a:srgbClr val="D6EFC0"/>
                </a:solidFill>
                <a:latin typeface="Nunito Sans"/>
                <a:ea typeface="Nunito Sans"/>
                <a:cs typeface="Nunito Sans"/>
                <a:sym typeface="Nunito Sans"/>
              </a:rPr>
              <a:t>Qué</a:t>
            </a:r>
            <a:endParaRPr b="0" i="0" sz="1600" u="none" cap="none" strike="noStrike">
              <a:solidFill>
                <a:schemeClr val="dk1"/>
              </a:solidFill>
              <a:latin typeface="Nunito Sans"/>
              <a:ea typeface="Nunito Sans"/>
              <a:cs typeface="Nunito Sans"/>
              <a:sym typeface="Nunito Sans"/>
            </a:endParaRPr>
          </a:p>
        </p:txBody>
      </p:sp>
      <p:sp>
        <p:nvSpPr>
          <p:cNvPr id="616" name="Google Shape;616;p32"/>
          <p:cNvSpPr/>
          <p:nvPr/>
        </p:nvSpPr>
        <p:spPr>
          <a:xfrm>
            <a:off x="812720" y="4224263"/>
            <a:ext cx="2524644" cy="28942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Planes de pensiones</a:t>
            </a:r>
            <a:endParaRPr b="0" i="0" sz="1600" u="none" cap="none" strike="noStrike">
              <a:solidFill>
                <a:schemeClr val="dk1"/>
              </a:solidFill>
              <a:latin typeface="Nunito Sans"/>
              <a:ea typeface="Nunito Sans"/>
              <a:cs typeface="Nunito Sans"/>
              <a:sym typeface="Nunito Sans"/>
            </a:endParaRPr>
          </a:p>
        </p:txBody>
      </p:sp>
      <p:cxnSp>
        <p:nvCxnSpPr>
          <p:cNvPr id="617" name="Google Shape;617;p32"/>
          <p:cNvCxnSpPr/>
          <p:nvPr/>
        </p:nvCxnSpPr>
        <p:spPr>
          <a:xfrm>
            <a:off x="3517800" y="3726309"/>
            <a:ext cx="2451202" cy="0"/>
          </a:xfrm>
          <a:prstGeom prst="straightConnector1">
            <a:avLst/>
          </a:prstGeom>
          <a:noFill/>
          <a:ln cap="flat" cmpd="sng" w="25400">
            <a:solidFill>
              <a:srgbClr val="D6EFC0"/>
            </a:solidFill>
            <a:prstDash val="solid"/>
            <a:round/>
            <a:headEnd len="sm" w="sm" type="none"/>
            <a:tailEnd len="sm" w="sm" type="none"/>
          </a:ln>
        </p:spPr>
      </p:cxnSp>
      <p:sp>
        <p:nvSpPr>
          <p:cNvPr id="618" name="Google Shape;618;p32"/>
          <p:cNvSpPr/>
          <p:nvPr/>
        </p:nvSpPr>
        <p:spPr>
          <a:xfrm>
            <a:off x="3517800" y="3889152"/>
            <a:ext cx="2524738"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0" i="0" lang="en-US" sz="1600" u="none" cap="none" strike="noStrike">
                <a:solidFill>
                  <a:srgbClr val="D6EFC0"/>
                </a:solidFill>
                <a:latin typeface="Nunito Sans"/>
                <a:ea typeface="Nunito Sans"/>
                <a:cs typeface="Nunito Sans"/>
                <a:sym typeface="Nunito Sans"/>
              </a:rPr>
              <a:t>A quién</a:t>
            </a:r>
            <a:endParaRPr b="0" i="0" sz="1600" u="none" cap="none" strike="noStrike">
              <a:solidFill>
                <a:schemeClr val="dk1"/>
              </a:solidFill>
              <a:latin typeface="Nunito Sans"/>
              <a:ea typeface="Nunito Sans"/>
              <a:cs typeface="Nunito Sans"/>
              <a:sym typeface="Nunito Sans"/>
            </a:endParaRPr>
          </a:p>
        </p:txBody>
      </p:sp>
      <p:sp>
        <p:nvSpPr>
          <p:cNvPr id="619" name="Google Shape;619;p32"/>
          <p:cNvSpPr/>
          <p:nvPr/>
        </p:nvSpPr>
        <p:spPr>
          <a:xfrm>
            <a:off x="3517800" y="4224263"/>
            <a:ext cx="2524738" cy="81746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Clientes con nómina y con tarjeta, y los mejores del resto</a:t>
            </a:r>
            <a:endParaRPr b="0" i="0" sz="1600" u="none" cap="none" strike="noStrike">
              <a:solidFill>
                <a:schemeClr val="dk1"/>
              </a:solidFill>
              <a:latin typeface="Nunito Sans"/>
              <a:ea typeface="Nunito Sans"/>
              <a:cs typeface="Nunito Sans"/>
              <a:sym typeface="Nunito Sans"/>
            </a:endParaRPr>
          </a:p>
        </p:txBody>
      </p:sp>
      <p:cxnSp>
        <p:nvCxnSpPr>
          <p:cNvPr id="620" name="Google Shape;620;p32"/>
          <p:cNvCxnSpPr/>
          <p:nvPr/>
        </p:nvCxnSpPr>
        <p:spPr>
          <a:xfrm>
            <a:off x="6222971" y="3726309"/>
            <a:ext cx="2451111" cy="0"/>
          </a:xfrm>
          <a:prstGeom prst="straightConnector1">
            <a:avLst/>
          </a:prstGeom>
          <a:noFill/>
          <a:ln cap="flat" cmpd="sng" w="25400">
            <a:solidFill>
              <a:srgbClr val="D6EFC0"/>
            </a:solidFill>
            <a:prstDash val="solid"/>
            <a:round/>
            <a:headEnd len="sm" w="sm" type="none"/>
            <a:tailEnd len="sm" w="sm" type="none"/>
          </a:ln>
        </p:spPr>
      </p:cxnSp>
      <p:sp>
        <p:nvSpPr>
          <p:cNvPr id="621" name="Google Shape;621;p32"/>
          <p:cNvSpPr/>
          <p:nvPr/>
        </p:nvSpPr>
        <p:spPr>
          <a:xfrm>
            <a:off x="6222971" y="3889152"/>
            <a:ext cx="252464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0" i="0" lang="en-US" sz="1600" u="none" cap="none" strike="noStrike">
                <a:solidFill>
                  <a:srgbClr val="D6EFC0"/>
                </a:solidFill>
                <a:latin typeface="Nunito Sans"/>
                <a:ea typeface="Nunito Sans"/>
                <a:cs typeface="Nunito Sans"/>
                <a:sym typeface="Nunito Sans"/>
              </a:rPr>
              <a:t>A cuántos</a:t>
            </a:r>
            <a:endParaRPr b="0" i="0" sz="1600" u="none" cap="none" strike="noStrike">
              <a:solidFill>
                <a:schemeClr val="dk1"/>
              </a:solidFill>
              <a:latin typeface="Nunito Sans"/>
              <a:ea typeface="Nunito Sans"/>
              <a:cs typeface="Nunito Sans"/>
              <a:sym typeface="Nunito Sans"/>
            </a:endParaRPr>
          </a:p>
        </p:txBody>
      </p:sp>
      <p:sp>
        <p:nvSpPr>
          <p:cNvPr id="622" name="Google Shape;622;p32"/>
          <p:cNvSpPr/>
          <p:nvPr/>
        </p:nvSpPr>
        <p:spPr>
          <a:xfrm>
            <a:off x="6222971" y="4224263"/>
            <a:ext cx="2524644" cy="28942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62.200 clientes</a:t>
            </a:r>
            <a:endParaRPr b="0" i="0" sz="1600" u="none" cap="none" strike="noStrike">
              <a:solidFill>
                <a:schemeClr val="dk1"/>
              </a:solidFill>
              <a:latin typeface="Nunito Sans"/>
              <a:ea typeface="Nunito Sans"/>
              <a:cs typeface="Nunito Sans"/>
              <a:sym typeface="Nunito Sans"/>
            </a:endParaRPr>
          </a:p>
        </p:txBody>
      </p:sp>
      <p:cxnSp>
        <p:nvCxnSpPr>
          <p:cNvPr id="623" name="Google Shape;623;p32"/>
          <p:cNvCxnSpPr/>
          <p:nvPr/>
        </p:nvCxnSpPr>
        <p:spPr>
          <a:xfrm>
            <a:off x="8928051" y="3726309"/>
            <a:ext cx="2451202" cy="0"/>
          </a:xfrm>
          <a:prstGeom prst="straightConnector1">
            <a:avLst/>
          </a:prstGeom>
          <a:noFill/>
          <a:ln cap="flat" cmpd="sng" w="25400">
            <a:solidFill>
              <a:srgbClr val="D6EFC0"/>
            </a:solidFill>
            <a:prstDash val="solid"/>
            <a:round/>
            <a:headEnd len="sm" w="sm" type="none"/>
            <a:tailEnd len="sm" w="sm" type="none"/>
          </a:ln>
        </p:spPr>
      </p:cxnSp>
      <p:sp>
        <p:nvSpPr>
          <p:cNvPr id="624" name="Google Shape;624;p32"/>
          <p:cNvSpPr/>
          <p:nvPr/>
        </p:nvSpPr>
        <p:spPr>
          <a:xfrm>
            <a:off x="8928051" y="3889152"/>
            <a:ext cx="2524738"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0" i="0" lang="en-US" sz="1600" u="none" cap="none" strike="noStrike">
                <a:solidFill>
                  <a:srgbClr val="D6EFC0"/>
                </a:solidFill>
                <a:latin typeface="Nunito Sans"/>
                <a:ea typeface="Nunito Sans"/>
                <a:cs typeface="Nunito Sans"/>
                <a:sym typeface="Nunito Sans"/>
              </a:rPr>
              <a:t>Qué esperar</a:t>
            </a:r>
            <a:endParaRPr b="0" i="0" sz="1600" u="none" cap="none" strike="noStrike">
              <a:solidFill>
                <a:schemeClr val="dk1"/>
              </a:solidFill>
              <a:latin typeface="Nunito Sans"/>
              <a:ea typeface="Nunito Sans"/>
              <a:cs typeface="Nunito Sans"/>
              <a:sym typeface="Nunito Sans"/>
            </a:endParaRPr>
          </a:p>
        </p:txBody>
      </p:sp>
      <p:sp>
        <p:nvSpPr>
          <p:cNvPr id="625" name="Google Shape;625;p32"/>
          <p:cNvSpPr/>
          <p:nvPr/>
        </p:nvSpPr>
        <p:spPr>
          <a:xfrm>
            <a:off x="8928051" y="4224263"/>
            <a:ext cx="2524738" cy="553446"/>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5 veces más ventas por contacto</a:t>
            </a:r>
            <a:endParaRPr b="0" i="0" sz="1600" u="none" cap="none" strike="noStrike">
              <a:solidFill>
                <a:schemeClr val="dk1"/>
              </a:solidFill>
              <a:latin typeface="Nunito Sans"/>
              <a:ea typeface="Nunito Sans"/>
              <a:cs typeface="Nunito Sans"/>
              <a:sym typeface="Nunito Sans"/>
            </a:endParaRPr>
          </a:p>
        </p:txBody>
      </p:sp>
      <p:sp>
        <p:nvSpPr>
          <p:cNvPr id="626" name="Google Shape;626;p32"/>
          <p:cNvSpPr/>
          <p:nvPr/>
        </p:nvSpPr>
        <p:spPr>
          <a:xfrm>
            <a:off x="812720" y="5654080"/>
            <a:ext cx="10883529"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Gracias. ¿Preguntas?</a:t>
            </a:r>
            <a:endParaRPr b="0" i="0" sz="2200" u="none" cap="none" strike="noStrike">
              <a:solidFill>
                <a:schemeClr val="dk1"/>
              </a:solidFill>
              <a:latin typeface="Nunito Sans"/>
              <a:ea typeface="Nunito Sans"/>
              <a:cs typeface="Nunito Sans"/>
              <a:sym typeface="Nuni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easyMoney — Propuesta de campaña">
  <a:themeElements>
    <a:clrScheme name="easyMoney — Propuesta de campaña">
      <a:dk1>
        <a:srgbClr val="1F2A24"/>
      </a:dk1>
      <a:lt1>
        <a:srgbClr val="FAF8F2"/>
      </a:lt1>
      <a:dk2>
        <a:srgbClr val="565E58"/>
      </a:dk2>
      <a:lt2>
        <a:srgbClr val="E4E3DD"/>
      </a:lt2>
      <a:accent1>
        <a:srgbClr val="2F6E62"/>
      </a:accent1>
      <a:accent2>
        <a:srgbClr val="7CC242"/>
      </a:accent2>
      <a:accent3>
        <a:srgbClr val="D6EFC0"/>
      </a:accent3>
      <a:accent4>
        <a:srgbClr val="8FC7B8"/>
      </a:accent4>
      <a:accent5>
        <a:srgbClr val="B5541C"/>
      </a:accent5>
      <a:accent6>
        <a:srgbClr val="55605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asyMoney — Propuesta de campaña">
  <a:themeElements>
    <a:clrScheme name="easyMoney — Propuesta de campaña">
      <a:dk1>
        <a:srgbClr val="1F2A24"/>
      </a:dk1>
      <a:lt1>
        <a:srgbClr val="FAF8F2"/>
      </a:lt1>
      <a:dk2>
        <a:srgbClr val="565E58"/>
      </a:dk2>
      <a:lt2>
        <a:srgbClr val="E4E3DD"/>
      </a:lt2>
      <a:accent1>
        <a:srgbClr val="2F6E62"/>
      </a:accent1>
      <a:accent2>
        <a:srgbClr val="7CC242"/>
      </a:accent2>
      <a:accent3>
        <a:srgbClr val="D6EFC0"/>
      </a:accent3>
      <a:accent4>
        <a:srgbClr val="8FC7B8"/>
      </a:accent4>
      <a:accent5>
        <a:srgbClr val="B5541C"/>
      </a:accent5>
      <a:accent6>
        <a:srgbClr val="55605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2026-10-07T18:59:41Z</dcterms:created>
</cp:coreProperties>
</file>